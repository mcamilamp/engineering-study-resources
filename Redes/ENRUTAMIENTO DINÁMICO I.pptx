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</p:sldMasterIdLst>
  <p:sldIdLst>
    <p:sldId id="278" r:id="rId5"/>
    <p:sldId id="269" r:id="rId6"/>
    <p:sldId id="271" r:id="rId7"/>
    <p:sldId id="270" r:id="rId8"/>
    <p:sldId id="273" r:id="rId9"/>
    <p:sldId id="274" r:id="rId10"/>
    <p:sldId id="257" r:id="rId11"/>
    <p:sldId id="267" r:id="rId12"/>
    <p:sldId id="268" r:id="rId13"/>
    <p:sldId id="275" r:id="rId14"/>
    <p:sldId id="272" r:id="rId15"/>
    <p:sldId id="286" r:id="rId16"/>
    <p:sldId id="276" r:id="rId17"/>
    <p:sldId id="277" r:id="rId18"/>
    <p:sldId id="279" r:id="rId19"/>
    <p:sldId id="280" r:id="rId20"/>
    <p:sldId id="285" r:id="rId21"/>
    <p:sldId id="281" r:id="rId22"/>
    <p:sldId id="283" r:id="rId23"/>
    <p:sldId id="282" r:id="rId24"/>
    <p:sldId id="284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942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01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477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861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70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80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17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146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4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116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649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31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9472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7851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18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6219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567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5BA31E0-616A-4FF7-BB27-5DE43B989353}" type="datetimeFigureOut">
              <a:rPr lang="es-CO" smtClean="0"/>
              <a:t>22/04/2025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73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764557" y="1936448"/>
            <a:ext cx="8825657" cy="1915647"/>
          </a:xfrm>
        </p:spPr>
        <p:txBody>
          <a:bodyPr/>
          <a:lstStyle/>
          <a:p>
            <a:r>
              <a:rPr lang="es-419" sz="4800" dirty="0"/>
              <a:t>	</a:t>
            </a:r>
            <a:r>
              <a:rPr lang="es-419" sz="4800" b="1" dirty="0"/>
              <a:t>ENRUTAMIENTO DINÁMICO</a:t>
            </a:r>
            <a:endParaRPr lang="es-CO" sz="4800" b="1" dirty="0"/>
          </a:p>
        </p:txBody>
      </p:sp>
    </p:spTree>
    <p:extLst>
      <p:ext uri="{BB962C8B-B14F-4D97-AF65-F5344CB8AC3E}">
        <p14:creationId xmlns:p14="http://schemas.microsoft.com/office/powerpoint/2010/main" val="240481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0511" y="46360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135969" y="1580751"/>
            <a:ext cx="100001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dirty="0"/>
              <a:t>Es el que se configura en el </a:t>
            </a:r>
            <a:r>
              <a:rPr lang="es-419" sz="2800" dirty="0" err="1"/>
              <a:t>router</a:t>
            </a:r>
            <a:r>
              <a:rPr lang="es-419" sz="2800" dirty="0"/>
              <a:t> empleando un </a:t>
            </a:r>
            <a:r>
              <a:rPr lang="es-419" sz="2800" u="sng" dirty="0"/>
              <a:t>protocolo de enrutamiento </a:t>
            </a:r>
            <a:r>
              <a:rPr lang="es-419" sz="2800" dirty="0"/>
              <a:t>para construir y mantener la tabla de enrutamiento.</a:t>
            </a:r>
          </a:p>
          <a:p>
            <a:pPr algn="just"/>
            <a:endParaRPr lang="es-419" sz="2800" dirty="0"/>
          </a:p>
          <a:p>
            <a:pPr algn="just"/>
            <a:r>
              <a:rPr lang="es-419" sz="2800" b="1" u="sng" dirty="0"/>
              <a:t>Un Protocolo de enrutamiento</a:t>
            </a:r>
            <a:r>
              <a:rPr lang="es-419" sz="2800" dirty="0"/>
              <a:t> </a:t>
            </a:r>
            <a:r>
              <a:rPr lang="es-CO" sz="2800" dirty="0"/>
              <a:t>es un conjunto de procesos, algoritmos y mensajes que se usan para intercambiar información de enrutamiento entre los </a:t>
            </a:r>
            <a:r>
              <a:rPr lang="es-CO" sz="2800" dirty="0" err="1"/>
              <a:t>routers</a:t>
            </a:r>
            <a:r>
              <a:rPr lang="es-CO" sz="2800" dirty="0"/>
              <a:t> y así completar sus tablas de enrutamiento con la elección de las mejores rutas o caminos.</a:t>
            </a:r>
          </a:p>
        </p:txBody>
      </p:sp>
    </p:spTree>
    <p:extLst>
      <p:ext uri="{BB962C8B-B14F-4D97-AF65-F5344CB8AC3E}">
        <p14:creationId xmlns:p14="http://schemas.microsoft.com/office/powerpoint/2010/main" val="202681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0511" y="46360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135969" y="1580751"/>
            <a:ext cx="100001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Propósitos de un Protocolo de enrutamiento</a:t>
            </a:r>
          </a:p>
          <a:p>
            <a:pPr algn="just"/>
            <a:endParaRPr lang="es-419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Descubrir redes remotas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Mantener la información de enrutamiento actualizada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Escoger la mejor ruta o camino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Encontrar un nuevo camino cuando el actual deja de estar disponible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10816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0511" y="46360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135969" y="1580751"/>
            <a:ext cx="100001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Componentes de un Protocolo de enrutamiento</a:t>
            </a:r>
          </a:p>
          <a:p>
            <a:pPr algn="just"/>
            <a:endParaRPr lang="es-419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Estructuras de datos</a:t>
            </a:r>
            <a:r>
              <a:rPr lang="es-419" sz="2800" dirty="0"/>
              <a:t>: Usan tablas y/o base de datos  BD para sus operaciones. (RAM)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Algoritmo</a:t>
            </a:r>
            <a:r>
              <a:rPr lang="es-419" sz="2800" dirty="0"/>
              <a:t>: Es una lista de pasos para facilitar información de enrutamiento y determinar el mejor camino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Mensajes</a:t>
            </a:r>
            <a:r>
              <a:rPr lang="es-419" sz="2800" dirty="0"/>
              <a:t>: Se utilizan para descubrir </a:t>
            </a:r>
            <a:r>
              <a:rPr lang="es-419" sz="2800" dirty="0" err="1"/>
              <a:t>routers</a:t>
            </a:r>
            <a:r>
              <a:rPr lang="es-419" sz="2800" dirty="0"/>
              <a:t> vecinos, intercambiar información de enrutamiento y otras tareas para aprender y conservar información precisa sobre la red.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98504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0511" y="46360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328612" y="1163868"/>
            <a:ext cx="114442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Métricas de un Protocolo de enrutamiento</a:t>
            </a:r>
          </a:p>
          <a:p>
            <a:pPr algn="just"/>
            <a:endParaRPr lang="es-419" sz="2800" dirty="0"/>
          </a:p>
          <a:p>
            <a:pPr algn="just"/>
            <a:r>
              <a:rPr lang="es-419" sz="2800" dirty="0"/>
              <a:t>Una métrica es un valor utilizado por los protocolos de enrutamiento para asignar el costo de una ruta o camino.</a:t>
            </a:r>
          </a:p>
          <a:p>
            <a:pPr algn="just"/>
            <a:endParaRPr lang="es-419" sz="2800" dirty="0"/>
          </a:p>
          <a:p>
            <a:pPr algn="just"/>
            <a:r>
              <a:rPr lang="es-419" sz="2800" dirty="0"/>
              <a:t>Entre las métricas se tiene:</a:t>
            </a:r>
          </a:p>
          <a:p>
            <a:pPr marL="457200" indent="-457200" algn="just">
              <a:buFontTx/>
              <a:buChar char="-"/>
            </a:pPr>
            <a:r>
              <a:rPr lang="es-419" sz="2800" b="1" dirty="0"/>
              <a:t>Número de saltos</a:t>
            </a:r>
            <a:r>
              <a:rPr lang="es-419" sz="2800" dirty="0"/>
              <a:t>: Nro. de </a:t>
            </a:r>
            <a:r>
              <a:rPr lang="es-419" sz="2800" dirty="0" err="1"/>
              <a:t>routers</a:t>
            </a:r>
            <a:r>
              <a:rPr lang="es-419" sz="2800" dirty="0"/>
              <a:t> que debe atravesar</a:t>
            </a:r>
          </a:p>
          <a:p>
            <a:pPr marL="457200" indent="-457200" algn="just">
              <a:buFontTx/>
              <a:buChar char="-"/>
            </a:pPr>
            <a:r>
              <a:rPr lang="es-419" sz="2800" b="1" dirty="0"/>
              <a:t>Ancho de banda</a:t>
            </a:r>
          </a:p>
          <a:p>
            <a:pPr marL="457200" indent="-457200" algn="just">
              <a:buFontTx/>
              <a:buChar char="-"/>
            </a:pPr>
            <a:r>
              <a:rPr lang="es-419" sz="2800" b="1" dirty="0"/>
              <a:t>Retardo</a:t>
            </a:r>
            <a:r>
              <a:rPr lang="es-419" sz="2800" dirty="0"/>
              <a:t>: El tiempo que tarda un paquete en atravesar una ruta</a:t>
            </a:r>
          </a:p>
          <a:p>
            <a:pPr marL="457200" indent="-457200" algn="just">
              <a:buFontTx/>
              <a:buChar char="-"/>
            </a:pPr>
            <a:r>
              <a:rPr lang="es-419" sz="2800" b="1" dirty="0"/>
              <a:t>Carga </a:t>
            </a:r>
            <a:r>
              <a:rPr lang="es-419" sz="2800" dirty="0"/>
              <a:t>o tráfico de un enlace</a:t>
            </a:r>
          </a:p>
          <a:p>
            <a:pPr marL="457200" indent="-457200" algn="just">
              <a:buFontTx/>
              <a:buChar char="-"/>
            </a:pPr>
            <a:r>
              <a:rPr lang="es-419" sz="2800" b="1" dirty="0"/>
              <a:t>Confiabilidad</a:t>
            </a:r>
            <a:r>
              <a:rPr lang="es-419" sz="2800" dirty="0"/>
              <a:t>: con base en la probabilidad de una falla del enlace</a:t>
            </a:r>
          </a:p>
        </p:txBody>
      </p:sp>
    </p:spTree>
    <p:extLst>
      <p:ext uri="{BB962C8B-B14F-4D97-AF65-F5344CB8AC3E}">
        <p14:creationId xmlns:p14="http://schemas.microsoft.com/office/powerpoint/2010/main" val="52798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560511" y="46360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328612" y="1163868"/>
            <a:ext cx="1144428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Tiempo de Convergencia</a:t>
            </a:r>
          </a:p>
          <a:p>
            <a:pPr algn="just"/>
            <a:endParaRPr lang="es-419" sz="2800" dirty="0"/>
          </a:p>
          <a:p>
            <a:pPr algn="just"/>
            <a:r>
              <a:rPr lang="es-419" sz="2800" dirty="0"/>
              <a:t>Es el tiempo que transcurre desde que se produce un cambio en la topología de la red hasta que todos los </a:t>
            </a:r>
            <a:r>
              <a:rPr lang="es-419" sz="2800" dirty="0" err="1"/>
              <a:t>routers</a:t>
            </a:r>
            <a:r>
              <a:rPr lang="es-419" sz="2800" dirty="0"/>
              <a:t> actualizan sus rutas con el resto de forma que se vea reflejado el cambio.</a:t>
            </a:r>
          </a:p>
          <a:p>
            <a:pPr algn="just"/>
            <a:endParaRPr lang="es-419" sz="2800" dirty="0"/>
          </a:p>
          <a:p>
            <a:pPr algn="just"/>
            <a:r>
              <a:rPr lang="es-419" sz="2800" b="1" u="sng" dirty="0"/>
              <a:t>Distancia administrativa</a:t>
            </a:r>
          </a:p>
          <a:p>
            <a:pPr algn="just"/>
            <a:endParaRPr lang="es-419" sz="2800" b="1" u="sng" dirty="0"/>
          </a:p>
          <a:p>
            <a:pPr algn="just"/>
            <a:r>
              <a:rPr lang="es-CO" sz="2800" dirty="0"/>
              <a:t>Distancia administrativa es la medida usada por los </a:t>
            </a:r>
            <a:r>
              <a:rPr lang="es-CO" sz="2800" dirty="0" err="1"/>
              <a:t>routers</a:t>
            </a:r>
            <a:r>
              <a:rPr lang="es-CO" sz="2800" dirty="0"/>
              <a:t> Cisco para seleccionar la mejor ruta cuando hay dos o más rutas diferentes hacia el mismo destino para dos protocolos de enrutamiento. La distancia administrativa define la fiabilidad de un protocolo de enrutamiento.</a:t>
            </a:r>
            <a:endParaRPr lang="es-419" sz="2800" dirty="0"/>
          </a:p>
          <a:p>
            <a:pPr algn="just"/>
            <a:r>
              <a:rPr lang="es-419" sz="2800" dirty="0"/>
              <a:t> </a:t>
            </a:r>
          </a:p>
          <a:p>
            <a:pPr algn="just"/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360771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22881" y="449738"/>
            <a:ext cx="9404723" cy="1400530"/>
          </a:xfrm>
        </p:spPr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5105400" y="1462610"/>
            <a:ext cx="1839686" cy="369332"/>
          </a:xfrm>
          <a:prstGeom prst="rect">
            <a:avLst/>
          </a:prstGeom>
          <a:noFill/>
          <a:ln w="698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419" b="1" dirty="0"/>
              <a:t>E. Dinámico</a:t>
            </a:r>
            <a:endParaRPr lang="es-CO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2601686" y="2493630"/>
            <a:ext cx="395151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b="1" dirty="0"/>
              <a:t>Protocolos de Pasarela Interior</a:t>
            </a:r>
            <a:endParaRPr lang="es-CO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705602" y="2472502"/>
            <a:ext cx="3626314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/>
              <a:t>Protocolos de Pasarela Exterior</a:t>
            </a:r>
            <a:endParaRPr lang="es-CO" b="1" dirty="0"/>
          </a:p>
        </p:txBody>
      </p:sp>
      <p:cxnSp>
        <p:nvCxnSpPr>
          <p:cNvPr id="13" name="Conector angular 12"/>
          <p:cNvCxnSpPr/>
          <p:nvPr/>
        </p:nvCxnSpPr>
        <p:spPr>
          <a:xfrm rot="5400000">
            <a:off x="5071423" y="1497377"/>
            <a:ext cx="640560" cy="12670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endCxn id="11" idx="0"/>
          </p:cNvCxnSpPr>
          <p:nvPr/>
        </p:nvCxnSpPr>
        <p:spPr>
          <a:xfrm>
            <a:off x="6025244" y="2111829"/>
            <a:ext cx="2493515" cy="360673"/>
          </a:xfrm>
          <a:prstGeom prst="bentConnector2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2085352" y="4130336"/>
            <a:ext cx="219002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/>
              <a:t>Vector - Distancia</a:t>
            </a:r>
            <a:endParaRPr lang="es-CO" b="1" dirty="0"/>
          </a:p>
        </p:txBody>
      </p:sp>
      <p:sp>
        <p:nvSpPr>
          <p:cNvPr id="24" name="CuadroTexto 23"/>
          <p:cNvSpPr txBox="1"/>
          <p:nvPr/>
        </p:nvSpPr>
        <p:spPr>
          <a:xfrm>
            <a:off x="4589317" y="4130336"/>
            <a:ext cx="1912703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/>
              <a:t>Estado - Enlace</a:t>
            </a:r>
            <a:endParaRPr lang="es-CO" b="1" dirty="0"/>
          </a:p>
        </p:txBody>
      </p:sp>
      <p:sp>
        <p:nvSpPr>
          <p:cNvPr id="25" name="CuadroTexto 24"/>
          <p:cNvSpPr txBox="1"/>
          <p:nvPr/>
        </p:nvSpPr>
        <p:spPr>
          <a:xfrm>
            <a:off x="7902227" y="3945670"/>
            <a:ext cx="1649811" cy="369332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419" b="1" dirty="0"/>
              <a:t>Vector - Ruta</a:t>
            </a:r>
            <a:endParaRPr lang="es-CO" b="1" dirty="0"/>
          </a:p>
        </p:txBody>
      </p:sp>
      <p:cxnSp>
        <p:nvCxnSpPr>
          <p:cNvPr id="34" name="Conector angular 33"/>
          <p:cNvCxnSpPr/>
          <p:nvPr/>
        </p:nvCxnSpPr>
        <p:spPr>
          <a:xfrm rot="5400000">
            <a:off x="3562854" y="3066565"/>
            <a:ext cx="1230067" cy="822860"/>
          </a:xfrm>
          <a:prstGeom prst="bentConnector3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angular 36"/>
          <p:cNvCxnSpPr/>
          <p:nvPr/>
        </p:nvCxnSpPr>
        <p:spPr>
          <a:xfrm rot="16200000" flipH="1">
            <a:off x="4394105" y="3095430"/>
            <a:ext cx="1192811" cy="80238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9"/>
          <p:cNvCxnSpPr>
            <a:endCxn id="25" idx="0"/>
          </p:cNvCxnSpPr>
          <p:nvPr/>
        </p:nvCxnSpPr>
        <p:spPr>
          <a:xfrm rot="16200000" flipH="1">
            <a:off x="8073086" y="3291623"/>
            <a:ext cx="1082710" cy="225383"/>
          </a:xfrm>
          <a:prstGeom prst="bentConnector3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/>
          <p:cNvSpPr txBox="1"/>
          <p:nvPr/>
        </p:nvSpPr>
        <p:spPr>
          <a:xfrm>
            <a:off x="2151076" y="4593266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(</a:t>
            </a:r>
            <a:r>
              <a:rPr lang="es-419" b="1" dirty="0"/>
              <a:t>RIP</a:t>
            </a:r>
            <a:r>
              <a:rPr lang="es-419" dirty="0"/>
              <a:t>, IGRP, </a:t>
            </a:r>
            <a:r>
              <a:rPr lang="es-419" b="1" dirty="0"/>
              <a:t>EIGRP</a:t>
            </a:r>
            <a:r>
              <a:rPr lang="es-419" dirty="0"/>
              <a:t>)</a:t>
            </a:r>
            <a:endParaRPr lang="es-CO" dirty="0"/>
          </a:p>
        </p:txBody>
      </p:sp>
      <p:sp>
        <p:nvSpPr>
          <p:cNvPr id="4" name="CuadroTexto 3"/>
          <p:cNvSpPr txBox="1"/>
          <p:nvPr/>
        </p:nvSpPr>
        <p:spPr>
          <a:xfrm>
            <a:off x="4744113" y="4593266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(</a:t>
            </a:r>
            <a:r>
              <a:rPr lang="es-419" b="1" dirty="0"/>
              <a:t>OSPF</a:t>
            </a:r>
            <a:r>
              <a:rPr lang="es-419" dirty="0"/>
              <a:t>  IS-IS)</a:t>
            </a:r>
            <a:endParaRPr lang="es-CO" dirty="0"/>
          </a:p>
        </p:txBody>
      </p:sp>
      <p:sp>
        <p:nvSpPr>
          <p:cNvPr id="6" name="CuadroTexto 5"/>
          <p:cNvSpPr txBox="1"/>
          <p:nvPr/>
        </p:nvSpPr>
        <p:spPr>
          <a:xfrm>
            <a:off x="8314198" y="44996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(BGP)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813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1175658" y="1698171"/>
            <a:ext cx="931817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sz="2400" b="1" dirty="0"/>
              <a:t>Protocolo de Pasarela Interior (IGP):</a:t>
            </a:r>
          </a:p>
          <a:p>
            <a:pPr algn="just"/>
            <a:endParaRPr lang="es-419" dirty="0"/>
          </a:p>
          <a:p>
            <a:pPr algn="just"/>
            <a:r>
              <a:rPr lang="es-419" dirty="0"/>
              <a:t>Encargado del enrutamiento al interior de un sistema autónomo (AS). Un Sistema Autónomo es un conjunto de redes IP pertenecientes a una misma organización.</a:t>
            </a:r>
          </a:p>
          <a:p>
            <a:pPr algn="just"/>
            <a:endParaRPr lang="es-419" dirty="0"/>
          </a:p>
          <a:p>
            <a:pPr algn="just"/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61" y="3354034"/>
            <a:ext cx="2449285" cy="133251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081797" y="4877956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/>
              <a:t>Sistema Autónomo (AS)</a:t>
            </a:r>
            <a:endParaRPr lang="es-CO" b="1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577" y="3354034"/>
            <a:ext cx="2786966" cy="303580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8001000" y="4677473"/>
            <a:ext cx="792205" cy="5232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419" sz="2800" b="1" dirty="0">
                <a:solidFill>
                  <a:schemeClr val="bg1"/>
                </a:solidFill>
              </a:rPr>
              <a:t>IGP</a:t>
            </a:r>
            <a:endParaRPr lang="es-CO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285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Enrutamiento Vector - Distancia: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419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419" sz="2000" dirty="0"/>
              <a:t>El camino de menor costo entre dos nodos (redes) es el de la menor distancia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419" sz="2000" dirty="0"/>
              <a:t>Los caminos o rutas se anuncian proporcionando dos características: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s-419" sz="2000" b="1" dirty="0"/>
              <a:t>Distancia</a:t>
            </a:r>
            <a:r>
              <a:rPr lang="es-419" sz="2000" dirty="0"/>
              <a:t>: Es el costo para llegar a la red destino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s-419" sz="2000" b="1" dirty="0"/>
              <a:t>Vector</a:t>
            </a:r>
            <a:r>
              <a:rPr lang="es-419" sz="2000" dirty="0"/>
              <a:t>: Especifica el sentido en que se encuentra el router del siguiente salto para llegar al destino</a:t>
            </a:r>
          </a:p>
          <a:p>
            <a:pPr algn="just"/>
            <a:endParaRPr lang="es-419" sz="2000" b="1" u="sng" dirty="0"/>
          </a:p>
          <a:p>
            <a:pPr algn="just"/>
            <a:r>
              <a:rPr lang="es-419" sz="2000" b="1" u="sng" dirty="0"/>
              <a:t>Operaciones:</a:t>
            </a:r>
          </a:p>
          <a:p>
            <a:pPr algn="just"/>
            <a:endParaRPr lang="es-419" sz="2000" dirty="0"/>
          </a:p>
          <a:p>
            <a:pPr algn="just"/>
            <a:r>
              <a:rPr lang="es-419" sz="2000" b="1" dirty="0"/>
              <a:t>-Inicialización:</a:t>
            </a:r>
          </a:p>
          <a:p>
            <a:pPr algn="just"/>
            <a:r>
              <a:rPr lang="es-419" sz="2000" b="1" dirty="0"/>
              <a:t>-Compartir información</a:t>
            </a:r>
          </a:p>
          <a:p>
            <a:pPr algn="just"/>
            <a:r>
              <a:rPr lang="es-419" sz="2000" b="1" dirty="0"/>
              <a:t>-Actualización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16054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Enrutamiento Vector – Distancia:</a:t>
            </a:r>
          </a:p>
          <a:p>
            <a:pPr algn="just"/>
            <a:endParaRPr lang="es-419" sz="2800" b="1" u="sng" dirty="0"/>
          </a:p>
          <a:p>
            <a:pPr algn="just"/>
            <a:r>
              <a:rPr lang="es-419" sz="2800" dirty="0"/>
              <a:t>Las rutas se anuncian proporcionando dos características: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Distancia</a:t>
            </a:r>
            <a:r>
              <a:rPr lang="es-419" sz="2800" dirty="0"/>
              <a:t>: Es el costo para llegar a la red destino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b="1" dirty="0"/>
              <a:t>Vector</a:t>
            </a:r>
            <a:r>
              <a:rPr lang="es-419" sz="2800" dirty="0"/>
              <a:t>: Especifica el sentido en que se encuentra el </a:t>
            </a:r>
            <a:r>
              <a:rPr lang="es-419" sz="2800" dirty="0" err="1"/>
              <a:t>router</a:t>
            </a:r>
            <a:r>
              <a:rPr lang="es-419" sz="2800" dirty="0"/>
              <a:t> del siguiente salto para llegar al destino</a:t>
            </a:r>
          </a:p>
          <a:p>
            <a:pPr marL="457200" indent="-457200" algn="just">
              <a:buFontTx/>
              <a:buChar char="-"/>
            </a:pPr>
            <a:endParaRPr lang="es-419" sz="2800" dirty="0"/>
          </a:p>
          <a:p>
            <a:pPr marL="457200" indent="-457200" algn="just">
              <a:buFontTx/>
              <a:buChar char="-"/>
            </a:pPr>
            <a:endParaRPr lang="es-419" sz="2800" dirty="0"/>
          </a:p>
          <a:p>
            <a:pPr algn="just"/>
            <a:r>
              <a:rPr lang="es-419" sz="2800" dirty="0"/>
              <a:t>En el ejemplo: para R1, la red </a:t>
            </a:r>
          </a:p>
          <a:p>
            <a:pPr algn="just"/>
            <a:r>
              <a:rPr lang="es-419" sz="2800" dirty="0"/>
              <a:t>172.16.3.0/24 está a un salto (distancia)</a:t>
            </a:r>
          </a:p>
          <a:p>
            <a:pPr algn="just"/>
            <a:r>
              <a:rPr lang="es-419" sz="2800" dirty="0"/>
              <a:t>y puede alcanzarla a través de R2 (vector)</a:t>
            </a:r>
          </a:p>
          <a:p>
            <a:pPr marL="457200" indent="-457200" algn="just">
              <a:buFontTx/>
              <a:buChar char="-"/>
            </a:pPr>
            <a:endParaRPr lang="es-419" sz="2800" dirty="0"/>
          </a:p>
          <a:p>
            <a:pPr marL="457200" indent="-457200" algn="just">
              <a:buFontTx/>
              <a:buChar char="-"/>
            </a:pPr>
            <a:endParaRPr lang="es-419" sz="2800" dirty="0"/>
          </a:p>
          <a:p>
            <a:pPr algn="just"/>
            <a:endParaRPr lang="es-419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07" y="4591878"/>
            <a:ext cx="4100735" cy="188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983743" y="3202425"/>
            <a:ext cx="102541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4800" b="1" u="sng" dirty="0"/>
              <a:t>Protocolo RIP:</a:t>
            </a:r>
          </a:p>
          <a:p>
            <a:pPr algn="ctr"/>
            <a:r>
              <a:rPr lang="es-419" sz="4400" b="1" dirty="0"/>
              <a:t>(Protocolo de Información de Enrutamiento)</a:t>
            </a:r>
          </a:p>
          <a:p>
            <a:pPr algn="just"/>
            <a:endParaRPr lang="es-419" sz="2800" b="1" u="sng" dirty="0"/>
          </a:p>
          <a:p>
            <a:pPr algn="just"/>
            <a:endParaRPr lang="es-419" sz="2800" b="1" u="sng" dirty="0"/>
          </a:p>
          <a:p>
            <a:pPr algn="just"/>
            <a:endParaRPr lang="es-419" sz="2800" b="1" u="sng" dirty="0"/>
          </a:p>
          <a:p>
            <a:pPr algn="just"/>
            <a:endParaRPr lang="es-419" sz="2800" b="1" u="sng" dirty="0"/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06199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RIP:</a:t>
            </a:r>
          </a:p>
          <a:p>
            <a:pPr algn="just"/>
            <a:endParaRPr lang="es-419" sz="2800" b="1" u="sng" dirty="0"/>
          </a:p>
          <a:p>
            <a:pPr algn="just"/>
            <a:endParaRPr lang="es-419" sz="2800" b="1" u="sng" dirty="0"/>
          </a:p>
          <a:p>
            <a:pPr algn="just"/>
            <a:r>
              <a:rPr lang="es-419" sz="2800" dirty="0"/>
              <a:t>Este protocolo emplea un enrutamiento vector-distancia donde: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La métrica del costo está determinada por el número de salto (&lt;=15), siendo cada salto un </a:t>
            </a:r>
            <a:r>
              <a:rPr lang="es-419" sz="2800" dirty="0" err="1"/>
              <a:t>router</a:t>
            </a:r>
            <a:endParaRPr lang="es-419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La distancia administrativa de RIP para redes internas es de </a:t>
            </a:r>
            <a:r>
              <a:rPr lang="es-419" sz="2800" b="1" dirty="0"/>
              <a:t>120</a:t>
            </a:r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340123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159103"/>
            <a:ext cx="9404723" cy="1400530"/>
          </a:xfrm>
        </p:spPr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66313" y="917912"/>
            <a:ext cx="1125937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RIP: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Configuración del </a:t>
            </a:r>
            <a:r>
              <a:rPr lang="es-419" sz="2800" b="1" dirty="0" err="1"/>
              <a:t>router</a:t>
            </a:r>
            <a:endParaRPr lang="es-419" sz="2800" b="1" dirty="0"/>
          </a:p>
          <a:p>
            <a:pPr algn="just"/>
            <a:endParaRPr lang="es-419" sz="2800" b="1" dirty="0"/>
          </a:p>
          <a:p>
            <a:pPr algn="just"/>
            <a:r>
              <a:rPr lang="es-419" sz="2800" dirty="0"/>
              <a:t>1. Se introduce el comando</a:t>
            </a:r>
          </a:p>
          <a:p>
            <a:pPr algn="just"/>
            <a:r>
              <a:rPr lang="es-419" sz="2800" b="1" dirty="0" err="1"/>
              <a:t>Router</a:t>
            </a:r>
            <a:r>
              <a:rPr lang="es-419" sz="2800" b="1" dirty="0"/>
              <a:t> </a:t>
            </a:r>
            <a:r>
              <a:rPr lang="es-419" sz="2800" b="1" dirty="0" err="1"/>
              <a:t>rip</a:t>
            </a:r>
            <a:endParaRPr lang="es-419" sz="2800" b="1" dirty="0"/>
          </a:p>
          <a:p>
            <a:pPr algn="just"/>
            <a:endParaRPr lang="es-419" sz="2800" b="1" dirty="0"/>
          </a:p>
          <a:p>
            <a:pPr algn="just"/>
            <a:r>
              <a:rPr lang="es-419" sz="2800" dirty="0"/>
              <a:t>2. Por cada red conectada al </a:t>
            </a:r>
            <a:r>
              <a:rPr lang="es-419" sz="2800" dirty="0" err="1"/>
              <a:t>router</a:t>
            </a:r>
            <a:r>
              <a:rPr lang="es-419" sz="2800" dirty="0"/>
              <a:t> se introduce el comando:</a:t>
            </a:r>
          </a:p>
          <a:p>
            <a:pPr algn="just"/>
            <a:r>
              <a:rPr lang="es-419" sz="2800" b="1" dirty="0"/>
              <a:t>Network &lt;</a:t>
            </a:r>
            <a:r>
              <a:rPr lang="es-419" sz="2800" b="1" dirty="0" err="1"/>
              <a:t>ip_red_conectada</a:t>
            </a:r>
            <a:r>
              <a:rPr lang="es-419" sz="2800" b="1" dirty="0"/>
              <a:t>&gt;</a:t>
            </a:r>
          </a:p>
          <a:p>
            <a:pPr algn="just"/>
            <a:endParaRPr lang="es-419" dirty="0"/>
          </a:p>
          <a:p>
            <a:pPr algn="just"/>
            <a:r>
              <a:rPr lang="es-419" b="1" u="sng" dirty="0"/>
              <a:t>NOTA: EN CASO DE SUBREDES SE DEBE EMPLEAR RIP VERSION 2 CON EL COMANDO: </a:t>
            </a:r>
          </a:p>
          <a:p>
            <a:pPr algn="just"/>
            <a:r>
              <a:rPr lang="es-419" sz="2800" b="1" dirty="0"/>
              <a:t>VERSION 2</a:t>
            </a:r>
          </a:p>
          <a:p>
            <a:pPr algn="just"/>
            <a:r>
              <a:rPr lang="es-419" b="1" dirty="0"/>
              <a:t>Y luego el comando:</a:t>
            </a:r>
          </a:p>
          <a:p>
            <a:pPr algn="just"/>
            <a:r>
              <a:rPr lang="es-419" sz="2800" b="1" dirty="0"/>
              <a:t>No </a:t>
            </a:r>
            <a:r>
              <a:rPr lang="es-419" sz="2800" b="1" dirty="0" err="1"/>
              <a:t>auto-summary</a:t>
            </a:r>
            <a:endParaRPr lang="es-419" sz="2800" b="1" dirty="0"/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240702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RIP: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Ejemplo:</a:t>
            </a:r>
          </a:p>
          <a:p>
            <a:pPr algn="just"/>
            <a:endParaRPr lang="es-419" sz="2800" b="1" dirty="0"/>
          </a:p>
          <a:p>
            <a:pPr algn="just"/>
            <a:endParaRPr lang="es-419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522" y="2499578"/>
            <a:ext cx="8737300" cy="412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5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656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</a:t>
            </a:r>
            <a:r>
              <a:rPr lang="es-419" sz="2800" dirty="0"/>
              <a:t> </a:t>
            </a:r>
            <a:r>
              <a:rPr lang="en-US" sz="2800" dirty="0"/>
              <a:t>(Enhanced Interior Gateway Routing Protocol)</a:t>
            </a:r>
            <a:endParaRPr lang="es-419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EIGRP </a:t>
            </a:r>
            <a:r>
              <a:rPr lang="es-419" sz="2800" dirty="0"/>
              <a:t>Protocolo de Cisco mejorado del IGRP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Rápida convergencia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La métrica empleada está compuesta por  </a:t>
            </a:r>
            <a:r>
              <a:rPr lang="es-419" sz="2800" b="1" i="1" dirty="0"/>
              <a:t>ancho de </a:t>
            </a:r>
            <a:r>
              <a:rPr lang="es-419" sz="2800" b="1" i="1" dirty="0" err="1"/>
              <a:t>banda+confiablidad+retardo+carga</a:t>
            </a:r>
            <a:endParaRPr lang="es-419" sz="2800" b="1" i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Mecanismo de mensaje de saludo con los </a:t>
            </a:r>
            <a:r>
              <a:rPr lang="es-419" sz="2800" dirty="0" err="1"/>
              <a:t>routers</a:t>
            </a:r>
            <a:r>
              <a:rPr lang="es-419" sz="2800" dirty="0"/>
              <a:t> vecinos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Los mensajes de actualización se dan cuando hay cambios en la tabla de enrutamiento a los vecinos que necesitan conocer los cambios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Utiliza un algoritmo DUAL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419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419" sz="2800" dirty="0"/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22428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</a:t>
            </a:r>
          </a:p>
          <a:p>
            <a:pPr algn="just"/>
            <a:endParaRPr lang="en-US" sz="1050" dirty="0"/>
          </a:p>
          <a:p>
            <a:pPr algn="ctr"/>
            <a:r>
              <a:rPr lang="es-419" sz="2800" b="1" dirty="0"/>
              <a:t>Tablas de EIGRP:</a:t>
            </a:r>
          </a:p>
          <a:p>
            <a:pPr algn="just"/>
            <a:endParaRPr lang="es-419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Tabla de vecinos: Guarda ruta de los </a:t>
            </a:r>
            <a:r>
              <a:rPr lang="es-419" sz="2800" dirty="0" err="1"/>
              <a:t>router</a:t>
            </a:r>
            <a:r>
              <a:rPr lang="es-419" sz="2800" dirty="0"/>
              <a:t> vecinos o directamente conectados (show </a:t>
            </a:r>
            <a:r>
              <a:rPr lang="es-419" sz="2800" dirty="0" err="1"/>
              <a:t>ip</a:t>
            </a:r>
            <a:r>
              <a:rPr lang="es-419" sz="2800" dirty="0"/>
              <a:t> </a:t>
            </a:r>
            <a:r>
              <a:rPr lang="es-419" sz="2800" dirty="0" err="1"/>
              <a:t>eigrp</a:t>
            </a:r>
            <a:r>
              <a:rPr lang="es-419" sz="2800" dirty="0"/>
              <a:t> </a:t>
            </a:r>
            <a:r>
              <a:rPr lang="es-419" sz="2800" dirty="0" err="1"/>
              <a:t>neighbors</a:t>
            </a:r>
            <a:r>
              <a:rPr lang="es-419" sz="2800" dirty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Tabla de topología: rutas de los destinos de sus vecinos (show </a:t>
            </a:r>
            <a:r>
              <a:rPr lang="es-419" sz="2800" dirty="0" err="1"/>
              <a:t>ip</a:t>
            </a:r>
            <a:r>
              <a:rPr lang="es-419" sz="2800" dirty="0"/>
              <a:t> </a:t>
            </a:r>
            <a:r>
              <a:rPr lang="es-419" sz="2800" dirty="0" err="1"/>
              <a:t>eigrp</a:t>
            </a:r>
            <a:r>
              <a:rPr lang="es-419" sz="2800" dirty="0"/>
              <a:t> </a:t>
            </a:r>
            <a:r>
              <a:rPr lang="es-419" sz="2800" dirty="0" err="1"/>
              <a:t>topology</a:t>
            </a:r>
            <a:r>
              <a:rPr lang="es-419" sz="2800" dirty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419" sz="2800" dirty="0"/>
              <a:t>Tabla de enrutamiento (show </a:t>
            </a:r>
            <a:r>
              <a:rPr lang="es-419" sz="2800" dirty="0" err="1"/>
              <a:t>ip</a:t>
            </a:r>
            <a:r>
              <a:rPr lang="es-419" sz="2800" dirty="0"/>
              <a:t> </a:t>
            </a:r>
            <a:r>
              <a:rPr lang="es-419" sz="2800" dirty="0" err="1"/>
              <a:t>route</a:t>
            </a:r>
            <a:r>
              <a:rPr lang="es-419" sz="2800" dirty="0"/>
              <a:t>)</a:t>
            </a:r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2570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68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</a:t>
            </a:r>
          </a:p>
          <a:p>
            <a:pPr algn="just"/>
            <a:endParaRPr lang="en-US" sz="1050" dirty="0"/>
          </a:p>
          <a:p>
            <a:pPr algn="ctr"/>
            <a:r>
              <a:rPr lang="es-419" sz="2800" b="1" dirty="0"/>
              <a:t>Distancia administrativa  de EIGRP: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dirty="0"/>
              <a:t>La distancia administrativa de EIGRP para redes internas es 90.</a:t>
            </a:r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618054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20196" y="1234440"/>
            <a:ext cx="112593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Configuración del </a:t>
            </a:r>
            <a:r>
              <a:rPr lang="es-419" sz="2800" b="1" dirty="0" err="1"/>
              <a:t>router</a:t>
            </a:r>
            <a:endParaRPr lang="es-419" sz="2800" b="1" dirty="0"/>
          </a:p>
          <a:p>
            <a:pPr algn="just"/>
            <a:endParaRPr lang="es-419" sz="2800" b="1" dirty="0"/>
          </a:p>
          <a:p>
            <a:pPr algn="just"/>
            <a:r>
              <a:rPr lang="es-419" sz="2800" dirty="0"/>
              <a:t>1. Se introduce el comando</a:t>
            </a:r>
          </a:p>
          <a:p>
            <a:pPr algn="just"/>
            <a:r>
              <a:rPr lang="es-419" sz="2800" b="1" dirty="0" err="1"/>
              <a:t>Router</a:t>
            </a:r>
            <a:r>
              <a:rPr lang="es-419" sz="2800" b="1" dirty="0"/>
              <a:t> EIGRP &lt;#AS&gt;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dirty="0"/>
              <a:t>2. Dependiendo si es una red o subred se tiene:</a:t>
            </a:r>
            <a:endParaRPr lang="es-419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471229"/>
              </p:ext>
            </p:extLst>
          </p:nvPr>
        </p:nvGraphicFramePr>
        <p:xfrm>
          <a:off x="420196" y="5050132"/>
          <a:ext cx="11035203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6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Para redes: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Para subredes: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sz="2000" dirty="0"/>
                        <a:t>Network &lt;</a:t>
                      </a:r>
                      <a:r>
                        <a:rPr lang="es-419" sz="2000" dirty="0" err="1"/>
                        <a:t>IP_Red</a:t>
                      </a:r>
                      <a:r>
                        <a:rPr lang="es-419" sz="2000" baseline="0" dirty="0"/>
                        <a:t> conectada&gt;</a:t>
                      </a:r>
                      <a:endParaRPr lang="es-CO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2000" dirty="0"/>
                        <a:t>Network &lt;</a:t>
                      </a:r>
                      <a:r>
                        <a:rPr lang="es-419" sz="2000" dirty="0" err="1"/>
                        <a:t>IP_Subred</a:t>
                      </a:r>
                      <a:r>
                        <a:rPr lang="es-419" sz="2000" baseline="0" dirty="0"/>
                        <a:t> conectada&gt; &lt;</a:t>
                      </a:r>
                      <a:r>
                        <a:rPr lang="es-419" sz="2000" baseline="0" dirty="0" err="1"/>
                        <a:t>máscara_wilcard</a:t>
                      </a:r>
                      <a:r>
                        <a:rPr lang="es-419" sz="2000" baseline="0" dirty="0"/>
                        <a:t>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2000" baseline="0" dirty="0"/>
                        <a:t>No auto-</a:t>
                      </a:r>
                      <a:r>
                        <a:rPr lang="es-419" sz="2000" baseline="0" dirty="0" err="1"/>
                        <a:t>summary</a:t>
                      </a:r>
                      <a:endParaRPr lang="es-419" sz="2000" baseline="0" dirty="0"/>
                    </a:p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971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20196" y="1234440"/>
            <a:ext cx="112593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Cálculo de máscara </a:t>
            </a:r>
            <a:r>
              <a:rPr lang="es-419" sz="2800" b="1" dirty="0" err="1"/>
              <a:t>wildcard</a:t>
            </a:r>
            <a:r>
              <a:rPr lang="es-419" sz="2800" b="1" dirty="0"/>
              <a:t>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Por ejemplo:</a:t>
            </a:r>
          </a:p>
          <a:p>
            <a:pPr algn="just"/>
            <a:r>
              <a:rPr lang="es-419" sz="2800" b="1" dirty="0"/>
              <a:t>			255.255.255.255	      (constante)</a:t>
            </a:r>
          </a:p>
          <a:p>
            <a:pPr algn="just"/>
            <a:r>
              <a:rPr lang="es-419" sz="2800" b="1" dirty="0"/>
              <a:t>			- 255.255.192.0        (Máscara de subred)</a:t>
            </a:r>
          </a:p>
          <a:p>
            <a:pPr algn="just"/>
            <a:r>
              <a:rPr lang="es-419" sz="2800" b="1" dirty="0"/>
              <a:t>			-------------------</a:t>
            </a:r>
          </a:p>
          <a:p>
            <a:pPr algn="just"/>
            <a:r>
              <a:rPr lang="es-419" sz="2800" b="1" dirty="0"/>
              <a:t>			0.0.63.255 </a:t>
            </a:r>
            <a:r>
              <a:rPr lang="es-419" sz="2800" b="1" dirty="0">
                <a:sym typeface="Wingdings" panose="05000000000000000000" pitchFamily="2" charset="2"/>
              </a:rPr>
              <a:t> Máscara </a:t>
            </a:r>
            <a:r>
              <a:rPr lang="es-419" sz="2800" b="1" dirty="0" err="1">
                <a:sym typeface="Wingdings" panose="05000000000000000000" pitchFamily="2" charset="2"/>
              </a:rPr>
              <a:t>Wildcard</a:t>
            </a:r>
            <a:endParaRPr lang="es-419" sz="2800" b="1" dirty="0"/>
          </a:p>
          <a:p>
            <a:pPr algn="just"/>
            <a:r>
              <a:rPr lang="es-419" sz="2800" b="1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587340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927463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Ejemplo:</a:t>
            </a:r>
          </a:p>
          <a:p>
            <a:pPr algn="just"/>
            <a:endParaRPr lang="es-419" sz="2800" b="1" dirty="0"/>
          </a:p>
          <a:p>
            <a:pPr algn="just"/>
            <a:endParaRPr lang="es-419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32" y="2289774"/>
            <a:ext cx="9575801" cy="437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74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ENRUTAMIENTO DINÁMICO</a:t>
            </a:r>
            <a:endParaRPr lang="es-CO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453656" y="1453138"/>
            <a:ext cx="11509744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419" sz="2800" b="1" u="sng" dirty="0"/>
              <a:t>Protocolo EIGRP: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Máscara </a:t>
            </a:r>
            <a:r>
              <a:rPr lang="es-419" sz="2800" b="1" dirty="0" err="1"/>
              <a:t>wildcard</a:t>
            </a:r>
            <a:r>
              <a:rPr lang="es-419" sz="2800" b="1" dirty="0"/>
              <a:t> para las subredes 10.0.0.0/10, 10.64.0.0/10 y 10.128.0.0/10</a:t>
            </a:r>
          </a:p>
          <a:p>
            <a:pPr algn="just"/>
            <a:endParaRPr lang="es-419" sz="2800" b="1" dirty="0"/>
          </a:p>
          <a:p>
            <a:pPr algn="just"/>
            <a:r>
              <a:rPr lang="es-419" sz="2800" b="1" dirty="0"/>
              <a:t>					255.255.255.255</a:t>
            </a:r>
          </a:p>
          <a:p>
            <a:pPr algn="just"/>
            <a:r>
              <a:rPr lang="es-419" sz="2800" b="1" dirty="0"/>
              <a:t>				-        255.192.0.0     (máscara de subred)</a:t>
            </a:r>
          </a:p>
          <a:p>
            <a:pPr algn="just"/>
            <a:r>
              <a:rPr lang="es-419" sz="2800" b="1" dirty="0"/>
              <a:t>				----------------------------</a:t>
            </a:r>
          </a:p>
          <a:p>
            <a:pPr algn="just"/>
            <a:r>
              <a:rPr lang="es-419" sz="2800" b="1" dirty="0"/>
              <a:t>					    0.63.255.255 (máscara </a:t>
            </a:r>
            <a:r>
              <a:rPr lang="es-419" sz="2800" b="1" dirty="0" err="1"/>
              <a:t>wildcard</a:t>
            </a:r>
            <a:r>
              <a:rPr lang="es-419" sz="2800" b="1" dirty="0"/>
              <a:t>)</a:t>
            </a:r>
          </a:p>
          <a:p>
            <a:pPr algn="just"/>
            <a:endParaRPr lang="es-419" sz="2800" b="1" dirty="0"/>
          </a:p>
          <a:p>
            <a:pPr algn="just"/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63379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5FFCF6-F818-4863-BB44-76CFD11C5BE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F5B6C02-3AE0-4000-9ED2-A6496DE2A7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363467-B999-4359-897B-E4E90F6EEF80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2673</TotalTime>
  <Words>988</Words>
  <Application>Microsoft Office PowerPoint</Application>
  <PresentationFormat>Panorámica</PresentationFormat>
  <Paragraphs>173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Wingdings</vt:lpstr>
      <vt:lpstr>Wingdings 3</vt:lpstr>
      <vt:lpstr>Ion</vt:lpstr>
      <vt:lpstr> ENRUTAMIENTO DINÁMICO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  <vt:lpstr>ENRUTAMIENTO DINÁMICO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ENRUTAMIENTO</dc:title>
  <dc:creator>Corporación Educativa Asesorías del Norte</dc:creator>
  <cp:lastModifiedBy>Ernesto Jose Garcia Puche</cp:lastModifiedBy>
  <cp:revision>132</cp:revision>
  <dcterms:created xsi:type="dcterms:W3CDTF">2020-04-14T13:12:35Z</dcterms:created>
  <dcterms:modified xsi:type="dcterms:W3CDTF">2025-04-22T14:29:07Z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