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81" r:id="rId4"/>
  </p:sldMasterIdLst>
  <p:notesMasterIdLst>
    <p:notesMasterId r:id="rId22"/>
  </p:notesMasterIdLst>
  <p:sldIdLst>
    <p:sldId id="256" r:id="rId5"/>
    <p:sldId id="257" r:id="rId6"/>
    <p:sldId id="278" r:id="rId7"/>
    <p:sldId id="276" r:id="rId8"/>
    <p:sldId id="258" r:id="rId9"/>
    <p:sldId id="277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7" r:id="rId18"/>
    <p:sldId id="275" r:id="rId19"/>
    <p:sldId id="268" r:id="rId20"/>
    <p:sldId id="269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AFB8898-C96A-4449-9A6A-CD6EBA8FCBB4}" v="1" dt="2020-08-31T14:04:37.258"/>
    <p1510:client id="{AAB488B9-21D7-453B-B96F-6D2C879DD955}" v="4" dt="2020-09-27T01:53:26.51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>
        <p:scale>
          <a:sx n="100" d="100"/>
          <a:sy n="100" d="100"/>
        </p:scale>
        <p:origin x="-420" y="-11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VID MIGUEL LARIOS ILLIDGE" userId="S::davidlariosmi@unimagdalena.edu.co::048e5547-c101-4df4-b0d9-cc3c7748a662" providerId="AD" clId="Web-{3AFB8898-C96A-4449-9A6A-CD6EBA8FCBB4}"/>
    <pc:docChg chg="delSld">
      <pc:chgData name="DAVID MIGUEL LARIOS ILLIDGE" userId="S::davidlariosmi@unimagdalena.edu.co::048e5547-c101-4df4-b0d9-cc3c7748a662" providerId="AD" clId="Web-{3AFB8898-C96A-4449-9A6A-CD6EBA8FCBB4}" dt="2020-08-31T14:04:37.258" v="0"/>
      <pc:docMkLst>
        <pc:docMk/>
      </pc:docMkLst>
      <pc:sldChg chg="del">
        <pc:chgData name="DAVID MIGUEL LARIOS ILLIDGE" userId="S::davidlariosmi@unimagdalena.edu.co::048e5547-c101-4df4-b0d9-cc3c7748a662" providerId="AD" clId="Web-{3AFB8898-C96A-4449-9A6A-CD6EBA8FCBB4}" dt="2020-08-31T14:04:37.258" v="0"/>
        <pc:sldMkLst>
          <pc:docMk/>
          <pc:sldMk cId="1913654969" sldId="273"/>
        </pc:sldMkLst>
      </pc:sldChg>
    </pc:docChg>
  </pc:docChgLst>
  <pc:docChgLst>
    <pc:chgData name="KARUL ANDRES RAMIREZ CASTILLO" userId="S::karulramirezac@unimagdalena.edu.co::1136363c-7af4-43a1-8583-9cd5790212c0" providerId="AD" clId="Web-{AAB488B9-21D7-453B-B96F-6D2C879DD955}"/>
    <pc:docChg chg="delSld">
      <pc:chgData name="KARUL ANDRES RAMIREZ CASTILLO" userId="S::karulramirezac@unimagdalena.edu.co::1136363c-7af4-43a1-8583-9cd5790212c0" providerId="AD" clId="Web-{AAB488B9-21D7-453B-B96F-6D2C879DD955}" dt="2020-09-27T01:53:26.514" v="3"/>
      <pc:docMkLst>
        <pc:docMk/>
      </pc:docMkLst>
      <pc:sldChg chg="del">
        <pc:chgData name="KARUL ANDRES RAMIREZ CASTILLO" userId="S::karulramirezac@unimagdalena.edu.co::1136363c-7af4-43a1-8583-9cd5790212c0" providerId="AD" clId="Web-{AAB488B9-21D7-453B-B96F-6D2C879DD955}" dt="2020-09-27T01:53:26.514" v="3"/>
        <pc:sldMkLst>
          <pc:docMk/>
          <pc:sldMk cId="41401922" sldId="270"/>
        </pc:sldMkLst>
      </pc:sldChg>
      <pc:sldChg chg="del">
        <pc:chgData name="KARUL ANDRES RAMIREZ CASTILLO" userId="S::karulramirezac@unimagdalena.edu.co::1136363c-7af4-43a1-8583-9cd5790212c0" providerId="AD" clId="Web-{AAB488B9-21D7-453B-B96F-6D2C879DD955}" dt="2020-09-27T01:53:25.202" v="2"/>
        <pc:sldMkLst>
          <pc:docMk/>
          <pc:sldMk cId="820055589" sldId="271"/>
        </pc:sldMkLst>
      </pc:sldChg>
      <pc:sldChg chg="del">
        <pc:chgData name="KARUL ANDRES RAMIREZ CASTILLO" userId="S::karulramirezac@unimagdalena.edu.co::1136363c-7af4-43a1-8583-9cd5790212c0" providerId="AD" clId="Web-{AAB488B9-21D7-453B-B96F-6D2C879DD955}" dt="2020-09-27T01:53:24.107" v="1"/>
        <pc:sldMkLst>
          <pc:docMk/>
          <pc:sldMk cId="2671265593" sldId="272"/>
        </pc:sldMkLst>
      </pc:sldChg>
      <pc:sldChg chg="del">
        <pc:chgData name="KARUL ANDRES RAMIREZ CASTILLO" userId="S::karulramirezac@unimagdalena.edu.co::1136363c-7af4-43a1-8583-9cd5790212c0" providerId="AD" clId="Web-{AAB488B9-21D7-453B-B96F-6D2C879DD955}" dt="2020-09-27T01:53:22.532" v="0"/>
        <pc:sldMkLst>
          <pc:docMk/>
          <pc:sldMk cId="3699054991" sldId="27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D62BC3-3C88-4661-B3DB-E4FB9C1154B7}" type="datetimeFigureOut">
              <a:rPr lang="es-CO" smtClean="0"/>
              <a:t>7/09/2021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2CB4B9-240B-40E3-BAE5-33238181553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535074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1 Marcador de imagen de diapositiva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43" name="2 Marcador de notas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3F16E00D-7EA0-4311-ABCA-0303B4EF865D}" type="slidenum">
              <a:rPr lang="es-CO">
                <a:latin typeface="Calibri" panose="020F0502020204030204" pitchFamily="34" charset="0"/>
              </a:rPr>
              <a:pPr eaLnBrk="1" hangingPunct="1"/>
              <a:t>8</a:t>
            </a:fld>
            <a:endParaRPr lang="es-CO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26312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1 Marcador de imagen de diapositiva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4691" name="2 Marcador de notas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3F24B03C-DD7F-4E39-8B2C-A6595C155D3A}" type="slidenum">
              <a:rPr lang="es-CO">
                <a:latin typeface="Calibri" panose="020F0502020204030204" pitchFamily="34" charset="0"/>
              </a:rPr>
              <a:pPr eaLnBrk="1" hangingPunct="1"/>
              <a:t>9</a:t>
            </a:fld>
            <a:endParaRPr lang="es-CO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65054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1 Marcador de imagen de diapositiva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3667" name="2 Marcador de notas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49F514F6-A6F5-490C-A26C-95C782823CCD}" type="slidenum">
              <a:rPr lang="es-CO">
                <a:latin typeface="Calibri" panose="020F0502020204030204" pitchFamily="34" charset="0"/>
              </a:rPr>
              <a:pPr eaLnBrk="1" hangingPunct="1"/>
              <a:t>10</a:t>
            </a:fld>
            <a:endParaRPr lang="es-CO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71581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1 Marcador de imagen de diapositiva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883" name="2 Marcador de notas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FB04235E-5FFB-4C8F-B5A2-4319F99E194F}" type="slidenum">
              <a:rPr lang="es-CO">
                <a:latin typeface="Calibri" panose="020F0502020204030204" pitchFamily="34" charset="0"/>
              </a:rPr>
              <a:pPr eaLnBrk="1" hangingPunct="1"/>
              <a:t>11</a:t>
            </a:fld>
            <a:endParaRPr lang="es-CO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16442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1 Marcador de imagen de diapositiva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3907" name="2 Marcador de notas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26EB14B0-1A52-41DE-A549-663C3B19D213}" type="slidenum">
              <a:rPr lang="es-CO">
                <a:latin typeface="Calibri" panose="020F0502020204030204" pitchFamily="34" charset="0"/>
              </a:rPr>
              <a:pPr eaLnBrk="1" hangingPunct="1"/>
              <a:t>12</a:t>
            </a:fld>
            <a:endParaRPr lang="es-CO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47319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1 Marcador de imagen de diapositiva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4931" name="2 Marcador de notas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7BCE7041-582E-4A1B-8D67-2E8A11B249AB}" type="slidenum">
              <a:rPr lang="es-CO">
                <a:latin typeface="Calibri" panose="020F0502020204030204" pitchFamily="34" charset="0"/>
              </a:rPr>
              <a:pPr eaLnBrk="1" hangingPunct="1"/>
              <a:t>13</a:t>
            </a:fld>
            <a:endParaRPr lang="es-CO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65822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1 Marcador de imagen de diapositiva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6979" name="2 Marcador de notas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798F2C5A-D466-404D-AE35-85DF83955043}" type="slidenum">
              <a:rPr lang="es-CO">
                <a:latin typeface="Calibri" panose="020F0502020204030204" pitchFamily="34" charset="0"/>
              </a:rPr>
              <a:pPr eaLnBrk="1" hangingPunct="1"/>
              <a:t>14</a:t>
            </a:fld>
            <a:endParaRPr lang="es-CO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23173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1 Marcador de imagen de diapositiva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8003" name="2 Marcador de notas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E97ED9A3-0E1C-4112-8403-BE89BFE4073D}" type="slidenum">
              <a:rPr lang="es-CO">
                <a:latin typeface="Calibri" panose="020F0502020204030204" pitchFamily="34" charset="0"/>
              </a:rPr>
              <a:pPr eaLnBrk="1" hangingPunct="1"/>
              <a:t>16</a:t>
            </a:fld>
            <a:endParaRPr lang="es-CO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62727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1 Marcador de imagen de diapositiva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9027" name="2 Marcador de notas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2B7C09DA-11A9-4A9E-9235-FE596F5D1B0C}" type="slidenum">
              <a:rPr lang="es-CO">
                <a:latin typeface="Calibri" panose="020F0502020204030204" pitchFamily="34" charset="0"/>
              </a:rPr>
              <a:pPr eaLnBrk="1" hangingPunct="1"/>
              <a:t>17</a:t>
            </a:fld>
            <a:endParaRPr lang="es-CO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61485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48A87A34-81AB-432B-8DAE-1953F412C126}" type="datetimeFigureOut">
              <a:rPr lang="en-US" smtClean="0"/>
              <a:t>9/7/2021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00180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9/7/2021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63844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9/7/2021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43301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9/7/2021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3247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9/7/2021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83191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9/7/2021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9172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9/7/2021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75238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9/7/2021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63588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9/7/2021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69263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9/7/2021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11383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9/7/2021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‹Nº›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65748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9/7/2021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02628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9/7/2021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53434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9/7/2021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64285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9/7/2021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‹Nº›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36229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9/7/2021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916781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9/7/2021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2255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8A87A34-81AB-432B-8DAE-1953F412C126}" type="datetimeFigureOut">
              <a:rPr lang="en-US" smtClean="0"/>
              <a:pPr/>
              <a:t>9/7/2021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6D22F896-40B5-4ADD-8801-0D06FADFA09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83573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87" r:id="rId6"/>
    <p:sldLayoutId id="2147483688" r:id="rId7"/>
    <p:sldLayoutId id="2147483689" r:id="rId8"/>
    <p:sldLayoutId id="2147483690" r:id="rId9"/>
    <p:sldLayoutId id="2147483691" r:id="rId10"/>
    <p:sldLayoutId id="2147483692" r:id="rId11"/>
    <p:sldLayoutId id="2147483693" r:id="rId12"/>
    <p:sldLayoutId id="2147483694" r:id="rId13"/>
    <p:sldLayoutId id="2147483695" r:id="rId14"/>
    <p:sldLayoutId id="2147483696" r:id="rId15"/>
    <p:sldLayoutId id="2147483697" r:id="rId16"/>
    <p:sldLayoutId id="2147483698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909453" y="3891009"/>
            <a:ext cx="8791575" cy="540985"/>
          </a:xfrm>
        </p:spPr>
        <p:txBody>
          <a:bodyPr>
            <a:normAutofit fontScale="90000"/>
          </a:bodyPr>
          <a:lstStyle/>
          <a:p>
            <a:r>
              <a:rPr lang="es-CO" sz="6000" b="1" dirty="0"/>
              <a:t>REDES</a:t>
            </a:r>
            <a:r>
              <a:rPr lang="es-CO" dirty="0"/>
              <a:t/>
            </a:r>
            <a:br>
              <a:rPr lang="es-CO" dirty="0"/>
            </a:br>
            <a:r>
              <a:rPr lang="es-CO" dirty="0"/>
              <a:t>	</a:t>
            </a:r>
          </a:p>
        </p:txBody>
      </p:sp>
      <p:sp>
        <p:nvSpPr>
          <p:cNvPr id="4" name="CuadroTexto 3"/>
          <p:cNvSpPr txBox="1"/>
          <p:nvPr/>
        </p:nvSpPr>
        <p:spPr>
          <a:xfrm>
            <a:off x="5893118" y="5017355"/>
            <a:ext cx="40573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b="1" dirty="0"/>
              <a:t>MSc. Ernesto J. García Puche</a:t>
            </a:r>
          </a:p>
        </p:txBody>
      </p:sp>
    </p:spTree>
    <p:extLst>
      <p:ext uri="{BB962C8B-B14F-4D97-AF65-F5344CB8AC3E}">
        <p14:creationId xmlns:p14="http://schemas.microsoft.com/office/powerpoint/2010/main" val="3476178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73206" y="1719618"/>
            <a:ext cx="1978925" cy="1197735"/>
          </a:xfrm>
        </p:spPr>
        <p:txBody>
          <a:bodyPr>
            <a:normAutofit fontScale="90000"/>
          </a:bodyPr>
          <a:lstStyle/>
          <a:p>
            <a:r>
              <a:rPr lang="es-CO" b="1" dirty="0"/>
              <a:t>TEMAS</a:t>
            </a:r>
            <a:r>
              <a:rPr lang="es-CO" dirty="0"/>
              <a:t/>
            </a:r>
            <a:br>
              <a:rPr lang="es-CO" dirty="0"/>
            </a:br>
            <a:endParaRPr lang="es-CO" dirty="0"/>
          </a:p>
        </p:txBody>
      </p:sp>
      <p:graphicFrame>
        <p:nvGraphicFramePr>
          <p:cNvPr id="6" name="Tabla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850917"/>
              </p:ext>
            </p:extLst>
          </p:nvPr>
        </p:nvGraphicFramePr>
        <p:xfrm>
          <a:off x="2793366" y="96240"/>
          <a:ext cx="8077200" cy="629330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7122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861629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476518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5367828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179705">
                <a:tc row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600" dirty="0">
                          <a:effectLst/>
                        </a:rPr>
                        <a:t>1</a:t>
                      </a:r>
                      <a:endParaRPr lang="es-CO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/>
                </a:tc>
                <a:tc rowSpan="2"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600" b="1" dirty="0">
                          <a:solidFill>
                            <a:srgbClr val="003300"/>
                          </a:solidFill>
                          <a:effectLst/>
                        </a:rPr>
                        <a:t>Comunicación de datos y Redes</a:t>
                      </a:r>
                      <a:endParaRPr lang="es-CO" sz="1600" b="1" dirty="0">
                        <a:solidFill>
                          <a:srgbClr val="0033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600" b="0" dirty="0">
                          <a:solidFill>
                            <a:schemeClr val="tx1"/>
                          </a:solidFill>
                          <a:effectLst/>
                        </a:rPr>
                        <a:t>1.1</a:t>
                      </a:r>
                      <a:endParaRPr lang="es-CO" sz="16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600" b="0" dirty="0">
                          <a:solidFill>
                            <a:schemeClr val="tx1"/>
                          </a:solidFill>
                          <a:effectLst/>
                        </a:rPr>
                        <a:t>Comunicación de Datos</a:t>
                      </a:r>
                      <a:endParaRPr lang="es-CO" sz="16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79705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600" dirty="0">
                          <a:effectLst/>
                        </a:rPr>
                        <a:t>1.2</a:t>
                      </a:r>
                      <a:endParaRPr lang="es-CO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1600" dirty="0">
                          <a:effectLst/>
                        </a:rPr>
                        <a:t>Red</a:t>
                      </a:r>
                      <a:r>
                        <a:rPr lang="es-ES" sz="1600" baseline="0" dirty="0">
                          <a:effectLst/>
                        </a:rPr>
                        <a:t> de datos</a:t>
                      </a:r>
                      <a:r>
                        <a:rPr lang="es-ES" sz="1600" dirty="0">
                          <a:effectLst/>
                        </a:rPr>
                        <a:t> y su Clasificación</a:t>
                      </a:r>
                      <a:endParaRPr lang="es-CO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7970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600" dirty="0">
                          <a:effectLst/>
                        </a:rPr>
                        <a:t>2</a:t>
                      </a:r>
                      <a:endParaRPr lang="es-CO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600" b="1" dirty="0">
                          <a:effectLst/>
                        </a:rPr>
                        <a:t>Arquitectura de las Comunicaciones basada en Capas </a:t>
                      </a:r>
                      <a:endParaRPr lang="es-CO" sz="1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600" dirty="0">
                          <a:effectLst/>
                        </a:rPr>
                        <a:t>2.1</a:t>
                      </a:r>
                      <a:endParaRPr lang="es-CO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600" dirty="0">
                          <a:effectLst/>
                        </a:rPr>
                        <a:t>El modelo de comunicación basado en capas</a:t>
                      </a:r>
                      <a:endParaRPr lang="es-CO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79705">
                <a:tc rowSpan="5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600">
                          <a:effectLst/>
                        </a:rPr>
                        <a:t>3</a:t>
                      </a:r>
                      <a:endParaRPr lang="es-CO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/>
                </a:tc>
                <a:tc rowSpan="5"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600" b="1" dirty="0">
                          <a:effectLst/>
                        </a:rPr>
                        <a:t>El Modelo OSI </a:t>
                      </a:r>
                      <a:endParaRPr lang="es-CO" sz="1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600" dirty="0">
                          <a:effectLst/>
                        </a:rPr>
                        <a:t>3.1</a:t>
                      </a:r>
                      <a:endParaRPr lang="es-CO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600" dirty="0">
                          <a:effectLst/>
                        </a:rPr>
                        <a:t>Origen </a:t>
                      </a:r>
                      <a:endParaRPr lang="es-CO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179705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600" dirty="0">
                          <a:effectLst/>
                        </a:rPr>
                        <a:t>3.2</a:t>
                      </a:r>
                      <a:endParaRPr lang="es-CO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600" dirty="0">
                          <a:effectLst/>
                        </a:rPr>
                        <a:t>Generalidades de OSI</a:t>
                      </a:r>
                      <a:endParaRPr lang="es-CO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179705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600">
                          <a:effectLst/>
                        </a:rPr>
                        <a:t>3.3</a:t>
                      </a:r>
                      <a:endParaRPr lang="es-CO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600" dirty="0">
                          <a:effectLst/>
                        </a:rPr>
                        <a:t>Encapsulamiento de los datos</a:t>
                      </a:r>
                      <a:endParaRPr lang="es-CO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179705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600">
                          <a:effectLst/>
                        </a:rPr>
                        <a:t>3.4</a:t>
                      </a:r>
                      <a:endParaRPr lang="es-CO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600" dirty="0">
                          <a:effectLst/>
                        </a:rPr>
                        <a:t>Por qué fracasó OSI</a:t>
                      </a:r>
                      <a:endParaRPr lang="es-CO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179705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600">
                          <a:effectLst/>
                        </a:rPr>
                        <a:t>3.5</a:t>
                      </a:r>
                      <a:endParaRPr lang="es-CO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600" dirty="0">
                          <a:effectLst/>
                        </a:rPr>
                        <a:t>Por qué se estudia OSI</a:t>
                      </a:r>
                      <a:endParaRPr lang="es-CO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179705">
                <a:tc row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600">
                          <a:effectLst/>
                        </a:rPr>
                        <a:t>4</a:t>
                      </a:r>
                      <a:endParaRPr lang="es-CO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/>
                </a:tc>
                <a:tc rowSpan="2"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600" b="1" dirty="0">
                          <a:effectLst/>
                        </a:rPr>
                        <a:t>Ethernet</a:t>
                      </a:r>
                      <a:endParaRPr lang="es-CO" sz="1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600">
                          <a:effectLst/>
                        </a:rPr>
                        <a:t>4.1</a:t>
                      </a:r>
                      <a:endParaRPr lang="es-CO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600" dirty="0">
                          <a:effectLst/>
                        </a:rPr>
                        <a:t>Qué es Ethernet</a:t>
                      </a:r>
                      <a:endParaRPr lang="es-CO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179705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600" dirty="0">
                          <a:effectLst/>
                        </a:rPr>
                        <a:t>4.2</a:t>
                      </a:r>
                      <a:endParaRPr lang="es-CO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600" dirty="0">
                          <a:effectLst/>
                        </a:rPr>
                        <a:t>Historia de Ethernet</a:t>
                      </a:r>
                      <a:endParaRPr lang="es-CO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17970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s-CO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CO" sz="1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4.3</a:t>
                      </a:r>
                    </a:p>
                  </a:txBody>
                  <a:tcPr marL="68580" marR="68580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Ethernet bajo OSI</a:t>
                      </a:r>
                    </a:p>
                  </a:txBody>
                  <a:tcPr marL="68580" marR="68580" marT="9525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179705">
                <a:tc row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600" dirty="0">
                          <a:effectLst/>
                        </a:rPr>
                        <a:t>5</a:t>
                      </a:r>
                      <a:endParaRPr lang="es-CO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/>
                </a:tc>
                <a:tc rowSpan="5"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600" b="1" dirty="0">
                          <a:effectLst/>
                        </a:rPr>
                        <a:t> TCP/IP</a:t>
                      </a:r>
                      <a:endParaRPr lang="es-CO" sz="1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600">
                          <a:effectLst/>
                        </a:rPr>
                        <a:t>5.1</a:t>
                      </a:r>
                      <a:endParaRPr lang="es-CO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600" dirty="0">
                          <a:effectLst/>
                        </a:rPr>
                        <a:t>Qué es TCP/IP</a:t>
                      </a:r>
                      <a:endParaRPr lang="es-CO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1"/>
                  </a:ext>
                </a:extLst>
              </a:tr>
              <a:tr h="179705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600" dirty="0">
                          <a:effectLst/>
                        </a:rPr>
                        <a:t>5.2</a:t>
                      </a:r>
                    </a:p>
                    <a:p>
                      <a:pPr marL="0" algn="l" defTabSz="4572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x-none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5.3</a:t>
                      </a:r>
                      <a:endParaRPr lang="es-CO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9525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600" dirty="0">
                          <a:effectLst/>
                        </a:rPr>
                        <a:t>Historia de TCP/IP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TCP/IP Como un modelo de 4 capas</a:t>
                      </a:r>
                    </a:p>
                  </a:txBody>
                  <a:tcPr marL="68580" marR="68580" marT="9525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  <a:tr h="17970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s-CO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/>
                </a:tc>
                <a:tc vMerge="1"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s-CO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5.4</a:t>
                      </a:r>
                    </a:p>
                  </a:txBody>
                  <a:tcPr marL="68580" marR="68580" marT="9525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Direccionamiento IP V4</a:t>
                      </a:r>
                    </a:p>
                  </a:txBody>
                  <a:tcPr marL="68580" marR="68580" marT="9525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3"/>
                  </a:ext>
                </a:extLst>
              </a:tr>
              <a:tr h="17970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s-CO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/>
                </a:tc>
                <a:tc vMerge="1"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s-CO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5.5</a:t>
                      </a:r>
                    </a:p>
                  </a:txBody>
                  <a:tcPr marL="68580" marR="68580" marT="9525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Subredes</a:t>
                      </a:r>
                    </a:p>
                  </a:txBody>
                  <a:tcPr marL="68580" marR="68580" marT="9525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4"/>
                  </a:ext>
                </a:extLst>
              </a:tr>
              <a:tr h="17970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s-CO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/>
                </a:tc>
                <a:tc vMerge="1"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s-CO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5.6</a:t>
                      </a:r>
                    </a:p>
                  </a:txBody>
                  <a:tcPr marL="68580" marR="68580" marT="9525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Direccionamiento IP V6</a:t>
                      </a:r>
                    </a:p>
                  </a:txBody>
                  <a:tcPr marL="68580" marR="68580" marT="9525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5"/>
                  </a:ext>
                </a:extLst>
              </a:tr>
              <a:tr h="179705">
                <a:tc row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600" dirty="0">
                          <a:effectLst/>
                        </a:rPr>
                        <a:t>6</a:t>
                      </a:r>
                      <a:endParaRPr lang="es-CO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/>
                </a:tc>
                <a:tc rowSpan="2"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600" b="1" dirty="0">
                          <a:effectLst/>
                        </a:rPr>
                        <a:t>Redes LAN  </a:t>
                      </a:r>
                      <a:endParaRPr lang="es-CO" sz="1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600">
                          <a:effectLst/>
                        </a:rPr>
                        <a:t>6.1</a:t>
                      </a:r>
                      <a:endParaRPr lang="es-CO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600" dirty="0">
                          <a:effectLst/>
                        </a:rPr>
                        <a:t>Domino</a:t>
                      </a:r>
                      <a:r>
                        <a:rPr lang="es-CO" sz="1600" baseline="0" dirty="0">
                          <a:effectLst/>
                        </a:rPr>
                        <a:t> de difusión o </a:t>
                      </a:r>
                      <a:r>
                        <a:rPr lang="es-CO" sz="1600" baseline="0" dirty="0" err="1">
                          <a:effectLst/>
                        </a:rPr>
                        <a:t>broadcast</a:t>
                      </a:r>
                      <a:endParaRPr lang="es-CO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/>
                </a:tc>
                <a:extLst>
                  <a:ext uri="{0D108BD9-81ED-4DB2-BD59-A6C34878D82A}">
                    <a16:rowId xmlns="" xmlns:a16="http://schemas.microsoft.com/office/drawing/2014/main" val="10016"/>
                  </a:ext>
                </a:extLst>
              </a:tr>
              <a:tr h="179705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600">
                          <a:effectLst/>
                        </a:rPr>
                        <a:t>6.2</a:t>
                      </a:r>
                      <a:endParaRPr lang="es-CO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600" dirty="0">
                          <a:effectLst/>
                        </a:rPr>
                        <a:t>VLAN</a:t>
                      </a:r>
                      <a:endParaRPr lang="es-CO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/>
                </a:tc>
                <a:extLst>
                  <a:ext uri="{0D108BD9-81ED-4DB2-BD59-A6C34878D82A}">
                    <a16:rowId xmlns="" xmlns:a16="http://schemas.microsoft.com/office/drawing/2014/main" val="10017"/>
                  </a:ext>
                </a:extLst>
              </a:tr>
              <a:tr h="17970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68580" marR="68580" marT="9525" marB="0" anchor="ctr"/>
                </a:tc>
                <a:tc rowSpan="2">
                  <a:txBody>
                    <a:bodyPr/>
                    <a:lstStyle/>
                    <a:p>
                      <a:pPr marL="0" algn="just" defTabSz="4572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6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Redes WAN</a:t>
                      </a:r>
                    </a:p>
                  </a:txBody>
                  <a:tcPr marL="68580" marR="68580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just" defTabSz="4572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7.1</a:t>
                      </a:r>
                    </a:p>
                  </a:txBody>
                  <a:tcPr marL="68580" marR="68580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just" defTabSz="4572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Definición </a:t>
                      </a:r>
                    </a:p>
                  </a:txBody>
                  <a:tcPr marL="68580" marR="68580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8"/>
                  </a:ext>
                </a:extLst>
              </a:tr>
              <a:tr h="17970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s-CO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/>
                </a:tc>
                <a:tc vMerge="1">
                  <a:txBody>
                    <a:bodyPr/>
                    <a:lstStyle/>
                    <a:p>
                      <a:pPr marL="0" algn="just" defTabSz="4572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s-CO" sz="16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just" defTabSz="4572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7.2</a:t>
                      </a:r>
                    </a:p>
                  </a:txBody>
                  <a:tcPr marL="68580" marR="68580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just" defTabSz="4572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Enrutamiento</a:t>
                      </a:r>
                    </a:p>
                  </a:txBody>
                  <a:tcPr marL="68580" marR="68580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465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es-ES" dirty="0" smtClean="0"/>
              <a:t>BIBLIOGRAFÍA</a:t>
            </a:r>
            <a:endParaRPr lang="es-ES" dirty="0"/>
          </a:p>
        </p:txBody>
      </p:sp>
      <p:graphicFrame>
        <p:nvGraphicFramePr>
          <p:cNvPr id="5" name="Marcador de contenido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83158979"/>
              </p:ext>
            </p:extLst>
          </p:nvPr>
        </p:nvGraphicFramePr>
        <p:xfrm>
          <a:off x="1295400" y="2557463"/>
          <a:ext cx="6787480" cy="176784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787480"/>
              </a:tblGrid>
              <a:tr h="69215">
                <a:tc>
                  <a:txBody>
                    <a:bodyPr/>
                    <a:lstStyle/>
                    <a:p>
                      <a:pPr marL="342900" indent="-342900" algn="just"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s-CO" sz="2400" dirty="0">
                          <a:solidFill>
                            <a:schemeClr val="tx1"/>
                          </a:solidFill>
                          <a:effectLst/>
                        </a:rPr>
                        <a:t>A. Abad. Redes de Área Local. Mc Graw Hill. 2001</a:t>
                      </a:r>
                    </a:p>
                    <a:p>
                      <a:pPr marL="228600" indent="-228600" algn="just">
                        <a:spcAft>
                          <a:spcPts val="0"/>
                        </a:spcAft>
                      </a:pPr>
                      <a:r>
                        <a:rPr lang="es-CO" sz="20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s-CO" sz="24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</a:tr>
              <a:tr h="60325">
                <a:tc>
                  <a:txBody>
                    <a:bodyPr/>
                    <a:lstStyle/>
                    <a:p>
                      <a:pPr marL="365760" indent="-365760" algn="l"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s-CO" sz="2400" dirty="0">
                          <a:solidFill>
                            <a:schemeClr val="tx1"/>
                          </a:solidFill>
                          <a:effectLst/>
                        </a:rPr>
                        <a:t>B. </a:t>
                      </a:r>
                      <a:r>
                        <a:rPr lang="es-CO" sz="2400" dirty="0" err="1">
                          <a:solidFill>
                            <a:schemeClr val="tx1"/>
                          </a:solidFill>
                          <a:effectLst/>
                        </a:rPr>
                        <a:t>Forouzan</a:t>
                      </a:r>
                      <a:r>
                        <a:rPr lang="es-CO" sz="2400" dirty="0">
                          <a:solidFill>
                            <a:schemeClr val="tx1"/>
                          </a:solidFill>
                          <a:effectLst/>
                        </a:rPr>
                        <a:t>. Transmisión de Datos y Redes de Comunicación. </a:t>
                      </a:r>
                      <a:r>
                        <a:rPr lang="es-CO" sz="2400" dirty="0" err="1">
                          <a:solidFill>
                            <a:schemeClr val="tx1"/>
                          </a:solidFill>
                          <a:effectLst/>
                        </a:rPr>
                        <a:t>Mc.Graw</a:t>
                      </a:r>
                      <a:r>
                        <a:rPr lang="es-CO" sz="2400" dirty="0">
                          <a:solidFill>
                            <a:schemeClr val="tx1"/>
                          </a:solidFill>
                          <a:effectLst/>
                        </a:rPr>
                        <a:t>-Hill</a:t>
                      </a:r>
                      <a:endParaRPr lang="es-CO" sz="24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572268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28534" y="0"/>
            <a:ext cx="9905998" cy="1197735"/>
          </a:xfrm>
        </p:spPr>
        <p:txBody>
          <a:bodyPr>
            <a:normAutofit fontScale="90000"/>
          </a:bodyPr>
          <a:lstStyle/>
          <a:p>
            <a:r>
              <a:rPr lang="es-CO" b="1" dirty="0"/>
              <a:t>EVALUACIÓN</a:t>
            </a:r>
            <a:r>
              <a:rPr lang="es-CO" dirty="0"/>
              <a:t/>
            </a:r>
            <a:br>
              <a:rPr lang="es-CO" dirty="0"/>
            </a:br>
            <a:endParaRPr lang="es-CO" dirty="0"/>
          </a:p>
        </p:txBody>
      </p:sp>
      <p:sp>
        <p:nvSpPr>
          <p:cNvPr id="4" name="CuadroTexto 3"/>
          <p:cNvSpPr txBox="1"/>
          <p:nvPr/>
        </p:nvSpPr>
        <p:spPr>
          <a:xfrm>
            <a:off x="2047741" y="3463429"/>
            <a:ext cx="32866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b="1" dirty="0"/>
              <a:t>Tres seguimientos con: </a:t>
            </a:r>
          </a:p>
        </p:txBody>
      </p:sp>
      <p:sp>
        <p:nvSpPr>
          <p:cNvPr id="5" name="CuadroTexto 4"/>
          <p:cNvSpPr txBox="1"/>
          <p:nvPr/>
        </p:nvSpPr>
        <p:spPr>
          <a:xfrm>
            <a:off x="5718220" y="3232597"/>
            <a:ext cx="434670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000" b="1" dirty="0"/>
              <a:t>*Actividades en Síncronas (en clases)</a:t>
            </a:r>
          </a:p>
          <a:p>
            <a:r>
              <a:rPr lang="es-CO" sz="2000" b="1" dirty="0"/>
              <a:t>*Actividades Asíncronas (entre clases)</a:t>
            </a:r>
          </a:p>
          <a:p>
            <a:r>
              <a:rPr lang="es-CO" sz="2000" b="1" dirty="0"/>
              <a:t>* Examen del seguimiento</a:t>
            </a:r>
          </a:p>
        </p:txBody>
      </p:sp>
      <p:sp>
        <p:nvSpPr>
          <p:cNvPr id="7" name="Abrir llave 6"/>
          <p:cNvSpPr/>
          <p:nvPr/>
        </p:nvSpPr>
        <p:spPr>
          <a:xfrm>
            <a:off x="5402687" y="2833352"/>
            <a:ext cx="631065" cy="1517939"/>
          </a:xfrm>
          <a:prstGeom prst="leftBrace">
            <a:avLst>
              <a:gd name="adj1" fmla="val 8333"/>
              <a:gd name="adj2" fmla="val 55091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6715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CO" b="1" dirty="0"/>
              <a:t>1. Comunicación de datos y redes</a:t>
            </a:r>
          </a:p>
        </p:txBody>
      </p:sp>
    </p:spTree>
    <p:extLst>
      <p:ext uri="{BB962C8B-B14F-4D97-AF65-F5344CB8AC3E}">
        <p14:creationId xmlns:p14="http://schemas.microsoft.com/office/powerpoint/2010/main" val="33722159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/>
              <a:t>1. Comunicación de datos y redes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143000" y="2599364"/>
            <a:ext cx="9905999" cy="3694113"/>
          </a:xfrm>
        </p:spPr>
        <p:txBody>
          <a:bodyPr/>
          <a:lstStyle/>
          <a:p>
            <a:pPr marL="0" indent="0">
              <a:buNone/>
            </a:pPr>
            <a:r>
              <a:rPr lang="es-CO" dirty="0"/>
              <a:t>Preguntas Guía:</a:t>
            </a:r>
          </a:p>
          <a:p>
            <a:pPr marL="457200" indent="-457200">
              <a:buAutoNum type="arabicPeriod"/>
            </a:pPr>
            <a:r>
              <a:rPr lang="es-CO" dirty="0"/>
              <a:t>Qué es Comunicación de datos?</a:t>
            </a:r>
          </a:p>
          <a:p>
            <a:pPr marL="457200" indent="-457200">
              <a:buAutoNum type="arabicPeriod"/>
            </a:pPr>
            <a:r>
              <a:rPr lang="es-CO" dirty="0"/>
              <a:t>Qué elementos intervienen en la comunicación de datos?</a:t>
            </a:r>
          </a:p>
          <a:p>
            <a:pPr marL="457200" indent="-457200">
              <a:buAutoNum type="arabicPeriod"/>
            </a:pPr>
            <a:r>
              <a:rPr lang="x-none" dirty="0"/>
              <a:t>Modos de transmisión de datos: Simplex, Half dúplex, Full dúplex</a:t>
            </a:r>
          </a:p>
          <a:p>
            <a:pPr marL="457200" indent="-457200">
              <a:buAutoNum type="arabicPeriod"/>
            </a:pPr>
            <a:endParaRPr lang="es-CO" dirty="0"/>
          </a:p>
          <a:p>
            <a:pPr marL="0" indent="0">
              <a:buNone/>
            </a:pP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330646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CO" b="1" dirty="0"/>
              <a:t>1.1 Comunicación de datos y sus elementos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141412" y="2097088"/>
            <a:ext cx="9905999" cy="3694113"/>
          </a:xfrm>
        </p:spPr>
        <p:txBody>
          <a:bodyPr/>
          <a:lstStyle/>
          <a:p>
            <a:pPr marL="457200" indent="-457200">
              <a:buAutoNum type="arabicPeriod"/>
            </a:pPr>
            <a:endParaRPr lang="es-CO" dirty="0"/>
          </a:p>
          <a:p>
            <a:pPr marL="0" indent="0">
              <a:buNone/>
            </a:pPr>
            <a:endParaRPr lang="es-CO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7640" y="2367762"/>
            <a:ext cx="9473542" cy="2887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5123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Título"/>
          <p:cNvSpPr>
            <a:spLocks noGrp="1"/>
          </p:cNvSpPr>
          <p:nvPr>
            <p:ph type="title"/>
          </p:nvPr>
        </p:nvSpPr>
        <p:spPr>
          <a:xfrm>
            <a:off x="1913988" y="206062"/>
            <a:ext cx="8229600" cy="270456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es-CO" sz="3200" b="1" dirty="0"/>
              <a:t>1.1 Conceptos Básicos</a:t>
            </a:r>
          </a:p>
        </p:txBody>
      </p:sp>
      <p:sp>
        <p:nvSpPr>
          <p:cNvPr id="31746" name="1 Marcador de contenido"/>
          <p:cNvSpPr>
            <a:spLocks noGrp="1"/>
          </p:cNvSpPr>
          <p:nvPr>
            <p:ph idx="1"/>
          </p:nvPr>
        </p:nvSpPr>
        <p:spPr>
          <a:xfrm>
            <a:off x="1667133" y="1143000"/>
            <a:ext cx="8015288" cy="928688"/>
          </a:xfrm>
        </p:spPr>
        <p:txBody>
          <a:bodyPr>
            <a:noAutofit/>
          </a:bodyPr>
          <a:lstStyle/>
          <a:p>
            <a:pPr marL="274320" indent="-274320" algn="just">
              <a:buNone/>
              <a:defRPr/>
            </a:pPr>
            <a:r>
              <a:rPr lang="es-CO" b="1" u="sng" dirty="0"/>
              <a:t>Onda: </a:t>
            </a:r>
          </a:p>
          <a:p>
            <a:pPr marL="0" indent="-274320" algn="just">
              <a:buNone/>
              <a:defRPr/>
            </a:pPr>
            <a:r>
              <a:rPr lang="es-CO" sz="2000" dirty="0"/>
              <a:t>Es la variación de una magnitud física que se propaga por un medio transportando energía.</a:t>
            </a:r>
          </a:p>
          <a:p>
            <a:pPr marL="0" indent="-274320" algn="just">
              <a:buNone/>
              <a:defRPr/>
            </a:pPr>
            <a:endParaRPr lang="es-CO" sz="2000" dirty="0"/>
          </a:p>
          <a:p>
            <a:pPr marL="0" indent="0">
              <a:buNone/>
              <a:defRPr/>
            </a:pPr>
            <a:r>
              <a:rPr lang="es-ES" b="1" u="sng" dirty="0"/>
              <a:t>Tipos de ondas</a:t>
            </a:r>
            <a:endParaRPr lang="es-ES" u="sng" dirty="0"/>
          </a:p>
          <a:p>
            <a:pPr marL="0" indent="-274320">
              <a:buNone/>
              <a:defRPr/>
            </a:pPr>
            <a:r>
              <a:rPr lang="es-ES" sz="2000" dirty="0"/>
              <a:t>Según el medio por el que se propagan, hay dos tipos de onda</a:t>
            </a:r>
          </a:p>
          <a:p>
            <a:pPr marL="0" indent="-274320">
              <a:buNone/>
              <a:defRPr/>
            </a:pPr>
            <a:r>
              <a:rPr lang="es-ES" sz="2000" dirty="0"/>
              <a:t/>
            </a:r>
            <a:br>
              <a:rPr lang="es-ES" sz="2000" dirty="0"/>
            </a:br>
            <a:r>
              <a:rPr lang="es-ES" sz="2000" b="1" dirty="0"/>
              <a:t>-Ondas mecánicas</a:t>
            </a:r>
            <a:r>
              <a:rPr lang="es-ES" sz="2000" dirty="0"/>
              <a:t>, que necesitan de un medio sólido, líquido o gaseoso para propagarse. </a:t>
            </a:r>
            <a:r>
              <a:rPr lang="es-ES" sz="2000" dirty="0" err="1"/>
              <a:t>Ej</a:t>
            </a:r>
            <a:r>
              <a:rPr lang="es-ES" sz="2000" dirty="0"/>
              <a:t>: el sonido, ondas de tensión.</a:t>
            </a:r>
          </a:p>
          <a:p>
            <a:pPr marL="0" indent="-274320">
              <a:buNone/>
              <a:defRPr/>
            </a:pPr>
            <a:endParaRPr lang="es-ES" sz="2000" dirty="0"/>
          </a:p>
          <a:p>
            <a:pPr marL="0" indent="-274320">
              <a:buNone/>
              <a:defRPr/>
            </a:pPr>
            <a:r>
              <a:rPr lang="es-ES" sz="2000" b="1" dirty="0"/>
              <a:t>-Ondas electromagnéticas</a:t>
            </a:r>
            <a:r>
              <a:rPr lang="es-ES" sz="2000" dirty="0"/>
              <a:t>, que pueden propagarse por el espacio o vacío. </a:t>
            </a:r>
            <a:r>
              <a:rPr lang="es-ES" sz="2000" dirty="0" err="1"/>
              <a:t>Ej</a:t>
            </a:r>
            <a:r>
              <a:rPr lang="es-ES" sz="2000" dirty="0"/>
              <a:t>: la luz, el calor, ondas de radio, de TV.</a:t>
            </a:r>
          </a:p>
          <a:p>
            <a:pPr marL="0" indent="-274320" algn="just">
              <a:buNone/>
              <a:defRPr/>
            </a:pPr>
            <a:endParaRPr lang="es-CO" sz="2000" dirty="0"/>
          </a:p>
          <a:p>
            <a:pPr marL="0" indent="-274320" algn="just">
              <a:buNone/>
              <a:defRPr/>
            </a:pPr>
            <a:endParaRPr lang="es-CO" sz="2000" dirty="0"/>
          </a:p>
          <a:p>
            <a:pPr marL="274320" indent="-274320" algn="just">
              <a:buNone/>
              <a:defRPr/>
            </a:pPr>
            <a:endParaRPr lang="es-CO" sz="2000" dirty="0"/>
          </a:p>
        </p:txBody>
      </p:sp>
    </p:spTree>
    <p:extLst>
      <p:ext uri="{BB962C8B-B14F-4D97-AF65-F5344CB8AC3E}">
        <p14:creationId xmlns:p14="http://schemas.microsoft.com/office/powerpoint/2010/main" val="1877226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Título"/>
          <p:cNvSpPr>
            <a:spLocks noGrp="1"/>
          </p:cNvSpPr>
          <p:nvPr>
            <p:ph type="title"/>
          </p:nvPr>
        </p:nvSpPr>
        <p:spPr>
          <a:xfrm>
            <a:off x="1952625" y="151606"/>
            <a:ext cx="8229600" cy="342627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es-CO" sz="3200" b="1" dirty="0"/>
              <a:t>1.1 Conceptos Básicos</a:t>
            </a:r>
          </a:p>
        </p:txBody>
      </p:sp>
      <p:sp>
        <p:nvSpPr>
          <p:cNvPr id="31746" name="1 Marcador de contenido"/>
          <p:cNvSpPr>
            <a:spLocks noGrp="1"/>
          </p:cNvSpPr>
          <p:nvPr>
            <p:ph idx="1"/>
          </p:nvPr>
        </p:nvSpPr>
        <p:spPr>
          <a:xfrm>
            <a:off x="1937244" y="734466"/>
            <a:ext cx="8015288" cy="928688"/>
          </a:xfrm>
        </p:spPr>
        <p:txBody>
          <a:bodyPr>
            <a:noAutofit/>
          </a:bodyPr>
          <a:lstStyle/>
          <a:p>
            <a:pPr marL="274320" indent="-274320" algn="just">
              <a:buNone/>
              <a:defRPr/>
            </a:pPr>
            <a:endParaRPr lang="es-CO" sz="1800" b="1" dirty="0"/>
          </a:p>
          <a:p>
            <a:pPr marL="0" indent="0">
              <a:buNone/>
              <a:defRPr/>
            </a:pPr>
            <a:r>
              <a:rPr lang="es-ES" b="1" u="sng" dirty="0"/>
              <a:t>Tipos de ondas</a:t>
            </a:r>
          </a:p>
          <a:p>
            <a:pPr marL="0" indent="-274320">
              <a:buNone/>
              <a:defRPr/>
            </a:pPr>
            <a:r>
              <a:rPr lang="es-ES" sz="1800" dirty="0"/>
              <a:t>Según la señal</a:t>
            </a:r>
            <a:endParaRPr lang="es-CO" sz="1800" dirty="0"/>
          </a:p>
          <a:p>
            <a:pPr marL="0" indent="-274320" algn="just">
              <a:buNone/>
              <a:defRPr/>
            </a:pPr>
            <a:endParaRPr lang="es-CO" sz="1800" dirty="0"/>
          </a:p>
          <a:p>
            <a:pPr marL="274320" indent="-274320" algn="just">
              <a:buNone/>
              <a:defRPr/>
            </a:pPr>
            <a:endParaRPr lang="es-CO" sz="1800" dirty="0"/>
          </a:p>
        </p:txBody>
      </p:sp>
      <p:pic>
        <p:nvPicPr>
          <p:cNvPr id="20485" name="4 Imagen" descr="digital.bmp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4888" y="3023667"/>
            <a:ext cx="3438525" cy="200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86" name="5 Imagen" descr="Tensi%C3%B3n_sinusoidal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5600" y="3023667"/>
            <a:ext cx="2786062" cy="151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7" name="6 CuadroTexto"/>
          <p:cNvSpPr txBox="1">
            <a:spLocks noChangeArrowheads="1"/>
          </p:cNvSpPr>
          <p:nvPr/>
        </p:nvSpPr>
        <p:spPr bwMode="auto">
          <a:xfrm>
            <a:off x="2952750" y="5416550"/>
            <a:ext cx="10302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s-CO" dirty="0"/>
              <a:t>Análoga</a:t>
            </a:r>
          </a:p>
        </p:txBody>
      </p:sp>
      <p:sp>
        <p:nvSpPr>
          <p:cNvPr id="20488" name="7 CuadroTexto"/>
          <p:cNvSpPr txBox="1">
            <a:spLocks noChangeArrowheads="1"/>
          </p:cNvSpPr>
          <p:nvPr/>
        </p:nvSpPr>
        <p:spPr bwMode="auto">
          <a:xfrm>
            <a:off x="7096125" y="5273675"/>
            <a:ext cx="8255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s-CO" dirty="0"/>
              <a:t>Digital</a:t>
            </a:r>
          </a:p>
        </p:txBody>
      </p:sp>
    </p:spTree>
    <p:extLst>
      <p:ext uri="{BB962C8B-B14F-4D97-AF65-F5344CB8AC3E}">
        <p14:creationId xmlns:p14="http://schemas.microsoft.com/office/powerpoint/2010/main" val="106058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Título"/>
          <p:cNvSpPr>
            <a:spLocks noGrp="1"/>
          </p:cNvSpPr>
          <p:nvPr>
            <p:ph type="title"/>
          </p:nvPr>
        </p:nvSpPr>
        <p:spPr>
          <a:xfrm>
            <a:off x="1952625" y="0"/>
            <a:ext cx="8229600" cy="656823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es-CO" sz="3200" b="1" dirty="0"/>
              <a:t>1.1 Conceptos Básicos</a:t>
            </a:r>
          </a:p>
        </p:txBody>
      </p:sp>
      <p:sp>
        <p:nvSpPr>
          <p:cNvPr id="31746" name="1 Marcador de contenido"/>
          <p:cNvSpPr>
            <a:spLocks noGrp="1"/>
          </p:cNvSpPr>
          <p:nvPr>
            <p:ph idx="1"/>
          </p:nvPr>
        </p:nvSpPr>
        <p:spPr>
          <a:xfrm>
            <a:off x="2495600" y="1138436"/>
            <a:ext cx="3816424" cy="1210444"/>
          </a:xfrm>
        </p:spPr>
        <p:txBody>
          <a:bodyPr>
            <a:normAutofit fontScale="92500"/>
          </a:bodyPr>
          <a:lstStyle/>
          <a:p>
            <a:pPr marL="0" indent="0">
              <a:buNone/>
              <a:defRPr/>
            </a:pPr>
            <a:r>
              <a:rPr lang="es-ES" sz="2600" b="1" u="sng" dirty="0"/>
              <a:t>Representación de la onda</a:t>
            </a:r>
          </a:p>
          <a:p>
            <a:pPr marL="0" indent="-274320">
              <a:buNone/>
              <a:defRPr/>
            </a:pPr>
            <a:r>
              <a:rPr lang="es-ES" sz="1800" dirty="0"/>
              <a:t>Gráficamente las ondas se representan en un eje cartesiano .</a:t>
            </a:r>
          </a:p>
          <a:p>
            <a:pPr marL="0" indent="-274320">
              <a:buNone/>
              <a:defRPr/>
            </a:pPr>
            <a:endParaRPr lang="es-CO" dirty="0"/>
          </a:p>
          <a:p>
            <a:pPr marL="0" indent="-274320" algn="just">
              <a:buNone/>
              <a:defRPr/>
            </a:pPr>
            <a:endParaRPr lang="es-CO" dirty="0"/>
          </a:p>
          <a:p>
            <a:pPr marL="274320" indent="-274320" algn="just">
              <a:buNone/>
              <a:defRPr/>
            </a:pPr>
            <a:endParaRPr lang="es-CO" dirty="0"/>
          </a:p>
        </p:txBody>
      </p:sp>
      <p:pic>
        <p:nvPicPr>
          <p:cNvPr id="19461" name="Picture 2" descr="a05fig09ghj8.jpg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4033" y="801814"/>
            <a:ext cx="4214813" cy="1643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62" name="9 CuadroTexto"/>
          <p:cNvSpPr txBox="1">
            <a:spLocks noChangeArrowheads="1"/>
          </p:cNvSpPr>
          <p:nvPr/>
        </p:nvSpPr>
        <p:spPr bwMode="auto">
          <a:xfrm>
            <a:off x="7167563" y="2714625"/>
            <a:ext cx="3143250" cy="3894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s-ES" sz="1300" b="1" dirty="0"/>
              <a:t>-La longitud de onda (λ)</a:t>
            </a:r>
            <a:r>
              <a:rPr lang="es-ES" sz="1300" dirty="0"/>
              <a:t> es la distancia recorrida por un pulso en un periodo.</a:t>
            </a:r>
          </a:p>
          <a:p>
            <a:pPr eaLnBrk="1" hangingPunct="1"/>
            <a:r>
              <a:rPr lang="es-ES" sz="1300" b="1" dirty="0"/>
              <a:t>-El periodo (T)</a:t>
            </a:r>
            <a:r>
              <a:rPr lang="es-ES" sz="1300" dirty="0"/>
              <a:t> es el tiempo que transcurre entre la repetición de los pulsos.</a:t>
            </a:r>
            <a:br>
              <a:rPr lang="es-ES" sz="1300" dirty="0"/>
            </a:br>
            <a:r>
              <a:rPr lang="es-ES" sz="1300" b="1" dirty="0"/>
              <a:t>-La frecuencia (f)</a:t>
            </a:r>
            <a:r>
              <a:rPr lang="es-ES" sz="1300" dirty="0"/>
              <a:t> es el número de veces que la onda se repite en un segundo, es decir, es el número de pulsos por segundo.</a:t>
            </a:r>
            <a:br>
              <a:rPr lang="es-ES" sz="1300" dirty="0"/>
            </a:br>
            <a:r>
              <a:rPr lang="es-ES" sz="1300" dirty="0"/>
              <a:t>- El producto de la longitud de onda por la frecuencia es igual a la velocidad de </a:t>
            </a:r>
            <a:r>
              <a:rPr lang="es-ES" sz="1300" b="1" dirty="0"/>
              <a:t>propagación de la onda (v)</a:t>
            </a:r>
            <a:r>
              <a:rPr lang="es-ES" sz="1300" dirty="0"/>
              <a:t/>
            </a:r>
            <a:br>
              <a:rPr lang="es-ES" sz="1300" dirty="0"/>
            </a:br>
            <a:r>
              <a:rPr lang="es-ES" sz="1300" dirty="0"/>
              <a:t>v = λ • f</a:t>
            </a:r>
            <a:br>
              <a:rPr lang="es-ES" sz="1300" dirty="0"/>
            </a:br>
            <a:r>
              <a:rPr lang="es-ES" sz="1300" dirty="0"/>
              <a:t>La energía que transporta una onda depende de su frecuencia: cuanto mayor sea la frecuencia de una onda tanto mayor será la energía que transporta</a:t>
            </a:r>
          </a:p>
        </p:txBody>
      </p:sp>
      <p:pic>
        <p:nvPicPr>
          <p:cNvPr id="19463" name="Picture 8" descr="Elementos de una onda"/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4063" y="3429001"/>
            <a:ext cx="5143500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CuadroTexto 4"/>
          <p:cNvSpPr txBox="1"/>
          <p:nvPr/>
        </p:nvSpPr>
        <p:spPr>
          <a:xfrm>
            <a:off x="5088835" y="4583113"/>
            <a:ext cx="192873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smtClean="0"/>
              <a:t>T=3 </a:t>
            </a:r>
            <a:r>
              <a:rPr lang="es-ES" dirty="0" err="1" smtClean="0"/>
              <a:t>seg</a:t>
            </a:r>
            <a:endParaRPr lang="es-ES" dirty="0" smtClean="0"/>
          </a:p>
          <a:p>
            <a:r>
              <a:rPr lang="es-ES" dirty="0" smtClean="0"/>
              <a:t>F=1CICLO/3SEG</a:t>
            </a:r>
          </a:p>
          <a:p>
            <a:r>
              <a:rPr lang="es-ES" dirty="0" smtClean="0"/>
              <a:t>F=0,3333Hz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4061407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1 Marcador de contenido"/>
          <p:cNvSpPr>
            <a:spLocks noGrp="1"/>
          </p:cNvSpPr>
          <p:nvPr>
            <p:ph idx="1"/>
          </p:nvPr>
        </p:nvSpPr>
        <p:spPr>
          <a:xfrm>
            <a:off x="1581956" y="907960"/>
            <a:ext cx="8229600" cy="928687"/>
          </a:xfrm>
        </p:spPr>
        <p:txBody>
          <a:bodyPr>
            <a:noAutofit/>
          </a:bodyPr>
          <a:lstStyle/>
          <a:p>
            <a:pPr marL="274320" indent="-274320" algn="just">
              <a:buNone/>
              <a:defRPr/>
            </a:pPr>
            <a:r>
              <a:rPr lang="es-CO" b="1" u="sng" dirty="0"/>
              <a:t>Tipos de Transmisión:</a:t>
            </a:r>
          </a:p>
          <a:p>
            <a:pPr marL="274320" indent="-274320" algn="just">
              <a:buNone/>
              <a:defRPr/>
            </a:pPr>
            <a:endParaRPr lang="es-CO" dirty="0"/>
          </a:p>
          <a:p>
            <a:pPr marL="274320" indent="-274320" algn="just">
              <a:buFont typeface="Arial" charset="0"/>
              <a:buChar char="•"/>
              <a:defRPr/>
            </a:pPr>
            <a:r>
              <a:rPr lang="es-CO" dirty="0"/>
              <a:t>Atendiendo la transmisión:</a:t>
            </a:r>
          </a:p>
          <a:p>
            <a:pPr lvl="2" indent="-182880" algn="just">
              <a:buClr>
                <a:schemeClr val="accent1">
                  <a:shade val="75000"/>
                </a:schemeClr>
              </a:buClr>
              <a:buFont typeface="Arial" charset="0"/>
              <a:buChar char="•"/>
              <a:defRPr/>
            </a:pPr>
            <a:r>
              <a:rPr lang="es-CO" sz="2000" dirty="0"/>
              <a:t>Asíncrona</a:t>
            </a:r>
          </a:p>
          <a:p>
            <a:pPr lvl="2" indent="-182880" algn="just">
              <a:buClr>
                <a:schemeClr val="accent1">
                  <a:shade val="75000"/>
                </a:schemeClr>
              </a:buClr>
              <a:buFont typeface="Arial" charset="0"/>
              <a:buChar char="•"/>
              <a:defRPr/>
            </a:pPr>
            <a:r>
              <a:rPr lang="es-CO" sz="2000" dirty="0"/>
              <a:t>Síncrona</a:t>
            </a:r>
          </a:p>
          <a:p>
            <a:pPr marL="274320" indent="-274320" algn="just">
              <a:buFont typeface="Arial" charset="0"/>
              <a:buChar char="•"/>
              <a:defRPr/>
            </a:pPr>
            <a:r>
              <a:rPr lang="es-CO" dirty="0"/>
              <a:t>Atendiendo el Medio de transmisión:</a:t>
            </a:r>
          </a:p>
          <a:p>
            <a:pPr lvl="2" indent="-182880" algn="just">
              <a:buClr>
                <a:schemeClr val="accent1">
                  <a:shade val="75000"/>
                </a:schemeClr>
              </a:buClr>
              <a:buFont typeface="Arial" charset="0"/>
              <a:buChar char="•"/>
              <a:defRPr/>
            </a:pPr>
            <a:r>
              <a:rPr lang="es-CO" sz="2000" dirty="0"/>
              <a:t>En Serie</a:t>
            </a:r>
          </a:p>
          <a:p>
            <a:pPr lvl="2" indent="-182880" algn="just">
              <a:buClr>
                <a:schemeClr val="accent1">
                  <a:shade val="75000"/>
                </a:schemeClr>
              </a:buClr>
              <a:buFont typeface="Arial" charset="0"/>
              <a:buChar char="•"/>
              <a:defRPr/>
            </a:pPr>
            <a:r>
              <a:rPr lang="es-CO" sz="2000" dirty="0"/>
              <a:t>En Paralelo</a:t>
            </a:r>
          </a:p>
          <a:p>
            <a:pPr marL="274320" indent="-274320" algn="just">
              <a:buFont typeface="Arial" charset="0"/>
              <a:buChar char="•"/>
              <a:defRPr/>
            </a:pPr>
            <a:r>
              <a:rPr lang="es-CO" dirty="0"/>
              <a:t>Atendiendo la Señal Transmitida:</a:t>
            </a:r>
          </a:p>
          <a:p>
            <a:pPr lvl="2" indent="-182880" algn="just">
              <a:buClr>
                <a:schemeClr val="accent1">
                  <a:shade val="75000"/>
                </a:schemeClr>
              </a:buClr>
              <a:buFont typeface="Arial" charset="0"/>
              <a:buChar char="•"/>
              <a:defRPr/>
            </a:pPr>
            <a:r>
              <a:rPr lang="es-CO" sz="2000" dirty="0"/>
              <a:t>Análoga</a:t>
            </a:r>
          </a:p>
          <a:p>
            <a:pPr lvl="2" indent="-182880" algn="just">
              <a:buClr>
                <a:schemeClr val="accent1">
                  <a:shade val="75000"/>
                </a:schemeClr>
              </a:buClr>
              <a:buFont typeface="Arial" charset="0"/>
              <a:buChar char="•"/>
              <a:defRPr/>
            </a:pPr>
            <a:r>
              <a:rPr lang="es-CO" sz="2000" dirty="0"/>
              <a:t>Digital</a:t>
            </a:r>
          </a:p>
          <a:p>
            <a:pPr marL="274320" indent="-274320" algn="just">
              <a:buNone/>
              <a:defRPr/>
            </a:pPr>
            <a:endParaRPr lang="es-CO" dirty="0"/>
          </a:p>
          <a:p>
            <a:pPr marL="274320" indent="-274320" algn="just">
              <a:buNone/>
              <a:defRPr/>
            </a:pPr>
            <a:endParaRPr lang="es-CO" dirty="0"/>
          </a:p>
          <a:p>
            <a:pPr marL="274320" indent="-274320" algn="just">
              <a:buNone/>
              <a:defRPr/>
            </a:pPr>
            <a:endParaRPr lang="es-CO" dirty="0"/>
          </a:p>
          <a:p>
            <a:pPr marL="274320" indent="-274320" algn="just">
              <a:buNone/>
              <a:defRPr/>
            </a:pPr>
            <a:endParaRPr lang="es-CO" dirty="0"/>
          </a:p>
          <a:p>
            <a:pPr marL="274320" indent="-274320" algn="just">
              <a:buNone/>
              <a:defRPr/>
            </a:pPr>
            <a:endParaRPr lang="es-CO" dirty="0"/>
          </a:p>
          <a:p>
            <a:pPr marL="274320" indent="-274320" algn="just">
              <a:buNone/>
              <a:defRPr/>
            </a:pPr>
            <a:endParaRPr lang="es-CO" dirty="0"/>
          </a:p>
          <a:p>
            <a:pPr marL="274320" indent="-274320" algn="just">
              <a:buNone/>
              <a:defRPr/>
            </a:pPr>
            <a:endParaRPr lang="es-CO" dirty="0"/>
          </a:p>
        </p:txBody>
      </p:sp>
      <p:sp>
        <p:nvSpPr>
          <p:cNvPr id="6" name="2 Título"/>
          <p:cNvSpPr>
            <a:spLocks noGrp="1"/>
          </p:cNvSpPr>
          <p:nvPr>
            <p:ph type="title"/>
          </p:nvPr>
        </p:nvSpPr>
        <p:spPr>
          <a:xfrm>
            <a:off x="1913988" y="206062"/>
            <a:ext cx="8229600" cy="270456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es-CO" sz="3200" b="1" dirty="0"/>
              <a:t>1.1 Conceptos Básicos</a:t>
            </a:r>
          </a:p>
        </p:txBody>
      </p:sp>
    </p:spTree>
    <p:extLst>
      <p:ext uri="{BB962C8B-B14F-4D97-AF65-F5344CB8AC3E}">
        <p14:creationId xmlns:p14="http://schemas.microsoft.com/office/powerpoint/2010/main" val="27130225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1 Marcador de contenido"/>
          <p:cNvSpPr>
            <a:spLocks noGrp="1"/>
          </p:cNvSpPr>
          <p:nvPr>
            <p:ph idx="1"/>
          </p:nvPr>
        </p:nvSpPr>
        <p:spPr>
          <a:xfrm>
            <a:off x="2020094" y="1634065"/>
            <a:ext cx="8229600" cy="928687"/>
          </a:xfrm>
        </p:spPr>
        <p:txBody>
          <a:bodyPr/>
          <a:lstStyle/>
          <a:p>
            <a:pPr algn="just" eaLnBrk="1" hangingPunct="1">
              <a:buFont typeface="Wingdings 3" panose="05040102010807070707" pitchFamily="18" charset="2"/>
              <a:buNone/>
            </a:pPr>
            <a:r>
              <a:rPr lang="es-CO" b="1" u="sng" dirty="0"/>
              <a:t>Tipos de Transmisión en serie</a:t>
            </a:r>
          </a:p>
          <a:p>
            <a:pPr algn="just" eaLnBrk="1" hangingPunct="1">
              <a:buFont typeface="Wingdings 3" panose="05040102010807070707" pitchFamily="18" charset="2"/>
              <a:buNone/>
            </a:pPr>
            <a:endParaRPr lang="es-CO" dirty="0"/>
          </a:p>
          <a:p>
            <a:pPr algn="just" eaLnBrk="1" hangingPunct="1">
              <a:buFont typeface="Wingdings 3" panose="05040102010807070707" pitchFamily="18" charset="2"/>
              <a:buNone/>
            </a:pPr>
            <a:endParaRPr lang="es-CO" dirty="0"/>
          </a:p>
          <a:p>
            <a:pPr algn="just" eaLnBrk="1" hangingPunct="1">
              <a:buFont typeface="Wingdings 3" panose="05040102010807070707" pitchFamily="18" charset="2"/>
              <a:buNone/>
            </a:pPr>
            <a:endParaRPr lang="es-CO" dirty="0"/>
          </a:p>
          <a:p>
            <a:pPr algn="just" eaLnBrk="1" hangingPunct="1">
              <a:buFont typeface="Wingdings 3" panose="05040102010807070707" pitchFamily="18" charset="2"/>
              <a:buNone/>
            </a:pPr>
            <a:endParaRPr lang="es-CO" dirty="0"/>
          </a:p>
          <a:p>
            <a:pPr algn="just" eaLnBrk="1" hangingPunct="1">
              <a:buFont typeface="Wingdings 3" panose="05040102010807070707" pitchFamily="18" charset="2"/>
              <a:buNone/>
            </a:pPr>
            <a:endParaRPr lang="es-CO" dirty="0"/>
          </a:p>
          <a:p>
            <a:pPr algn="just" eaLnBrk="1" hangingPunct="1">
              <a:buFont typeface="Wingdings 3" panose="05040102010807070707" pitchFamily="18" charset="2"/>
              <a:buNone/>
            </a:pPr>
            <a:endParaRPr lang="es-CO" dirty="0"/>
          </a:p>
          <a:p>
            <a:pPr algn="just" eaLnBrk="1" hangingPunct="1">
              <a:buFont typeface="Wingdings 3" panose="05040102010807070707" pitchFamily="18" charset="2"/>
              <a:buNone/>
            </a:pPr>
            <a:endParaRPr lang="es-CO" dirty="0"/>
          </a:p>
        </p:txBody>
      </p:sp>
      <p:pic>
        <p:nvPicPr>
          <p:cNvPr id="29701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7125" y="2143125"/>
            <a:ext cx="4935538" cy="4033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2 Título"/>
          <p:cNvSpPr>
            <a:spLocks noGrp="1"/>
          </p:cNvSpPr>
          <p:nvPr>
            <p:ph type="title"/>
          </p:nvPr>
        </p:nvSpPr>
        <p:spPr>
          <a:xfrm>
            <a:off x="1913988" y="206062"/>
            <a:ext cx="8229600" cy="270456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es-CO" sz="3200" b="1" dirty="0"/>
              <a:t>1.1 Conceptos Básicos</a:t>
            </a:r>
          </a:p>
        </p:txBody>
      </p:sp>
    </p:spTree>
    <p:extLst>
      <p:ext uri="{BB962C8B-B14F-4D97-AF65-F5344CB8AC3E}">
        <p14:creationId xmlns:p14="http://schemas.microsoft.com/office/powerpoint/2010/main" val="1080146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Título"/>
          <p:cNvSpPr>
            <a:spLocks noGrp="1"/>
          </p:cNvSpPr>
          <p:nvPr>
            <p:ph type="title"/>
          </p:nvPr>
        </p:nvSpPr>
        <p:spPr>
          <a:xfrm>
            <a:off x="1223578" y="625079"/>
            <a:ext cx="9601196" cy="1303867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s-CO" b="1" dirty="0"/>
              <a:t>1.2. RED DE </a:t>
            </a:r>
            <a:r>
              <a:rPr lang="es-CO" b="1" dirty="0" smtClean="0"/>
              <a:t>DATOS Y SU CLASIFICACIÓN</a:t>
            </a:r>
            <a:endParaRPr lang="es-CO" b="1" dirty="0"/>
          </a:p>
        </p:txBody>
      </p:sp>
      <p:sp>
        <p:nvSpPr>
          <p:cNvPr id="24578" name="1 Marcador de contenido"/>
          <p:cNvSpPr>
            <a:spLocks noGrp="1"/>
          </p:cNvSpPr>
          <p:nvPr>
            <p:ph idx="1"/>
          </p:nvPr>
        </p:nvSpPr>
        <p:spPr>
          <a:xfrm>
            <a:off x="2102559" y="1921176"/>
            <a:ext cx="8229600" cy="632668"/>
          </a:xfrm>
        </p:spPr>
        <p:txBody>
          <a:bodyPr>
            <a:noAutofit/>
          </a:bodyPr>
          <a:lstStyle/>
          <a:p>
            <a:pPr marL="274320" indent="-274320" algn="just">
              <a:buNone/>
              <a:defRPr/>
            </a:pPr>
            <a:endParaRPr lang="es-CO" sz="2000" dirty="0"/>
          </a:p>
          <a:p>
            <a:pPr marL="0" indent="-274320" algn="just">
              <a:buNone/>
              <a:defRPr/>
            </a:pPr>
            <a:r>
              <a:rPr lang="es-CO" dirty="0" smtClean="0"/>
              <a:t>Una Red son dos </a:t>
            </a:r>
            <a:r>
              <a:rPr lang="es-CO" dirty="0"/>
              <a:t>o más </a:t>
            </a:r>
            <a:r>
              <a:rPr lang="es-CO" dirty="0" smtClean="0"/>
              <a:t>dispositivos </a:t>
            </a:r>
            <a:r>
              <a:rPr lang="es-CO" dirty="0"/>
              <a:t>interconectados a través de un medio de </a:t>
            </a:r>
            <a:r>
              <a:rPr lang="es-CO" dirty="0" smtClean="0"/>
              <a:t>transmisión</a:t>
            </a:r>
            <a:r>
              <a:rPr lang="es-CO" sz="2000" dirty="0"/>
              <a:t> </a:t>
            </a:r>
            <a:r>
              <a:rPr lang="es-CO" sz="2000" dirty="0" smtClean="0"/>
              <a:t>con la finalidad de:</a:t>
            </a:r>
            <a:endParaRPr lang="es-CO" sz="2000" dirty="0"/>
          </a:p>
          <a:p>
            <a:pPr marL="274320" indent="-274320" algn="just">
              <a:buNone/>
              <a:defRPr/>
            </a:pPr>
            <a:endParaRPr lang="es-CO" sz="2000" dirty="0"/>
          </a:p>
          <a:p>
            <a:pPr marL="274320" indent="-274320" algn="just">
              <a:buNone/>
              <a:defRPr/>
            </a:pPr>
            <a:endParaRPr lang="es-CO" sz="2000" dirty="0"/>
          </a:p>
          <a:p>
            <a:pPr marL="274320" indent="-274320" algn="just">
              <a:buNone/>
              <a:defRPr/>
            </a:pPr>
            <a:endParaRPr lang="es-CO" sz="2000" dirty="0"/>
          </a:p>
          <a:p>
            <a:pPr marL="274320" indent="-274320" algn="just">
              <a:buNone/>
              <a:defRPr/>
            </a:pPr>
            <a:endParaRPr lang="es-CO" sz="2000" dirty="0"/>
          </a:p>
          <a:p>
            <a:pPr marL="274320" indent="-274320" algn="just">
              <a:buNone/>
              <a:defRPr/>
            </a:pPr>
            <a:endParaRPr lang="es-CO" sz="2000" dirty="0"/>
          </a:p>
          <a:p>
            <a:pPr marL="274320" indent="-274320" algn="just">
              <a:buNone/>
              <a:defRPr/>
            </a:pPr>
            <a:endParaRPr lang="es-CO" sz="2000" dirty="0"/>
          </a:p>
        </p:txBody>
      </p:sp>
      <p:sp>
        <p:nvSpPr>
          <p:cNvPr id="30725" name="Picture 5" descr="http://www.crownaudio.com/iq_htm/images/10baset.gif"/>
          <p:cNvSpPr>
            <a:spLocks noChangeAspect="1" noChangeArrowheads="1"/>
          </p:cNvSpPr>
          <p:nvPr/>
        </p:nvSpPr>
        <p:spPr bwMode="auto">
          <a:xfrm>
            <a:off x="1985576" y="3632244"/>
            <a:ext cx="4038600" cy="281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ES"/>
          </a:p>
        </p:txBody>
      </p:sp>
      <p:sp>
        <p:nvSpPr>
          <p:cNvPr id="9" name="8 CuadroTexto"/>
          <p:cNvSpPr txBox="1"/>
          <p:nvPr/>
        </p:nvSpPr>
        <p:spPr>
          <a:xfrm>
            <a:off x="6737278" y="2834278"/>
            <a:ext cx="3786215" cy="2031325"/>
          </a:xfrm>
          <a:prstGeom prst="rect">
            <a:avLst/>
          </a:prstGeom>
          <a:noFill/>
          <a:ln>
            <a:gradFill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</a:ln>
        </p:spPr>
        <p:txBody>
          <a:bodyPr>
            <a:spAutoFit/>
          </a:bodyPr>
          <a:lstStyle/>
          <a:p>
            <a:pPr marL="342900" indent="-342900">
              <a:buFont typeface="+mj-lt"/>
              <a:buAutoNum type="arabicPeriod"/>
              <a:defRPr/>
            </a:pPr>
            <a:r>
              <a:rPr lang="es-CO" dirty="0" smtClean="0">
                <a:latin typeface="Arial" charset="0"/>
                <a:cs typeface="Arial" charset="0"/>
              </a:rPr>
              <a:t>Compartir </a:t>
            </a:r>
            <a:r>
              <a:rPr lang="es-CO" dirty="0">
                <a:latin typeface="Arial" charset="0"/>
                <a:cs typeface="Arial" charset="0"/>
              </a:rPr>
              <a:t>recursos: Archivos, impresión, comunicaciones, aplicaciones, etc.</a:t>
            </a:r>
          </a:p>
          <a:p>
            <a:pPr marL="342900" indent="-342900">
              <a:buFontTx/>
              <a:buAutoNum type="arabicPeriod"/>
              <a:defRPr/>
            </a:pPr>
            <a:r>
              <a:rPr lang="es-CO" dirty="0">
                <a:latin typeface="Arial" charset="0"/>
                <a:cs typeface="Arial" charset="0"/>
              </a:rPr>
              <a:t>Economía: PCs Vs. Mainframe</a:t>
            </a:r>
          </a:p>
          <a:p>
            <a:pPr marL="342900" indent="-342900">
              <a:buFontTx/>
              <a:buAutoNum type="arabicPeriod"/>
              <a:defRPr/>
            </a:pPr>
            <a:r>
              <a:rPr lang="es-CO" dirty="0">
                <a:latin typeface="Arial" charset="0"/>
                <a:cs typeface="Arial" charset="0"/>
              </a:rPr>
              <a:t>Escalabilidad: Capacidad de aumentar el rendimiento del sistema</a:t>
            </a:r>
          </a:p>
        </p:txBody>
      </p:sp>
      <p:pic>
        <p:nvPicPr>
          <p:cNvPr id="30729" name="Picture 5" descr="http://www.crownaudio.com/iq_htm/images/10baset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6188" y="3225043"/>
            <a:ext cx="4038600" cy="281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98247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s-CO" b="1" dirty="0"/>
              <a:t>Clasificación de las redes</a:t>
            </a:r>
          </a:p>
        </p:txBody>
      </p:sp>
      <p:sp>
        <p:nvSpPr>
          <p:cNvPr id="32771" name="1 Marcador de contenido"/>
          <p:cNvSpPr>
            <a:spLocks noGrp="1"/>
          </p:cNvSpPr>
          <p:nvPr>
            <p:ph idx="1"/>
          </p:nvPr>
        </p:nvSpPr>
        <p:spPr>
          <a:xfrm>
            <a:off x="2095500" y="1500189"/>
            <a:ext cx="8229600" cy="928687"/>
          </a:xfrm>
        </p:spPr>
        <p:txBody>
          <a:bodyPr/>
          <a:lstStyle/>
          <a:p>
            <a:pPr algn="just" eaLnBrk="1" hangingPunct="1">
              <a:buFont typeface="Wingdings 3" panose="05040102010807070707" pitchFamily="18" charset="2"/>
              <a:buNone/>
            </a:pPr>
            <a:endParaRPr lang="es-CO" sz="3200" dirty="0"/>
          </a:p>
          <a:p>
            <a:pPr algn="just" eaLnBrk="1" hangingPunct="1">
              <a:buFont typeface="Wingdings 3" panose="05040102010807070707" pitchFamily="18" charset="2"/>
              <a:buNone/>
            </a:pPr>
            <a:endParaRPr lang="es-CO" sz="3200" dirty="0"/>
          </a:p>
          <a:p>
            <a:pPr algn="just" eaLnBrk="1" hangingPunct="1">
              <a:buFont typeface="Wingdings 3" panose="05040102010807070707" pitchFamily="18" charset="2"/>
              <a:buNone/>
            </a:pPr>
            <a:endParaRPr lang="es-CO" sz="3200" dirty="0"/>
          </a:p>
          <a:p>
            <a:pPr algn="just" eaLnBrk="1" hangingPunct="1">
              <a:buFont typeface="Wingdings 3" panose="05040102010807070707" pitchFamily="18" charset="2"/>
              <a:buNone/>
            </a:pPr>
            <a:endParaRPr lang="es-CO" sz="3200" dirty="0"/>
          </a:p>
          <a:p>
            <a:pPr algn="just" eaLnBrk="1" hangingPunct="1">
              <a:buFont typeface="Wingdings 3" panose="05040102010807070707" pitchFamily="18" charset="2"/>
              <a:buNone/>
            </a:pPr>
            <a:endParaRPr lang="es-CO" sz="3200" dirty="0"/>
          </a:p>
          <a:p>
            <a:pPr algn="just" eaLnBrk="1" hangingPunct="1">
              <a:buFont typeface="Wingdings 3" panose="05040102010807070707" pitchFamily="18" charset="2"/>
              <a:buNone/>
            </a:pPr>
            <a:endParaRPr lang="es-CO" sz="3200" dirty="0"/>
          </a:p>
          <a:p>
            <a:pPr algn="just" eaLnBrk="1" hangingPunct="1">
              <a:buFont typeface="Wingdings 3" panose="05040102010807070707" pitchFamily="18" charset="2"/>
              <a:buNone/>
            </a:pPr>
            <a:endParaRPr lang="es-CO" sz="3200" dirty="0"/>
          </a:p>
          <a:p>
            <a:pPr algn="just" eaLnBrk="1" hangingPunct="1">
              <a:buFont typeface="Wingdings 3" panose="05040102010807070707" pitchFamily="18" charset="2"/>
              <a:buNone/>
            </a:pPr>
            <a:endParaRPr lang="es-CO" sz="3200" dirty="0"/>
          </a:p>
          <a:p>
            <a:pPr algn="just" eaLnBrk="1" hangingPunct="1">
              <a:buFont typeface="Wingdings 3" panose="05040102010807070707" pitchFamily="18" charset="2"/>
              <a:buNone/>
            </a:pPr>
            <a:endParaRPr lang="es-CO" sz="3200" dirty="0"/>
          </a:p>
          <a:p>
            <a:pPr algn="just" eaLnBrk="1" hangingPunct="1">
              <a:buFont typeface="Wingdings 3" panose="05040102010807070707" pitchFamily="18" charset="2"/>
              <a:buNone/>
            </a:pPr>
            <a:endParaRPr lang="es-CO" sz="3200" dirty="0"/>
          </a:p>
        </p:txBody>
      </p:sp>
      <p:sp>
        <p:nvSpPr>
          <p:cNvPr id="7" name="1 Marcador de contenido"/>
          <p:cNvSpPr txBox="1">
            <a:spLocks/>
          </p:cNvSpPr>
          <p:nvPr/>
        </p:nvSpPr>
        <p:spPr bwMode="auto">
          <a:xfrm>
            <a:off x="2381249" y="1964532"/>
            <a:ext cx="8229600" cy="928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65125" indent="-255588" algn="just">
              <a:spcBef>
                <a:spcPts val="400"/>
              </a:spcBef>
              <a:buClr>
                <a:schemeClr val="accent1"/>
              </a:buClr>
              <a:buSzPct val="68000"/>
              <a:defRPr/>
            </a:pPr>
            <a:endParaRPr lang="es-CO" sz="2700" dirty="0"/>
          </a:p>
          <a:p>
            <a:pPr marL="365125" indent="-255588" algn="just">
              <a:spcBef>
                <a:spcPts val="400"/>
              </a:spcBef>
              <a:buClr>
                <a:schemeClr val="accent1"/>
              </a:buClr>
              <a:buSzPct val="68000"/>
              <a:defRPr/>
            </a:pPr>
            <a:r>
              <a:rPr lang="es-CO" sz="2700" dirty="0"/>
              <a:t>1. Según tecnología de transmisión:</a:t>
            </a:r>
          </a:p>
          <a:p>
            <a:pPr marL="822325" lvl="1" indent="-255588" algn="just">
              <a:spcBef>
                <a:spcPts val="400"/>
              </a:spcBef>
              <a:buClr>
                <a:schemeClr val="accent1"/>
              </a:buClr>
              <a:buSzPct val="68000"/>
              <a:buFont typeface="Arial" pitchFamily="34" charset="0"/>
              <a:buChar char="•"/>
              <a:defRPr/>
            </a:pPr>
            <a:r>
              <a:rPr lang="es-CO" sz="2700" dirty="0"/>
              <a:t>Redes de difusión o broadcast</a:t>
            </a:r>
          </a:p>
          <a:p>
            <a:pPr marL="822325" lvl="1" indent="-255588" algn="just">
              <a:spcBef>
                <a:spcPts val="400"/>
              </a:spcBef>
              <a:buClr>
                <a:schemeClr val="accent1"/>
              </a:buClr>
              <a:buSzPct val="68000"/>
              <a:buFont typeface="Arial" pitchFamily="34" charset="0"/>
              <a:buChar char="•"/>
              <a:defRPr/>
            </a:pPr>
            <a:r>
              <a:rPr lang="es-CO" sz="2700" dirty="0"/>
              <a:t>Punto a punto.</a:t>
            </a:r>
          </a:p>
          <a:p>
            <a:pPr marL="365125" indent="-255588" algn="just">
              <a:spcBef>
                <a:spcPts val="400"/>
              </a:spcBef>
              <a:buClr>
                <a:schemeClr val="accent1"/>
              </a:buClr>
              <a:buSzPct val="68000"/>
              <a:defRPr/>
            </a:pPr>
            <a:r>
              <a:rPr lang="es-CO" sz="2700" dirty="0"/>
              <a:t>2. Según tamaño</a:t>
            </a:r>
          </a:p>
          <a:p>
            <a:pPr marL="822325" lvl="1" indent="-255588" algn="just">
              <a:spcBef>
                <a:spcPts val="400"/>
              </a:spcBef>
              <a:buClr>
                <a:schemeClr val="accent1"/>
              </a:buClr>
              <a:buSzPct val="68000"/>
              <a:buFont typeface="Arial" pitchFamily="34" charset="0"/>
              <a:buChar char="•"/>
              <a:defRPr/>
            </a:pPr>
            <a:r>
              <a:rPr lang="es-CO" sz="2700" dirty="0"/>
              <a:t>PAN</a:t>
            </a:r>
          </a:p>
          <a:p>
            <a:pPr marL="822325" lvl="1" indent="-255588" algn="just">
              <a:spcBef>
                <a:spcPts val="400"/>
              </a:spcBef>
              <a:buClr>
                <a:schemeClr val="accent1"/>
              </a:buClr>
              <a:buSzPct val="68000"/>
              <a:buFont typeface="Arial" pitchFamily="34" charset="0"/>
              <a:buChar char="•"/>
              <a:defRPr/>
            </a:pPr>
            <a:r>
              <a:rPr lang="es-CO" sz="2700" dirty="0"/>
              <a:t>LAN</a:t>
            </a:r>
          </a:p>
          <a:p>
            <a:pPr marL="822325" lvl="1" indent="-255588" algn="just">
              <a:spcBef>
                <a:spcPts val="400"/>
              </a:spcBef>
              <a:buClr>
                <a:schemeClr val="accent1"/>
              </a:buClr>
              <a:buSzPct val="68000"/>
              <a:buFont typeface="Arial" pitchFamily="34" charset="0"/>
              <a:buChar char="•"/>
              <a:defRPr/>
            </a:pPr>
            <a:r>
              <a:rPr lang="es-CO" sz="2700" dirty="0"/>
              <a:t>MAN</a:t>
            </a:r>
          </a:p>
          <a:p>
            <a:pPr marL="822325" lvl="1" indent="-255588" algn="just">
              <a:spcBef>
                <a:spcPts val="400"/>
              </a:spcBef>
              <a:buClr>
                <a:schemeClr val="accent1"/>
              </a:buClr>
              <a:buSzPct val="68000"/>
              <a:buFont typeface="Arial" pitchFamily="34" charset="0"/>
              <a:buChar char="•"/>
              <a:defRPr/>
            </a:pPr>
            <a:r>
              <a:rPr lang="es-CO" sz="2700" dirty="0"/>
              <a:t>WAN</a:t>
            </a:r>
          </a:p>
        </p:txBody>
      </p:sp>
    </p:spTree>
    <p:extLst>
      <p:ext uri="{BB962C8B-B14F-4D97-AF65-F5344CB8AC3E}">
        <p14:creationId xmlns:p14="http://schemas.microsoft.com/office/powerpoint/2010/main" val="6221339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8621885"/>
              </p:ext>
            </p:extLst>
          </p:nvPr>
        </p:nvGraphicFramePr>
        <p:xfrm>
          <a:off x="2135015" y="1233491"/>
          <a:ext cx="5605780" cy="229648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86817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868805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868805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52006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CO" sz="1100" dirty="0">
                          <a:effectLst/>
                        </a:rPr>
                        <a:t>                           Tipo de Red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CO" sz="1100" dirty="0">
                          <a:effectLst/>
                        </a:rPr>
                        <a:t> 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CO" sz="1100" dirty="0">
                          <a:effectLst/>
                        </a:rPr>
                        <a:t>Criterio                                </a:t>
                      </a:r>
                      <a:endParaRPr lang="es-CO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CO" sz="1100" dirty="0" err="1" smtClean="0">
                          <a:effectLst/>
                        </a:rPr>
                        <a:t>Broadcast</a:t>
                      </a:r>
                      <a:r>
                        <a:rPr lang="es-CO" sz="1100" baseline="0" dirty="0"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s-CO" sz="1100" b="1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 difusión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CO" sz="1100" dirty="0">
                          <a:effectLst/>
                        </a:rPr>
                        <a:t>Punto a punto</a:t>
                      </a:r>
                      <a:endParaRPr lang="es-CO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CO" sz="1100" dirty="0">
                          <a:effectLst/>
                        </a:rPr>
                        <a:t> </a:t>
                      </a:r>
                      <a:r>
                        <a:rPr lang="es-CO" sz="1100" dirty="0" smtClean="0">
                          <a:effectLst/>
                        </a:rPr>
                        <a:t>Medio o canal </a:t>
                      </a:r>
                      <a:endParaRPr lang="es-CO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Un canal compartido por todos</a:t>
                      </a:r>
                      <a:endParaRPr lang="es-CO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Compartido por par de dispositivos</a:t>
                      </a:r>
                      <a:endParaRPr lang="es-CO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100" dirty="0" smtClean="0">
                          <a:effectLst/>
                        </a:rPr>
                        <a:t>Cobertura (PAN,LAN,MAN,WAN)</a:t>
                      </a:r>
                      <a:endParaRPr lang="es-CO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PAN, LAN</a:t>
                      </a:r>
                      <a:endParaRPr lang="es-CO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MAN, WAN</a:t>
                      </a:r>
                      <a:endParaRPr lang="es-CO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CO" sz="1100" dirty="0">
                          <a:effectLst/>
                        </a:rPr>
                        <a:t> </a:t>
                      </a:r>
                      <a:r>
                        <a:rPr lang="es-CO" sz="1100" dirty="0" smtClean="0">
                          <a:effectLst/>
                        </a:rPr>
                        <a:t>Modo de operación</a:t>
                      </a:r>
                      <a:endParaRPr lang="es-CO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El paquetes de datos se difunde por el medio o canal y llega a todos, pero sólo</a:t>
                      </a:r>
                      <a:r>
                        <a:rPr lang="es-ES" sz="11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es aceptado por el destinatario</a:t>
                      </a:r>
                      <a:endParaRPr lang="es-CO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El paquete de datos se envía de extremo a extremo, puede pasar por nodos intermedios</a:t>
                      </a:r>
                      <a:endParaRPr lang="es-CO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 b="1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Fiabilidad</a:t>
                      </a:r>
                      <a:endParaRPr lang="es-CO" sz="1100" b="1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 b="1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+</a:t>
                      </a:r>
                      <a:endParaRPr lang="es-CO" sz="11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 b="1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</a:t>
                      </a:r>
                      <a:endParaRPr lang="es-CO" sz="11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Mantenimiento</a:t>
                      </a:r>
                      <a:endParaRPr lang="es-CO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menor</a:t>
                      </a:r>
                      <a:endParaRPr lang="es-CO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Mayor </a:t>
                      </a:r>
                      <a:r>
                        <a:rPr lang="es-ES" sz="1100" dirty="0" err="1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mantenimieto</a:t>
                      </a:r>
                      <a:endParaRPr lang="es-CO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graphicFrame>
        <p:nvGraphicFramePr>
          <p:cNvPr id="3" name="Tabla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6165783"/>
              </p:ext>
            </p:extLst>
          </p:nvPr>
        </p:nvGraphicFramePr>
        <p:xfrm>
          <a:off x="2069757" y="3846697"/>
          <a:ext cx="5828945" cy="194329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9634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328688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380226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009291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</a:tblGrid>
              <a:tr h="52006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CO" sz="1100" dirty="0">
                          <a:effectLst/>
                        </a:rPr>
                        <a:t>                           Tipo de Red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CO" sz="1100" dirty="0">
                          <a:effectLst/>
                        </a:rPr>
                        <a:t> 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CO" sz="1100" dirty="0">
                          <a:effectLst/>
                        </a:rPr>
                        <a:t>Criterio                                </a:t>
                      </a:r>
                      <a:endParaRPr lang="es-CO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CO" sz="1100" dirty="0">
                          <a:effectLst/>
                        </a:rPr>
                        <a:t>PAN</a:t>
                      </a:r>
                      <a:endParaRPr lang="es-CO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CO" sz="1100" dirty="0">
                          <a:effectLst/>
                        </a:rPr>
                        <a:t>LAN</a:t>
                      </a:r>
                      <a:endParaRPr lang="es-CO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CO" sz="1100" dirty="0">
                          <a:effectLst/>
                        </a:rPr>
                        <a:t>MAN</a:t>
                      </a:r>
                      <a:endParaRPr lang="es-CO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CO" sz="1100" dirty="0">
                          <a:effectLst/>
                        </a:rPr>
                        <a:t>WAN</a:t>
                      </a:r>
                      <a:endParaRPr lang="es-CO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CO" sz="1100" dirty="0">
                          <a:effectLst/>
                        </a:rPr>
                        <a:t> </a:t>
                      </a:r>
                      <a:r>
                        <a:rPr lang="es-CO" sz="1100" dirty="0" smtClean="0">
                          <a:effectLst/>
                        </a:rPr>
                        <a:t>Área</a:t>
                      </a:r>
                      <a:r>
                        <a:rPr lang="es-CO" sz="1100" baseline="0" dirty="0" smtClean="0">
                          <a:effectLst/>
                        </a:rPr>
                        <a:t> de cobertura</a:t>
                      </a:r>
                      <a:endParaRPr lang="es-CO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HOGAR</a:t>
                      </a:r>
                      <a:endParaRPr lang="es-CO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OFICINA, EDIFICIO, BLOQUE DE EDICIOS &lt;1KM</a:t>
                      </a:r>
                      <a:endParaRPr lang="es-CO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CIUDAD</a:t>
                      </a:r>
                      <a:endParaRPr lang="es-CO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CIUDADES, PAISES,</a:t>
                      </a:r>
                      <a:r>
                        <a:rPr lang="es-ES" sz="11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CONTINENTES</a:t>
                      </a:r>
                      <a:endParaRPr lang="es-CO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Tecnología de transmisión</a:t>
                      </a:r>
                      <a:endParaRPr lang="es-CO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DIFUSION</a:t>
                      </a:r>
                      <a:endParaRPr lang="es-CO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DIFUSION</a:t>
                      </a:r>
                      <a:endParaRPr lang="es-CO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PUNTO A PUNTO</a:t>
                      </a:r>
                      <a:endParaRPr lang="es-CO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PUNTO A PUNTO</a:t>
                      </a:r>
                      <a:endParaRPr lang="es-CO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Velocidad de transmisión</a:t>
                      </a:r>
                      <a:endParaRPr lang="es-CO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MENOR</a:t>
                      </a:r>
                      <a:endParaRPr lang="es-CO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ALTAS</a:t>
                      </a:r>
                      <a:endParaRPr lang="es-CO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MENOR</a:t>
                      </a:r>
                      <a:endParaRPr lang="es-CO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MENOR</a:t>
                      </a:r>
                      <a:endParaRPr lang="es-CO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CuadroTexto 3"/>
          <p:cNvSpPr txBox="1"/>
          <p:nvPr/>
        </p:nvSpPr>
        <p:spPr>
          <a:xfrm>
            <a:off x="2254827" y="966354"/>
            <a:ext cx="11015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b="1" dirty="0"/>
              <a:t>Actividad</a:t>
            </a:r>
          </a:p>
        </p:txBody>
      </p:sp>
    </p:spTree>
    <p:extLst>
      <p:ext uri="{BB962C8B-B14F-4D97-AF65-F5344CB8AC3E}">
        <p14:creationId xmlns:p14="http://schemas.microsoft.com/office/powerpoint/2010/main" val="18315320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1 Marcador de contenido"/>
          <p:cNvSpPr>
            <a:spLocks noGrp="1"/>
          </p:cNvSpPr>
          <p:nvPr>
            <p:ph idx="1"/>
          </p:nvPr>
        </p:nvSpPr>
        <p:spPr>
          <a:xfrm>
            <a:off x="2095500" y="1500189"/>
            <a:ext cx="8229600" cy="928687"/>
          </a:xfrm>
        </p:spPr>
        <p:txBody>
          <a:bodyPr/>
          <a:lstStyle/>
          <a:p>
            <a:pPr algn="just" eaLnBrk="1" hangingPunct="1">
              <a:buFont typeface="Wingdings 3" panose="05040102010807070707" pitchFamily="18" charset="2"/>
              <a:buNone/>
            </a:pPr>
            <a:endParaRPr lang="es-CO" sz="3200"/>
          </a:p>
          <a:p>
            <a:pPr algn="just" eaLnBrk="1" hangingPunct="1">
              <a:buFont typeface="Wingdings 3" panose="05040102010807070707" pitchFamily="18" charset="2"/>
              <a:buNone/>
            </a:pPr>
            <a:endParaRPr lang="es-CO" sz="3200"/>
          </a:p>
          <a:p>
            <a:pPr algn="just" eaLnBrk="1" hangingPunct="1">
              <a:buFont typeface="Wingdings 3" panose="05040102010807070707" pitchFamily="18" charset="2"/>
              <a:buNone/>
            </a:pPr>
            <a:endParaRPr lang="es-CO" sz="3200"/>
          </a:p>
          <a:p>
            <a:pPr algn="just" eaLnBrk="1" hangingPunct="1">
              <a:buFont typeface="Wingdings 3" panose="05040102010807070707" pitchFamily="18" charset="2"/>
              <a:buNone/>
            </a:pPr>
            <a:endParaRPr lang="es-CO" sz="3200"/>
          </a:p>
          <a:p>
            <a:pPr algn="just" eaLnBrk="1" hangingPunct="1">
              <a:buFont typeface="Wingdings 3" panose="05040102010807070707" pitchFamily="18" charset="2"/>
              <a:buNone/>
            </a:pPr>
            <a:endParaRPr lang="es-CO" sz="3200"/>
          </a:p>
          <a:p>
            <a:pPr algn="just" eaLnBrk="1" hangingPunct="1">
              <a:buFont typeface="Wingdings 3" panose="05040102010807070707" pitchFamily="18" charset="2"/>
              <a:buNone/>
            </a:pPr>
            <a:endParaRPr lang="es-CO" sz="3200"/>
          </a:p>
          <a:p>
            <a:pPr algn="just" eaLnBrk="1" hangingPunct="1">
              <a:buFont typeface="Wingdings 3" panose="05040102010807070707" pitchFamily="18" charset="2"/>
              <a:buNone/>
            </a:pPr>
            <a:endParaRPr lang="es-CO" sz="3200"/>
          </a:p>
          <a:p>
            <a:pPr algn="just" eaLnBrk="1" hangingPunct="1">
              <a:buFont typeface="Wingdings 3" panose="05040102010807070707" pitchFamily="18" charset="2"/>
              <a:buNone/>
            </a:pPr>
            <a:endParaRPr lang="es-CO" sz="3200"/>
          </a:p>
          <a:p>
            <a:pPr algn="just" eaLnBrk="1" hangingPunct="1">
              <a:buFont typeface="Wingdings 3" panose="05040102010807070707" pitchFamily="18" charset="2"/>
              <a:buNone/>
            </a:pPr>
            <a:endParaRPr lang="es-CO" sz="3200"/>
          </a:p>
          <a:p>
            <a:pPr algn="just" eaLnBrk="1" hangingPunct="1">
              <a:buFont typeface="Wingdings 3" panose="05040102010807070707" pitchFamily="18" charset="2"/>
              <a:buNone/>
            </a:pPr>
            <a:endParaRPr lang="es-CO" sz="3200"/>
          </a:p>
        </p:txBody>
      </p:sp>
      <p:sp>
        <p:nvSpPr>
          <p:cNvPr id="7" name="1 Marcador de contenido"/>
          <p:cNvSpPr txBox="1">
            <a:spLocks/>
          </p:cNvSpPr>
          <p:nvPr/>
        </p:nvSpPr>
        <p:spPr bwMode="auto">
          <a:xfrm>
            <a:off x="1310073" y="642940"/>
            <a:ext cx="8229600" cy="500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65125" indent="-255588" algn="just">
              <a:spcBef>
                <a:spcPts val="400"/>
              </a:spcBef>
              <a:buClr>
                <a:schemeClr val="accent1"/>
              </a:buClr>
              <a:buSzPct val="68000"/>
              <a:defRPr/>
            </a:pPr>
            <a:r>
              <a:rPr lang="es-CO" sz="2400" b="1" u="sng" dirty="0"/>
              <a:t>Clasificación según Tecnología de Transmisión</a:t>
            </a:r>
          </a:p>
          <a:p>
            <a:pPr marL="365125" indent="-255588" algn="just">
              <a:spcBef>
                <a:spcPts val="400"/>
              </a:spcBef>
              <a:buClr>
                <a:schemeClr val="accent1"/>
              </a:buClr>
              <a:buSzPct val="68000"/>
              <a:defRPr/>
            </a:pPr>
            <a:endParaRPr lang="es-CO" sz="3200" b="1" dirty="0"/>
          </a:p>
          <a:p>
            <a:pPr marL="365125" indent="-255588" algn="just">
              <a:spcBef>
                <a:spcPts val="400"/>
              </a:spcBef>
              <a:buClr>
                <a:schemeClr val="accent1"/>
              </a:buClr>
              <a:buSzPct val="68000"/>
              <a:defRPr/>
            </a:pPr>
            <a:endParaRPr lang="es-CO" sz="3200" b="1" dirty="0"/>
          </a:p>
          <a:p>
            <a:pPr marL="365125" indent="-255588" algn="just">
              <a:spcBef>
                <a:spcPts val="400"/>
              </a:spcBef>
              <a:buClr>
                <a:schemeClr val="accent1"/>
              </a:buClr>
              <a:buSzPct val="68000"/>
              <a:defRPr/>
            </a:pPr>
            <a:endParaRPr lang="es-CO" sz="3200" b="1" dirty="0"/>
          </a:p>
          <a:p>
            <a:pPr marL="365125" indent="-255588" algn="just">
              <a:spcBef>
                <a:spcPts val="400"/>
              </a:spcBef>
              <a:buClr>
                <a:schemeClr val="accent1"/>
              </a:buClr>
              <a:buSzPct val="68000"/>
              <a:defRPr/>
            </a:pPr>
            <a:endParaRPr lang="es-CO" sz="3200" b="1" dirty="0"/>
          </a:p>
          <a:p>
            <a:pPr marL="365125" indent="-255588" algn="just">
              <a:spcBef>
                <a:spcPts val="400"/>
              </a:spcBef>
              <a:buClr>
                <a:schemeClr val="accent1"/>
              </a:buClr>
              <a:buSzPct val="68000"/>
              <a:defRPr/>
            </a:pPr>
            <a:endParaRPr lang="es-CO" sz="3200" b="1" dirty="0"/>
          </a:p>
          <a:p>
            <a:pPr marL="365125" indent="-255588" algn="just">
              <a:spcBef>
                <a:spcPts val="400"/>
              </a:spcBef>
              <a:buClr>
                <a:schemeClr val="accent1"/>
              </a:buClr>
              <a:buSzPct val="68000"/>
              <a:defRPr/>
            </a:pPr>
            <a:endParaRPr lang="es-CO" sz="3200" b="1" dirty="0"/>
          </a:p>
          <a:p>
            <a:pPr marL="365125" indent="-255588" algn="just">
              <a:spcBef>
                <a:spcPts val="400"/>
              </a:spcBef>
              <a:buClr>
                <a:schemeClr val="accent1"/>
              </a:buClr>
              <a:buSzPct val="68000"/>
              <a:defRPr/>
            </a:pPr>
            <a:endParaRPr lang="es-CO" sz="3200" b="1" dirty="0"/>
          </a:p>
          <a:p>
            <a:pPr marL="365125" indent="-255588" algn="just">
              <a:spcBef>
                <a:spcPts val="400"/>
              </a:spcBef>
              <a:buClr>
                <a:schemeClr val="accent1"/>
              </a:buClr>
              <a:buSzPct val="68000"/>
              <a:defRPr/>
            </a:pPr>
            <a:endParaRPr lang="es-CO" sz="3200" b="1" dirty="0"/>
          </a:p>
          <a:p>
            <a:pPr marL="365125" indent="-255588" algn="just">
              <a:spcBef>
                <a:spcPts val="400"/>
              </a:spcBef>
              <a:buClr>
                <a:schemeClr val="accent1"/>
              </a:buClr>
              <a:buSzPct val="68000"/>
              <a:defRPr/>
            </a:pPr>
            <a:endParaRPr lang="es-CO" sz="3200" b="1" dirty="0"/>
          </a:p>
        </p:txBody>
      </p:sp>
      <p:sp>
        <p:nvSpPr>
          <p:cNvPr id="33798" name="5 Rectángulo"/>
          <p:cNvSpPr>
            <a:spLocks noChangeArrowheads="1"/>
          </p:cNvSpPr>
          <p:nvPr/>
        </p:nvSpPr>
        <p:spPr bwMode="auto">
          <a:xfrm>
            <a:off x="2238375" y="2286001"/>
            <a:ext cx="8072438" cy="2246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es-CO" sz="2000" dirty="0"/>
              <a:t> Un sólo canal de comunicación compartido.</a:t>
            </a:r>
          </a:p>
          <a:p>
            <a:pPr eaLnBrk="1" hangingPunct="1"/>
            <a:r>
              <a:rPr lang="es-CO" sz="2000" dirty="0"/>
              <a:t>• Mensajes cortos (paquetes) enviados por una computadora y recibidos por todas.</a:t>
            </a:r>
          </a:p>
          <a:p>
            <a:pPr eaLnBrk="1" hangingPunct="1"/>
            <a:r>
              <a:rPr lang="es-CO" sz="2000" dirty="0"/>
              <a:t>• Un campo de dirección en el paquete indica a quién va dirigido.</a:t>
            </a:r>
          </a:p>
          <a:p>
            <a:pPr eaLnBrk="1" hangingPunct="1"/>
            <a:r>
              <a:rPr lang="es-CO" sz="2000" dirty="0"/>
              <a:t>• Se puede dirigir el paquete a todos (“</a:t>
            </a:r>
            <a:r>
              <a:rPr lang="es-CO" sz="2000" dirty="0" err="1"/>
              <a:t>broadcasting</a:t>
            </a:r>
            <a:r>
              <a:rPr lang="es-CO" sz="2000" dirty="0"/>
              <a:t>”).</a:t>
            </a:r>
          </a:p>
          <a:p>
            <a:pPr eaLnBrk="1" hangingPunct="1"/>
            <a:r>
              <a:rPr lang="es-CO" sz="2000" dirty="0"/>
              <a:t>• También se puede hacer “</a:t>
            </a:r>
            <a:r>
              <a:rPr lang="es-CO" sz="2000" dirty="0" err="1"/>
              <a:t>multicasting</a:t>
            </a:r>
            <a:r>
              <a:rPr lang="es-CO" sz="2000" dirty="0"/>
              <a:t>”,  enviar un mensaje a un subconjunto de la red.</a:t>
            </a:r>
          </a:p>
        </p:txBody>
      </p:sp>
      <p:pic>
        <p:nvPicPr>
          <p:cNvPr id="33799" name="Picture 2" descr="red-difusión Introducción a las Redes Informáticas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8563" y="4500563"/>
            <a:ext cx="5213350" cy="179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800" name="7 Rectángulo"/>
          <p:cNvSpPr>
            <a:spLocks noChangeArrowheads="1"/>
          </p:cNvSpPr>
          <p:nvPr/>
        </p:nvSpPr>
        <p:spPr bwMode="auto">
          <a:xfrm>
            <a:off x="1788317" y="1584188"/>
            <a:ext cx="727311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22325" indent="-2555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lvl="1" algn="ctr" eaLnBrk="1" hangingPunct="1">
              <a:spcBef>
                <a:spcPts val="400"/>
              </a:spcBef>
              <a:buClr>
                <a:schemeClr val="accent1"/>
              </a:buClr>
              <a:buSzPct val="68000"/>
            </a:pPr>
            <a:r>
              <a:rPr lang="es-CO" sz="2700" b="1" dirty="0"/>
              <a:t>1. Redes de Difusión o </a:t>
            </a:r>
            <a:r>
              <a:rPr lang="es-CO" sz="2800" b="1" dirty="0" err="1"/>
              <a:t>broadcast</a:t>
            </a:r>
            <a:endParaRPr lang="es-CO" sz="2700" b="1" dirty="0"/>
          </a:p>
        </p:txBody>
      </p:sp>
    </p:spTree>
    <p:extLst>
      <p:ext uri="{BB962C8B-B14F-4D97-AF65-F5344CB8AC3E}">
        <p14:creationId xmlns:p14="http://schemas.microsoft.com/office/powerpoint/2010/main" val="23626279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1 Marcador de contenido"/>
          <p:cNvSpPr>
            <a:spLocks noGrp="1"/>
          </p:cNvSpPr>
          <p:nvPr>
            <p:ph idx="1"/>
          </p:nvPr>
        </p:nvSpPr>
        <p:spPr>
          <a:xfrm>
            <a:off x="1799286" y="1397002"/>
            <a:ext cx="8229600" cy="928687"/>
          </a:xfrm>
        </p:spPr>
        <p:txBody>
          <a:bodyPr/>
          <a:lstStyle/>
          <a:p>
            <a:pPr algn="just" eaLnBrk="1" hangingPunct="1">
              <a:buFont typeface="Wingdings 3" panose="05040102010807070707" pitchFamily="18" charset="2"/>
              <a:buNone/>
            </a:pPr>
            <a:endParaRPr lang="es-CO" sz="3200"/>
          </a:p>
          <a:p>
            <a:pPr algn="just" eaLnBrk="1" hangingPunct="1">
              <a:buFont typeface="Wingdings 3" panose="05040102010807070707" pitchFamily="18" charset="2"/>
              <a:buNone/>
            </a:pPr>
            <a:endParaRPr lang="es-CO" sz="3200"/>
          </a:p>
          <a:p>
            <a:pPr algn="just" eaLnBrk="1" hangingPunct="1">
              <a:buFont typeface="Wingdings 3" panose="05040102010807070707" pitchFamily="18" charset="2"/>
              <a:buNone/>
            </a:pPr>
            <a:endParaRPr lang="es-CO" sz="3200"/>
          </a:p>
          <a:p>
            <a:pPr algn="just" eaLnBrk="1" hangingPunct="1">
              <a:buFont typeface="Wingdings 3" panose="05040102010807070707" pitchFamily="18" charset="2"/>
              <a:buNone/>
            </a:pPr>
            <a:endParaRPr lang="es-CO" sz="3200"/>
          </a:p>
          <a:p>
            <a:pPr algn="just" eaLnBrk="1" hangingPunct="1">
              <a:buFont typeface="Wingdings 3" panose="05040102010807070707" pitchFamily="18" charset="2"/>
              <a:buNone/>
            </a:pPr>
            <a:endParaRPr lang="es-CO" sz="3200"/>
          </a:p>
          <a:p>
            <a:pPr algn="just" eaLnBrk="1" hangingPunct="1">
              <a:buFont typeface="Wingdings 3" panose="05040102010807070707" pitchFamily="18" charset="2"/>
              <a:buNone/>
            </a:pPr>
            <a:endParaRPr lang="es-CO" sz="3200"/>
          </a:p>
          <a:p>
            <a:pPr algn="just" eaLnBrk="1" hangingPunct="1">
              <a:buFont typeface="Wingdings 3" panose="05040102010807070707" pitchFamily="18" charset="2"/>
              <a:buNone/>
            </a:pPr>
            <a:endParaRPr lang="es-CO" sz="3200"/>
          </a:p>
          <a:p>
            <a:pPr algn="just" eaLnBrk="1" hangingPunct="1">
              <a:buFont typeface="Wingdings 3" panose="05040102010807070707" pitchFamily="18" charset="2"/>
              <a:buNone/>
            </a:pPr>
            <a:endParaRPr lang="es-CO" sz="3200"/>
          </a:p>
          <a:p>
            <a:pPr algn="just" eaLnBrk="1" hangingPunct="1">
              <a:buFont typeface="Wingdings 3" panose="05040102010807070707" pitchFamily="18" charset="2"/>
              <a:buNone/>
            </a:pPr>
            <a:endParaRPr lang="es-CO" sz="3200"/>
          </a:p>
          <a:p>
            <a:pPr algn="just" eaLnBrk="1" hangingPunct="1">
              <a:buFont typeface="Wingdings 3" panose="05040102010807070707" pitchFamily="18" charset="2"/>
              <a:buNone/>
            </a:pPr>
            <a:endParaRPr lang="es-CO" sz="3200"/>
          </a:p>
        </p:txBody>
      </p:sp>
      <p:sp>
        <p:nvSpPr>
          <p:cNvPr id="7" name="1 Marcador de contenido"/>
          <p:cNvSpPr txBox="1">
            <a:spLocks/>
          </p:cNvSpPr>
          <p:nvPr/>
        </p:nvSpPr>
        <p:spPr bwMode="auto">
          <a:xfrm>
            <a:off x="1375491" y="610966"/>
            <a:ext cx="8229600" cy="500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65125" indent="-255588" algn="just">
              <a:spcBef>
                <a:spcPts val="400"/>
              </a:spcBef>
              <a:buClr>
                <a:schemeClr val="accent1"/>
              </a:buClr>
              <a:buSzPct val="68000"/>
              <a:defRPr/>
            </a:pPr>
            <a:r>
              <a:rPr lang="es-CO" sz="2400" b="1" u="sng" dirty="0"/>
              <a:t>Clasificación según Tecnología de Transmisión</a:t>
            </a:r>
          </a:p>
          <a:p>
            <a:pPr marL="365125" indent="-255588" algn="just">
              <a:spcBef>
                <a:spcPts val="400"/>
              </a:spcBef>
              <a:buClr>
                <a:schemeClr val="accent1"/>
              </a:buClr>
              <a:buSzPct val="68000"/>
              <a:defRPr/>
            </a:pPr>
            <a:endParaRPr lang="es-CO" sz="3200" b="1" dirty="0"/>
          </a:p>
          <a:p>
            <a:pPr marL="365125" indent="-255588" algn="just">
              <a:spcBef>
                <a:spcPts val="400"/>
              </a:spcBef>
              <a:buClr>
                <a:schemeClr val="accent1"/>
              </a:buClr>
              <a:buSzPct val="68000"/>
              <a:defRPr/>
            </a:pPr>
            <a:endParaRPr lang="es-CO" sz="3200" b="1" dirty="0"/>
          </a:p>
          <a:p>
            <a:pPr marL="365125" indent="-255588" algn="just">
              <a:spcBef>
                <a:spcPts val="400"/>
              </a:spcBef>
              <a:buClr>
                <a:schemeClr val="accent1"/>
              </a:buClr>
              <a:buSzPct val="68000"/>
              <a:defRPr/>
            </a:pPr>
            <a:endParaRPr lang="es-CO" sz="3200" b="1" dirty="0"/>
          </a:p>
          <a:p>
            <a:pPr marL="365125" indent="-255588" algn="just">
              <a:spcBef>
                <a:spcPts val="400"/>
              </a:spcBef>
              <a:buClr>
                <a:schemeClr val="accent1"/>
              </a:buClr>
              <a:buSzPct val="68000"/>
              <a:defRPr/>
            </a:pPr>
            <a:endParaRPr lang="es-CO" sz="3200" b="1" dirty="0"/>
          </a:p>
          <a:p>
            <a:pPr marL="365125" indent="-255588" algn="just">
              <a:spcBef>
                <a:spcPts val="400"/>
              </a:spcBef>
              <a:buClr>
                <a:schemeClr val="accent1"/>
              </a:buClr>
              <a:buSzPct val="68000"/>
              <a:defRPr/>
            </a:pPr>
            <a:endParaRPr lang="es-CO" sz="3200" b="1" dirty="0"/>
          </a:p>
          <a:p>
            <a:pPr marL="365125" indent="-255588" algn="just">
              <a:spcBef>
                <a:spcPts val="400"/>
              </a:spcBef>
              <a:buClr>
                <a:schemeClr val="accent1"/>
              </a:buClr>
              <a:buSzPct val="68000"/>
              <a:defRPr/>
            </a:pPr>
            <a:endParaRPr lang="es-CO" sz="3200" b="1" dirty="0"/>
          </a:p>
          <a:p>
            <a:pPr marL="365125" indent="-255588" algn="just">
              <a:spcBef>
                <a:spcPts val="400"/>
              </a:spcBef>
              <a:buClr>
                <a:schemeClr val="accent1"/>
              </a:buClr>
              <a:buSzPct val="68000"/>
              <a:defRPr/>
            </a:pPr>
            <a:endParaRPr lang="es-CO" sz="3200" b="1" dirty="0"/>
          </a:p>
          <a:p>
            <a:pPr marL="365125" indent="-255588" algn="just">
              <a:spcBef>
                <a:spcPts val="400"/>
              </a:spcBef>
              <a:buClr>
                <a:schemeClr val="accent1"/>
              </a:buClr>
              <a:buSzPct val="68000"/>
              <a:defRPr/>
            </a:pPr>
            <a:endParaRPr lang="es-CO" sz="3200" b="1" dirty="0"/>
          </a:p>
          <a:p>
            <a:pPr marL="365125" indent="-255588" algn="just">
              <a:spcBef>
                <a:spcPts val="400"/>
              </a:spcBef>
              <a:buClr>
                <a:schemeClr val="accent1"/>
              </a:buClr>
              <a:buSzPct val="68000"/>
              <a:defRPr/>
            </a:pPr>
            <a:endParaRPr lang="es-CO" sz="3200" b="1" dirty="0"/>
          </a:p>
        </p:txBody>
      </p:sp>
      <p:sp>
        <p:nvSpPr>
          <p:cNvPr id="34822" name="5 Rectángulo"/>
          <p:cNvSpPr>
            <a:spLocks noChangeArrowheads="1"/>
          </p:cNvSpPr>
          <p:nvPr/>
        </p:nvSpPr>
        <p:spPr bwMode="auto">
          <a:xfrm>
            <a:off x="2238375" y="2397575"/>
            <a:ext cx="8072438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s-CO" sz="2000" dirty="0"/>
              <a:t>• Muchas conexiones entre pares individuales de computadores</a:t>
            </a:r>
          </a:p>
          <a:p>
            <a:pPr eaLnBrk="1" hangingPunct="1"/>
            <a:r>
              <a:rPr lang="es-CO" sz="2000" dirty="0"/>
              <a:t>• Un mensaje pasa a través de otras computadoras</a:t>
            </a:r>
          </a:p>
          <a:p>
            <a:pPr eaLnBrk="1" hangingPunct="1"/>
            <a:r>
              <a:rPr lang="es-CO" sz="2000" dirty="0"/>
              <a:t>• Múltiples rutas posibles (algoritmos de </a:t>
            </a:r>
            <a:r>
              <a:rPr lang="es-CO" sz="2000" dirty="0" err="1"/>
              <a:t>enrutado</a:t>
            </a:r>
            <a:r>
              <a:rPr lang="es-CO" sz="2000" dirty="0"/>
              <a:t> – importantes)</a:t>
            </a:r>
          </a:p>
        </p:txBody>
      </p:sp>
      <p:sp>
        <p:nvSpPr>
          <p:cNvPr id="34823" name="7 Rectángulo"/>
          <p:cNvSpPr>
            <a:spLocks noChangeArrowheads="1"/>
          </p:cNvSpPr>
          <p:nvPr/>
        </p:nvSpPr>
        <p:spPr bwMode="auto">
          <a:xfrm>
            <a:off x="3238501" y="1714501"/>
            <a:ext cx="592931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22325" indent="-2555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lvl="1" algn="ctr" eaLnBrk="1" hangingPunct="1">
              <a:spcBef>
                <a:spcPts val="400"/>
              </a:spcBef>
              <a:buClr>
                <a:schemeClr val="accent1"/>
              </a:buClr>
              <a:buSzPct val="68000"/>
            </a:pPr>
            <a:r>
              <a:rPr lang="es-CO" sz="2400" b="1" dirty="0"/>
              <a:t>2. Redes Punto a punto</a:t>
            </a:r>
          </a:p>
        </p:txBody>
      </p:sp>
      <p:pic>
        <p:nvPicPr>
          <p:cNvPr id="34824" name="Picture 2" descr="red-ptoapto Introducción a las Redes Informáticas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0077" y="3842331"/>
            <a:ext cx="6027737" cy="200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65222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InkrlxYPS4jAzciXk8ToAM"/>
</p:tagLst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ánico">
  <a:themeElements>
    <a:clrScheme name="Orgánico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ánico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ánico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2394BB0E6A3974F92979CC7014A66BE" ma:contentTypeVersion="0" ma:contentTypeDescription="Crear nuevo documento." ma:contentTypeScope="" ma:versionID="6bc5a28ffd0f4088c2c0f035c3bbe76e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6f811a6767019e7426d133b423302158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50B046D-8C94-490B-B3C5-E9272E02A54C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0D9A6F9D-24B3-46DB-B1C2-03FF6F167D33}"/>
</file>

<file path=customXml/itemProps3.xml><?xml version="1.0" encoding="utf-8"?>
<ds:datastoreItem xmlns:ds="http://schemas.openxmlformats.org/officeDocument/2006/customXml" ds:itemID="{6EE11236-039F-46A5-97D9-94DE5FB584B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1460</TotalTime>
  <Words>707</Words>
  <Application>Microsoft Office PowerPoint</Application>
  <PresentationFormat>Panorámica</PresentationFormat>
  <Paragraphs>246</Paragraphs>
  <Slides>17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3" baseType="lpstr">
      <vt:lpstr>Arial</vt:lpstr>
      <vt:lpstr>Calibri</vt:lpstr>
      <vt:lpstr>Garamond</vt:lpstr>
      <vt:lpstr>Times New Roman</vt:lpstr>
      <vt:lpstr>Wingdings 3</vt:lpstr>
      <vt:lpstr>Orgánico</vt:lpstr>
      <vt:lpstr>REDES  </vt:lpstr>
      <vt:lpstr>TEMAS </vt:lpstr>
      <vt:lpstr>BIBLIOGRAFÍA</vt:lpstr>
      <vt:lpstr>EVALUACIÓN </vt:lpstr>
      <vt:lpstr>1. Comunicación de datos y redes</vt:lpstr>
      <vt:lpstr>1. Comunicación de datos y redes</vt:lpstr>
      <vt:lpstr>1.1 Comunicación de datos y sus elementos</vt:lpstr>
      <vt:lpstr>1.1 Conceptos Básicos</vt:lpstr>
      <vt:lpstr>1.1 Conceptos Básicos</vt:lpstr>
      <vt:lpstr>1.1 Conceptos Básicos</vt:lpstr>
      <vt:lpstr>1.1 Conceptos Básicos</vt:lpstr>
      <vt:lpstr>1.1 Conceptos Básicos</vt:lpstr>
      <vt:lpstr>1.2. RED DE DATOS Y SU CLASIFICACIÓN</vt:lpstr>
      <vt:lpstr>Clasificación de las redes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1. COMUNICACIÓN DE DATOS</dc:title>
  <dc:creator>ERNESTO</dc:creator>
  <cp:lastModifiedBy>User</cp:lastModifiedBy>
  <cp:revision>86</cp:revision>
  <dcterms:created xsi:type="dcterms:W3CDTF">2020-07-21T21:29:35Z</dcterms:created>
  <dcterms:modified xsi:type="dcterms:W3CDTF">2021-09-07T20:38:29Z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0x01010092394BB0E6A3974F92979CC7014A66BE</vt:lpwstr>
  </property>
</Properties>
</file>