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4"/>
  </p:sldMasterIdLst>
  <p:sldIdLst>
    <p:sldId id="278" r:id="rId5"/>
    <p:sldId id="257" r:id="rId6"/>
    <p:sldId id="267" r:id="rId7"/>
    <p:sldId id="268" r:id="rId8"/>
    <p:sldId id="286" r:id="rId9"/>
    <p:sldId id="289" r:id="rId10"/>
    <p:sldId id="287" r:id="rId11"/>
    <p:sldId id="272" r:id="rId12"/>
    <p:sldId id="285" r:id="rId13"/>
    <p:sldId id="276" r:id="rId14"/>
    <p:sldId id="277" r:id="rId1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2/11/2022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9425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2/11/2022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0011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2/11/2022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4778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2/11/2022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8616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2/11/2022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0704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2/11/2022</a:t>
            </a:fld>
            <a:endParaRPr lang="es-CO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9800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2/11/2022</a:t>
            </a:fld>
            <a:endParaRPr lang="es-CO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175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2/11/2022</a:t>
            </a:fld>
            <a:endParaRPr lang="es-CO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1466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2/11/2022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8443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2/11/2022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1166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2/11/2022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56491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2/11/2022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2314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2/11/2022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9472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2/11/2022</a:t>
            </a:fld>
            <a:endParaRPr lang="es-CO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7851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2/11/2022</a:t>
            </a:fld>
            <a:endParaRPr lang="es-CO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7188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2/11/2022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86219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2/11/2022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5678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5BA31E0-616A-4FF7-BB27-5DE43B989353}" type="datetimeFigureOut">
              <a:rPr lang="es-CO" smtClean="0"/>
              <a:t>2/11/2022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5736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764557" y="1936448"/>
            <a:ext cx="8825657" cy="1915647"/>
          </a:xfrm>
        </p:spPr>
        <p:txBody>
          <a:bodyPr/>
          <a:lstStyle/>
          <a:p>
            <a:r>
              <a:rPr lang="es-419" sz="4800" dirty="0" smtClean="0"/>
              <a:t>	</a:t>
            </a:r>
            <a:r>
              <a:rPr lang="es-419" sz="4800" b="1" dirty="0" smtClean="0"/>
              <a:t>ENRUTAMIENTO DINÁMICO</a:t>
            </a:r>
            <a:endParaRPr lang="es-CO" sz="4800" b="1" dirty="0"/>
          </a:p>
        </p:txBody>
      </p:sp>
    </p:spTree>
    <p:extLst>
      <p:ext uri="{BB962C8B-B14F-4D97-AF65-F5344CB8AC3E}">
        <p14:creationId xmlns:p14="http://schemas.microsoft.com/office/powerpoint/2010/main" val="2404813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 smtClean="0"/>
              <a:t>ENRUTAMIENTO DINÁMICO</a:t>
            </a:r>
            <a:endParaRPr lang="es-CO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5105400" y="1462610"/>
            <a:ext cx="1839686" cy="369332"/>
          </a:xfrm>
          <a:prstGeom prst="rect">
            <a:avLst/>
          </a:prstGeom>
          <a:noFill/>
          <a:ln w="698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419" b="1" dirty="0" smtClean="0"/>
              <a:t>E. Dinámico</a:t>
            </a:r>
            <a:endParaRPr lang="es-CO" b="1" dirty="0"/>
          </a:p>
        </p:txBody>
      </p:sp>
      <p:sp>
        <p:nvSpPr>
          <p:cNvPr id="10" name="CuadroTexto 9"/>
          <p:cNvSpPr txBox="1"/>
          <p:nvPr/>
        </p:nvSpPr>
        <p:spPr>
          <a:xfrm>
            <a:off x="2601686" y="2493630"/>
            <a:ext cx="3951513" cy="369332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419" b="1" dirty="0" smtClean="0"/>
              <a:t>Protocolos de Pasarela Interior</a:t>
            </a:r>
            <a:endParaRPr lang="es-CO" b="1" dirty="0"/>
          </a:p>
        </p:txBody>
      </p:sp>
      <p:sp>
        <p:nvSpPr>
          <p:cNvPr id="11" name="CuadroTexto 10"/>
          <p:cNvSpPr txBox="1"/>
          <p:nvPr/>
        </p:nvSpPr>
        <p:spPr>
          <a:xfrm>
            <a:off x="6705602" y="2472502"/>
            <a:ext cx="3626314" cy="369332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419" b="1" dirty="0" smtClean="0"/>
              <a:t>Protocolos de Pasarela Exterior</a:t>
            </a:r>
            <a:endParaRPr lang="es-CO" b="1" dirty="0"/>
          </a:p>
        </p:txBody>
      </p:sp>
      <p:cxnSp>
        <p:nvCxnSpPr>
          <p:cNvPr id="13" name="Conector angular 12"/>
          <p:cNvCxnSpPr/>
          <p:nvPr/>
        </p:nvCxnSpPr>
        <p:spPr>
          <a:xfrm rot="5400000">
            <a:off x="5071423" y="1497377"/>
            <a:ext cx="640560" cy="126707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angular 16"/>
          <p:cNvCxnSpPr>
            <a:endCxn id="11" idx="0"/>
          </p:cNvCxnSpPr>
          <p:nvPr/>
        </p:nvCxnSpPr>
        <p:spPr>
          <a:xfrm>
            <a:off x="6025244" y="2111829"/>
            <a:ext cx="2493515" cy="360673"/>
          </a:xfrm>
          <a:prstGeom prst="bent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/>
          <p:cNvSpPr txBox="1"/>
          <p:nvPr/>
        </p:nvSpPr>
        <p:spPr>
          <a:xfrm>
            <a:off x="2085352" y="4130336"/>
            <a:ext cx="2190023" cy="369332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419" b="1" smtClean="0"/>
              <a:t>Vector - Distancia</a:t>
            </a:r>
            <a:endParaRPr lang="es-CO" b="1" dirty="0"/>
          </a:p>
        </p:txBody>
      </p:sp>
      <p:sp>
        <p:nvSpPr>
          <p:cNvPr id="24" name="CuadroTexto 23"/>
          <p:cNvSpPr txBox="1"/>
          <p:nvPr/>
        </p:nvSpPr>
        <p:spPr>
          <a:xfrm>
            <a:off x="4589317" y="4130336"/>
            <a:ext cx="1912703" cy="369332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419" b="1" dirty="0" smtClean="0"/>
              <a:t>Estado - Enlace</a:t>
            </a:r>
            <a:endParaRPr lang="es-CO" b="1" dirty="0"/>
          </a:p>
        </p:txBody>
      </p:sp>
      <p:sp>
        <p:nvSpPr>
          <p:cNvPr id="25" name="CuadroTexto 24"/>
          <p:cNvSpPr txBox="1"/>
          <p:nvPr/>
        </p:nvSpPr>
        <p:spPr>
          <a:xfrm>
            <a:off x="7902227" y="3945670"/>
            <a:ext cx="1649811" cy="369332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419" b="1" dirty="0" smtClean="0"/>
              <a:t>Vector - Ruta</a:t>
            </a:r>
            <a:endParaRPr lang="es-CO" b="1" dirty="0"/>
          </a:p>
        </p:txBody>
      </p:sp>
      <p:cxnSp>
        <p:nvCxnSpPr>
          <p:cNvPr id="34" name="Conector angular 33"/>
          <p:cNvCxnSpPr/>
          <p:nvPr/>
        </p:nvCxnSpPr>
        <p:spPr>
          <a:xfrm rot="5400000">
            <a:off x="3562854" y="3066565"/>
            <a:ext cx="1230067" cy="822860"/>
          </a:xfrm>
          <a:prstGeom prst="bentConnector3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angular 36"/>
          <p:cNvCxnSpPr/>
          <p:nvPr/>
        </p:nvCxnSpPr>
        <p:spPr>
          <a:xfrm rot="16200000" flipH="1">
            <a:off x="4394105" y="3095430"/>
            <a:ext cx="1192811" cy="802385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angular 39"/>
          <p:cNvCxnSpPr>
            <a:endCxn id="25" idx="0"/>
          </p:cNvCxnSpPr>
          <p:nvPr/>
        </p:nvCxnSpPr>
        <p:spPr>
          <a:xfrm rot="16200000" flipH="1">
            <a:off x="8073086" y="3291623"/>
            <a:ext cx="1082710" cy="225383"/>
          </a:xfrm>
          <a:prstGeom prst="bentConnector3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/>
          <p:cNvSpPr txBox="1"/>
          <p:nvPr/>
        </p:nvSpPr>
        <p:spPr>
          <a:xfrm>
            <a:off x="2151076" y="4593266"/>
            <a:ext cx="2124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smtClean="0"/>
              <a:t>(RIP, IGRP, EIGRP)</a:t>
            </a:r>
            <a:endParaRPr lang="es-CO" dirty="0"/>
          </a:p>
        </p:txBody>
      </p:sp>
      <p:sp>
        <p:nvSpPr>
          <p:cNvPr id="4" name="CuadroTexto 3"/>
          <p:cNvSpPr txBox="1"/>
          <p:nvPr/>
        </p:nvSpPr>
        <p:spPr>
          <a:xfrm>
            <a:off x="4744113" y="4593266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smtClean="0"/>
              <a:t>(OSPF  IS-IS)</a:t>
            </a:r>
            <a:endParaRPr lang="es-CO" dirty="0"/>
          </a:p>
        </p:txBody>
      </p:sp>
      <p:sp>
        <p:nvSpPr>
          <p:cNvPr id="6" name="CuadroTexto 5"/>
          <p:cNvSpPr txBox="1"/>
          <p:nvPr/>
        </p:nvSpPr>
        <p:spPr>
          <a:xfrm>
            <a:off x="8314198" y="4499668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smtClean="0"/>
              <a:t>(BGP)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38137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 smtClean="0"/>
              <a:t>ENRUTAMIENTO DINÁMICO</a:t>
            </a:r>
            <a:endParaRPr lang="es-CO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1175658" y="1698171"/>
            <a:ext cx="931817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419" sz="2400" b="1" dirty="0" smtClean="0"/>
              <a:t>Protocolo de Pasarela Interior (IGP):</a:t>
            </a:r>
          </a:p>
          <a:p>
            <a:pPr algn="just"/>
            <a:endParaRPr lang="es-419" dirty="0" smtClean="0"/>
          </a:p>
          <a:p>
            <a:pPr algn="just"/>
            <a:r>
              <a:rPr lang="es-419" dirty="0" smtClean="0"/>
              <a:t>Encargado del enrutamiento al interior de un sistema autónomo (AS). Un Sistema Autónomo es un conjunto de redes IP pertenecientes a una misma organización.</a:t>
            </a:r>
          </a:p>
          <a:p>
            <a:pPr algn="just"/>
            <a:endParaRPr lang="es-419" dirty="0" smtClean="0"/>
          </a:p>
          <a:p>
            <a:pPr algn="just"/>
            <a:endParaRPr lang="es-CO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561" y="3354034"/>
            <a:ext cx="2449285" cy="1332516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2081797" y="4877956"/>
            <a:ext cx="2824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b="1" dirty="0" smtClean="0"/>
              <a:t>Sistema Autónomo (AS)</a:t>
            </a:r>
            <a:endParaRPr lang="es-CO" b="1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577" y="3354034"/>
            <a:ext cx="2786966" cy="303580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8001000" y="4677473"/>
            <a:ext cx="792205" cy="52322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s-419" sz="2800" b="1" dirty="0" smtClean="0">
                <a:solidFill>
                  <a:schemeClr val="bg1"/>
                </a:solidFill>
              </a:rPr>
              <a:t>IGP</a:t>
            </a:r>
            <a:endParaRPr lang="es-CO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285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 smtClean="0"/>
              <a:t>ENRUTAMIENTO DINÁMICO</a:t>
            </a:r>
            <a:endParaRPr lang="es-CO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453656" y="1453138"/>
            <a:ext cx="927463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sz="2800" b="1" u="sng" dirty="0" smtClean="0"/>
              <a:t>Enrutamiento Estado - Enlace:</a:t>
            </a:r>
          </a:p>
          <a:p>
            <a:pPr algn="just"/>
            <a:endParaRPr lang="es-419" dirty="0" smtClean="0"/>
          </a:p>
          <a:p>
            <a:pPr algn="just"/>
            <a:r>
              <a:rPr lang="es-419" dirty="0" smtClean="0"/>
              <a:t>Se basa fundamentalmente </a:t>
            </a:r>
            <a:r>
              <a:rPr lang="es-419" smtClean="0"/>
              <a:t>en </a:t>
            </a:r>
            <a:r>
              <a:rPr lang="es-419" smtClean="0"/>
              <a:t>seis </a:t>
            </a:r>
            <a:r>
              <a:rPr lang="es-419" dirty="0" smtClean="0"/>
              <a:t>pasos:</a:t>
            </a:r>
          </a:p>
          <a:p>
            <a:pPr marL="342900" indent="-342900" algn="just">
              <a:buAutoNum type="arabicPeriod"/>
            </a:pPr>
            <a:r>
              <a:rPr lang="es-419" dirty="0" smtClean="0"/>
              <a:t>Descubrir sus vecinos y direcciones: </a:t>
            </a:r>
          </a:p>
          <a:p>
            <a:pPr marL="342900" indent="-342900" algn="just">
              <a:buAutoNum type="arabicPeriod"/>
            </a:pPr>
            <a:r>
              <a:rPr lang="es-419" dirty="0" smtClean="0"/>
              <a:t>Determinar el costo a cada vecino:</a:t>
            </a:r>
          </a:p>
          <a:p>
            <a:pPr marL="342900" indent="-342900" algn="just">
              <a:buAutoNum type="arabicPeriod"/>
            </a:pPr>
            <a:r>
              <a:rPr lang="es-419" dirty="0" smtClean="0"/>
              <a:t>Construir paquetes LSP con la información del estado de sus enlaces que incluye: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419" dirty="0" smtClean="0"/>
              <a:t>Dirección </a:t>
            </a:r>
            <a:r>
              <a:rPr lang="es-419" dirty="0" err="1" smtClean="0"/>
              <a:t>Ip</a:t>
            </a:r>
            <a:r>
              <a:rPr lang="es-419" dirty="0" smtClean="0"/>
              <a:t> y máscara de red de la interfaz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419" dirty="0" smtClean="0"/>
              <a:t>El tipo de red, como Ethernet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419" dirty="0" smtClean="0"/>
              <a:t>El costo de dicho enlace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419" dirty="0" smtClean="0"/>
              <a:t>El </a:t>
            </a:r>
            <a:r>
              <a:rPr lang="es-419" dirty="0" err="1" smtClean="0"/>
              <a:t>router</a:t>
            </a:r>
            <a:r>
              <a:rPr lang="es-419" dirty="0" smtClean="0"/>
              <a:t> vecino de dicho enlace</a:t>
            </a:r>
          </a:p>
          <a:p>
            <a:pPr marL="342900" indent="-342900" algn="just">
              <a:buAutoNum type="arabicPeriod"/>
            </a:pPr>
            <a:r>
              <a:rPr lang="es-419" dirty="0" smtClean="0"/>
              <a:t>Enviar los LSP al resto de </a:t>
            </a:r>
            <a:r>
              <a:rPr lang="es-419" dirty="0" err="1" smtClean="0"/>
              <a:t>routers</a:t>
            </a:r>
            <a:endParaRPr lang="es-419" dirty="0" smtClean="0"/>
          </a:p>
          <a:p>
            <a:pPr marL="342900" indent="-342900" algn="just">
              <a:buFontTx/>
              <a:buAutoNum type="arabicPeriod"/>
            </a:pPr>
            <a:r>
              <a:rPr lang="es-419" dirty="0" smtClean="0"/>
              <a:t>Cada </a:t>
            </a:r>
            <a:r>
              <a:rPr lang="es-419" dirty="0" err="1" smtClean="0"/>
              <a:t>router</a:t>
            </a:r>
            <a:r>
              <a:rPr lang="es-419" dirty="0" smtClean="0"/>
              <a:t> crea una BD con los LSP y con ella ejecuta un algoritmo como el de </a:t>
            </a:r>
            <a:r>
              <a:rPr lang="es-419" dirty="0" err="1" smtClean="0"/>
              <a:t>Dijkstra</a:t>
            </a:r>
            <a:r>
              <a:rPr lang="es-419" dirty="0" smtClean="0"/>
              <a:t> para crear el árbol SPF y a partir de allí,</a:t>
            </a:r>
          </a:p>
          <a:p>
            <a:pPr marL="342900" indent="-342900" algn="just">
              <a:buFontTx/>
              <a:buAutoNum type="arabicPeriod"/>
            </a:pPr>
            <a:r>
              <a:rPr lang="es-419" dirty="0" smtClean="0"/>
              <a:t>Crea su tabla de enrutamiento.</a:t>
            </a:r>
          </a:p>
        </p:txBody>
      </p:sp>
    </p:spTree>
    <p:extLst>
      <p:ext uri="{BB962C8B-B14F-4D97-AF65-F5344CB8AC3E}">
        <p14:creationId xmlns:p14="http://schemas.microsoft.com/office/powerpoint/2010/main" val="281605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 smtClean="0"/>
              <a:t>ENRUTAMIENTO DINÁMICO</a:t>
            </a:r>
            <a:endParaRPr lang="es-CO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453656" y="1453138"/>
            <a:ext cx="92746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sz="2800" b="1" u="sng" dirty="0" smtClean="0"/>
              <a:t>Enrutamiento Estado - Enlace:</a:t>
            </a:r>
          </a:p>
          <a:p>
            <a:pPr algn="just"/>
            <a:endParaRPr lang="es-419" dirty="0" smtClean="0"/>
          </a:p>
          <a:p>
            <a:pPr algn="just"/>
            <a:r>
              <a:rPr lang="es-419" b="1" dirty="0" smtClean="0"/>
              <a:t>ALGORITMO DE DIJKSTRA</a:t>
            </a:r>
          </a:p>
        </p:txBody>
      </p:sp>
      <p:pic>
        <p:nvPicPr>
          <p:cNvPr id="5" name="Imagen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5304" y="1991747"/>
            <a:ext cx="5612130" cy="455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82405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 smtClean="0"/>
              <a:t>ENRUTAMIENTO DINÁMICO</a:t>
            </a:r>
            <a:endParaRPr lang="es-CO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453656" y="1187462"/>
            <a:ext cx="92746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sz="2800" b="1" u="sng" dirty="0" smtClean="0"/>
              <a:t>Enrutamiento Estado - Enlace:</a:t>
            </a:r>
          </a:p>
          <a:p>
            <a:pPr algn="just"/>
            <a:endParaRPr lang="es-419" dirty="0" smtClean="0"/>
          </a:p>
          <a:p>
            <a:pPr algn="just"/>
            <a:r>
              <a:rPr lang="es-419" b="1" dirty="0" smtClean="0"/>
              <a:t>ALGORITMO DE DIJKSTRA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944" y="2202381"/>
            <a:ext cx="6763274" cy="447273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9592" y="5398590"/>
            <a:ext cx="3219899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138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 smtClean="0"/>
              <a:t>ENRUTAMIENTO DINÁMICO</a:t>
            </a:r>
            <a:endParaRPr lang="es-CO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453656" y="1453138"/>
            <a:ext cx="927463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sz="2800" b="1" u="sng" dirty="0" smtClean="0"/>
              <a:t>Enrutamiento Estado - Enlace:</a:t>
            </a:r>
          </a:p>
          <a:p>
            <a:pPr algn="just"/>
            <a:endParaRPr lang="es-419" dirty="0" smtClean="0"/>
          </a:p>
          <a:p>
            <a:pPr algn="just"/>
            <a:r>
              <a:rPr lang="es-419" b="1" dirty="0" smtClean="0"/>
              <a:t>ALGORITMO DE DIJKSTRA</a:t>
            </a:r>
          </a:p>
          <a:p>
            <a:pPr algn="just"/>
            <a:endParaRPr lang="es-419" b="1" dirty="0"/>
          </a:p>
          <a:p>
            <a:pPr algn="just"/>
            <a:r>
              <a:rPr lang="es-419" b="1" dirty="0" smtClean="0"/>
              <a:t>Ejemplo:</a:t>
            </a:r>
          </a:p>
          <a:p>
            <a:pPr algn="just"/>
            <a:r>
              <a:rPr lang="es-419" b="1" dirty="0" smtClean="0"/>
              <a:t>Para el grafo dado, se pide:</a:t>
            </a:r>
          </a:p>
          <a:p>
            <a:pPr marL="342900" indent="-342900" algn="just">
              <a:buAutoNum type="arabicPeriod"/>
            </a:pPr>
            <a:r>
              <a:rPr lang="es-419" b="1" dirty="0" smtClean="0"/>
              <a:t>Hallar PASO A PASO el árbol de camino más corto y Tabla de enrutamiento para el </a:t>
            </a:r>
            <a:r>
              <a:rPr lang="es-419" b="1" dirty="0" err="1" smtClean="0"/>
              <a:t>router</a:t>
            </a:r>
            <a:r>
              <a:rPr lang="es-419" b="1" dirty="0" smtClean="0"/>
              <a:t> A</a:t>
            </a:r>
          </a:p>
        </p:txBody>
      </p:sp>
      <p:pic>
        <p:nvPicPr>
          <p:cNvPr id="4" name="Imagen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84659" y="3735998"/>
            <a:ext cx="5610225" cy="299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98188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 smtClean="0"/>
              <a:t>ENRUTAMIENTO DINÁMICO</a:t>
            </a:r>
            <a:endParaRPr lang="es-CO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462448" y="1453138"/>
            <a:ext cx="927463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sz="2800" b="1" u="sng" dirty="0" smtClean="0"/>
              <a:t>Protocolo OSPF: (Camino más corto primero)</a:t>
            </a:r>
          </a:p>
          <a:p>
            <a:pPr algn="just"/>
            <a:endParaRPr lang="es-419" sz="2800" dirty="0" smtClean="0"/>
          </a:p>
          <a:p>
            <a:pPr algn="just"/>
            <a:endParaRPr lang="es-419" sz="2800" b="1" u="sng" dirty="0"/>
          </a:p>
          <a:p>
            <a:pPr algn="just"/>
            <a:endParaRPr lang="es-419" sz="2800" b="1" u="sng" dirty="0" smtClean="0"/>
          </a:p>
          <a:p>
            <a:pPr algn="just"/>
            <a:endParaRPr lang="es-419" sz="2800" b="1" u="sng" dirty="0"/>
          </a:p>
          <a:p>
            <a:pPr algn="just"/>
            <a:endParaRPr lang="es-419" dirty="0" smtClean="0"/>
          </a:p>
        </p:txBody>
      </p:sp>
      <p:sp>
        <p:nvSpPr>
          <p:cNvPr id="4" name="Rectángulo 3"/>
          <p:cNvSpPr/>
          <p:nvPr/>
        </p:nvSpPr>
        <p:spPr>
          <a:xfrm>
            <a:off x="462448" y="2417310"/>
            <a:ext cx="1132308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s-CO" sz="2400" b="1" dirty="0"/>
              <a:t>Sin clase:</a:t>
            </a:r>
            <a:r>
              <a:rPr lang="es-CO" sz="2400" dirty="0"/>
              <a:t> por su diseño, es un protocolo sin clase, de modo que admite VLSM y CIDR.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CO" sz="2400" b="1" dirty="0"/>
              <a:t>Eficaz:</a:t>
            </a:r>
            <a:r>
              <a:rPr lang="es-CO" sz="2400" dirty="0"/>
              <a:t> los cambios de </a:t>
            </a:r>
            <a:r>
              <a:rPr lang="es-CO" sz="2400" dirty="0" err="1"/>
              <a:t>routing</a:t>
            </a:r>
            <a:r>
              <a:rPr lang="es-CO" sz="2400" dirty="0"/>
              <a:t> dirigen actualizaciones de </a:t>
            </a:r>
            <a:r>
              <a:rPr lang="es-CO" sz="2400" dirty="0" err="1"/>
              <a:t>routing</a:t>
            </a:r>
            <a:r>
              <a:rPr lang="es-CO" sz="2400" dirty="0"/>
              <a:t> (no hay actualizaciones periódicas). Usa el algoritmo SPF para elegir la mejor ruta.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CO" sz="2400" b="1" dirty="0"/>
              <a:t>Convergencia rápida:</a:t>
            </a:r>
            <a:r>
              <a:rPr lang="es-CO" sz="2400" dirty="0"/>
              <a:t> propaga rápidamente los cambios que se realizan a la red.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CO" sz="2400" b="1" dirty="0"/>
              <a:t>Escalable:</a:t>
            </a:r>
            <a:r>
              <a:rPr lang="es-CO" sz="2400" dirty="0"/>
              <a:t> funciona bien en tamaños de redes pequeños y grandes. Se pueden agrupar los </a:t>
            </a:r>
            <a:r>
              <a:rPr lang="es-CO" sz="2400" dirty="0" err="1"/>
              <a:t>routers</a:t>
            </a:r>
            <a:r>
              <a:rPr lang="es-CO" sz="2400" dirty="0"/>
              <a:t> en áreas para admitir un sistema jerárquico.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CO" sz="2400" b="1" dirty="0"/>
              <a:t>Seguro:</a:t>
            </a:r>
            <a:r>
              <a:rPr lang="es-CO" sz="2400" dirty="0"/>
              <a:t> admite la autenticación de síntesis del mensaje 5 (MD5). Cuando están habilitados, los </a:t>
            </a:r>
            <a:r>
              <a:rPr lang="es-CO" sz="2400" dirty="0" err="1"/>
              <a:t>routers</a:t>
            </a:r>
            <a:r>
              <a:rPr lang="es-CO" sz="2400" dirty="0"/>
              <a:t> OSPF solo aceptan actualizaciones de </a:t>
            </a:r>
            <a:r>
              <a:rPr lang="es-CO" sz="2400" dirty="0" err="1"/>
              <a:t>routing</a:t>
            </a:r>
            <a:r>
              <a:rPr lang="es-CO" sz="2400" dirty="0"/>
              <a:t> cifradas de </a:t>
            </a:r>
            <a:r>
              <a:rPr lang="es-CO" sz="2400" dirty="0" err="1"/>
              <a:t>peers</a:t>
            </a:r>
            <a:r>
              <a:rPr lang="es-CO" sz="2400" dirty="0"/>
              <a:t> con la misma contraseña compartida previamente.</a:t>
            </a:r>
          </a:p>
        </p:txBody>
      </p:sp>
    </p:spTree>
    <p:extLst>
      <p:ext uri="{BB962C8B-B14F-4D97-AF65-F5344CB8AC3E}">
        <p14:creationId xmlns:p14="http://schemas.microsoft.com/office/powerpoint/2010/main" val="4206199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 smtClean="0"/>
              <a:t>ENRUTAMIENTO DINÁMICO</a:t>
            </a:r>
            <a:endParaRPr lang="es-CO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453656" y="1453138"/>
            <a:ext cx="9274630" cy="2685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sz="2800" b="1" u="sng" dirty="0" smtClean="0"/>
              <a:t>Protocolo OSPF</a:t>
            </a:r>
          </a:p>
          <a:p>
            <a:pPr algn="just"/>
            <a:endParaRPr lang="en-US" sz="1050" dirty="0" smtClean="0"/>
          </a:p>
          <a:p>
            <a:pPr algn="ctr"/>
            <a:r>
              <a:rPr lang="es-419" sz="2800" b="1" dirty="0" smtClean="0"/>
              <a:t>Distancia administrativa  de OSPF:</a:t>
            </a:r>
          </a:p>
          <a:p>
            <a:pPr algn="just"/>
            <a:endParaRPr lang="es-419" sz="2800" b="1" dirty="0" smtClean="0"/>
          </a:p>
          <a:p>
            <a:pPr algn="just"/>
            <a:r>
              <a:rPr lang="es-419" sz="2800" dirty="0" smtClean="0"/>
              <a:t>La distancia administrativa de OSPF para redes internas es 110.</a:t>
            </a:r>
          </a:p>
          <a:p>
            <a:pPr algn="just"/>
            <a:endParaRPr lang="es-419" dirty="0" smtClean="0"/>
          </a:p>
        </p:txBody>
      </p:sp>
    </p:spTree>
    <p:extLst>
      <p:ext uri="{BB962C8B-B14F-4D97-AF65-F5344CB8AC3E}">
        <p14:creationId xmlns:p14="http://schemas.microsoft.com/office/powerpoint/2010/main" val="3618054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 smtClean="0"/>
              <a:t>ENRUTAMIENTO DINÁMICO</a:t>
            </a:r>
            <a:endParaRPr lang="es-CO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453655" y="1453138"/>
            <a:ext cx="1162697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sz="2800" b="1" u="sng" dirty="0" smtClean="0"/>
              <a:t>Protocolo OSPF:</a:t>
            </a:r>
          </a:p>
          <a:p>
            <a:pPr algn="just"/>
            <a:endParaRPr lang="es-419" sz="2800" b="1" dirty="0"/>
          </a:p>
          <a:p>
            <a:pPr algn="just"/>
            <a:r>
              <a:rPr lang="es-419" sz="2800" b="1" dirty="0" smtClean="0"/>
              <a:t>Configuración del </a:t>
            </a:r>
            <a:r>
              <a:rPr lang="es-419" sz="2800" b="1" dirty="0" err="1" smtClean="0"/>
              <a:t>router</a:t>
            </a:r>
            <a:endParaRPr lang="es-419" sz="2800" b="1" dirty="0" smtClean="0"/>
          </a:p>
          <a:p>
            <a:pPr algn="just"/>
            <a:endParaRPr lang="es-419" sz="2800" b="1" dirty="0" smtClean="0"/>
          </a:p>
          <a:p>
            <a:pPr algn="just"/>
            <a:r>
              <a:rPr lang="es-419" sz="2800" dirty="0" smtClean="0"/>
              <a:t>1. Se introduce el comando</a:t>
            </a:r>
            <a:endParaRPr lang="es-419" sz="2800" dirty="0"/>
          </a:p>
          <a:p>
            <a:pPr algn="just"/>
            <a:r>
              <a:rPr lang="es-419" sz="2800" b="1" dirty="0" err="1" smtClean="0"/>
              <a:t>Router</a:t>
            </a:r>
            <a:r>
              <a:rPr lang="es-419" sz="2800" b="1" dirty="0" smtClean="0"/>
              <a:t> OSPF &lt;#id&gt;</a:t>
            </a:r>
          </a:p>
          <a:p>
            <a:pPr algn="just"/>
            <a:endParaRPr lang="es-419" sz="2800" b="1" dirty="0" smtClean="0"/>
          </a:p>
          <a:p>
            <a:pPr algn="just"/>
            <a:r>
              <a:rPr lang="es-419" sz="2800" dirty="0" smtClean="0"/>
              <a:t>2. Por cada red conectada al </a:t>
            </a:r>
            <a:r>
              <a:rPr lang="es-419" sz="2800" dirty="0" err="1" smtClean="0"/>
              <a:t>router</a:t>
            </a:r>
            <a:r>
              <a:rPr lang="es-419" sz="2800" dirty="0" smtClean="0"/>
              <a:t> se introduce el comando:</a:t>
            </a:r>
          </a:p>
          <a:p>
            <a:pPr algn="just"/>
            <a:r>
              <a:rPr lang="es-419" sz="2800" b="1" dirty="0" smtClean="0"/>
              <a:t>Network &lt;</a:t>
            </a:r>
            <a:r>
              <a:rPr lang="es-419" sz="2800" b="1" dirty="0" err="1" smtClean="0"/>
              <a:t>ip_red_conectada</a:t>
            </a:r>
            <a:r>
              <a:rPr lang="es-419" sz="2800" b="1" dirty="0" smtClean="0"/>
              <a:t>&gt; &lt;</a:t>
            </a:r>
            <a:r>
              <a:rPr lang="es-419" sz="2800" b="1" dirty="0" err="1" smtClean="0"/>
              <a:t>máscara_wildcard</a:t>
            </a:r>
            <a:r>
              <a:rPr lang="es-419" sz="2800" b="1" dirty="0" smtClean="0"/>
              <a:t>&gt; </a:t>
            </a:r>
            <a:r>
              <a:rPr lang="es-419" sz="2800" b="1" dirty="0" err="1"/>
              <a:t>a</a:t>
            </a:r>
            <a:r>
              <a:rPr lang="es-419" sz="2800" b="1" dirty="0" err="1" smtClean="0"/>
              <a:t>rea</a:t>
            </a:r>
            <a:r>
              <a:rPr lang="es-419" sz="2800" b="1" dirty="0" smtClean="0"/>
              <a:t> &lt;#área&gt;</a:t>
            </a:r>
          </a:p>
          <a:p>
            <a:pPr algn="just"/>
            <a:endParaRPr lang="es-419" dirty="0" smtClean="0"/>
          </a:p>
        </p:txBody>
      </p:sp>
    </p:spTree>
    <p:extLst>
      <p:ext uri="{BB962C8B-B14F-4D97-AF65-F5344CB8AC3E}">
        <p14:creationId xmlns:p14="http://schemas.microsoft.com/office/powerpoint/2010/main" val="3240702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 smtClean="0"/>
              <a:t>ENRUTAMIENTO DINÁMICO</a:t>
            </a:r>
            <a:endParaRPr lang="es-CO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453656" y="1453138"/>
            <a:ext cx="927463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sz="2800" b="1" u="sng" dirty="0" smtClean="0"/>
              <a:t>Protocolo OSPF:</a:t>
            </a:r>
          </a:p>
          <a:p>
            <a:pPr algn="just"/>
            <a:endParaRPr lang="es-419" sz="2800" b="1" dirty="0"/>
          </a:p>
          <a:p>
            <a:pPr algn="just"/>
            <a:r>
              <a:rPr lang="es-419" sz="2800" b="1" dirty="0" smtClean="0"/>
              <a:t>Ejemplo:</a:t>
            </a:r>
          </a:p>
          <a:p>
            <a:pPr algn="just"/>
            <a:endParaRPr lang="es-419" sz="2800" b="1" dirty="0" smtClean="0"/>
          </a:p>
          <a:p>
            <a:pPr algn="just"/>
            <a:endParaRPr lang="es-419" dirty="0" smtClean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522" y="2499578"/>
            <a:ext cx="8737300" cy="412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757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2394BB0E6A3974F92979CC7014A66BE" ma:contentTypeVersion="4" ma:contentTypeDescription="Crear nuevo documento." ma:contentTypeScope="" ma:versionID="25b822d01e6326c6c6a3be70296d39f5">
  <xsd:schema xmlns:xsd="http://www.w3.org/2001/XMLSchema" xmlns:xs="http://www.w3.org/2001/XMLSchema" xmlns:p="http://schemas.microsoft.com/office/2006/metadata/properties" xmlns:ns2="c190a762-8ace-4dde-8610-f60417de3a92" targetNamespace="http://schemas.microsoft.com/office/2006/metadata/properties" ma:root="true" ma:fieldsID="e96a2350358351b3d6c91d8c867ba915" ns2:_="">
    <xsd:import namespace="c190a762-8ace-4dde-8610-f60417de3a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90a762-8ace-4dde-8610-f60417de3a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FC4C51-A0EA-4C1F-94BC-70EB543F120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1A26DFC-AC3E-497A-9DC9-1284896E7C34}"/>
</file>

<file path=customXml/itemProps3.xml><?xml version="1.0" encoding="utf-8"?>
<ds:datastoreItem xmlns:ds="http://schemas.openxmlformats.org/officeDocument/2006/customXml" ds:itemID="{BEEA7C9D-201A-43ED-9A1D-8FC3826D613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3140</TotalTime>
  <Words>448</Words>
  <Application>Microsoft Office PowerPoint</Application>
  <PresentationFormat>Panorámica</PresentationFormat>
  <Paragraphs>77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</vt:lpstr>
      <vt:lpstr> ENRUTAMIENTO DINÁMICO</vt:lpstr>
      <vt:lpstr>ENRUTAMIENTO DINÁMICO</vt:lpstr>
      <vt:lpstr>ENRUTAMIENTO DINÁMICO</vt:lpstr>
      <vt:lpstr>ENRUTAMIENTO DINÁMICO</vt:lpstr>
      <vt:lpstr>ENRUTAMIENTO DINÁMICO</vt:lpstr>
      <vt:lpstr>ENRUTAMIENTO DINÁMICO</vt:lpstr>
      <vt:lpstr>ENRUTAMIENTO DINÁMICO</vt:lpstr>
      <vt:lpstr>ENRUTAMIENTO DINÁMICO</vt:lpstr>
      <vt:lpstr>ENRUTAMIENTO DINÁMICO</vt:lpstr>
      <vt:lpstr>ENRUTAMIENTO DINÁMICO</vt:lpstr>
      <vt:lpstr>ENRUTAMIENTO DINÁMICO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ENRUTAMIENTO</dc:title>
  <dc:creator>Corporación Educativa Asesorías del Norte</dc:creator>
  <cp:lastModifiedBy>ESTUDIANTE</cp:lastModifiedBy>
  <cp:revision>145</cp:revision>
  <dcterms:created xsi:type="dcterms:W3CDTF">2020-04-14T13:12:35Z</dcterms:created>
  <dcterms:modified xsi:type="dcterms:W3CDTF">2022-11-02T13:18:18Z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0x01010092394BB0E6A3974F92979CC7014A66BE</vt:lpwstr>
  </property>
</Properties>
</file>