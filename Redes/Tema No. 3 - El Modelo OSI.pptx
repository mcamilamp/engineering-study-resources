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9" r:id="rId4"/>
  </p:sldMasterIdLst>
  <p:notesMasterIdLst>
    <p:notesMasterId r:id="rId22"/>
  </p:notesMasterIdLst>
  <p:sldIdLst>
    <p:sldId id="257" r:id="rId5"/>
    <p:sldId id="259" r:id="rId6"/>
    <p:sldId id="268" r:id="rId7"/>
    <p:sldId id="269" r:id="rId8"/>
    <p:sldId id="270" r:id="rId9"/>
    <p:sldId id="271" r:id="rId10"/>
    <p:sldId id="272" r:id="rId11"/>
    <p:sldId id="273" r:id="rId12"/>
    <p:sldId id="274" r:id="rId13"/>
    <p:sldId id="275" r:id="rId14"/>
    <p:sldId id="276" r:id="rId15"/>
    <p:sldId id="278" r:id="rId16"/>
    <p:sldId id="279" r:id="rId17"/>
    <p:sldId id="266" r:id="rId18"/>
    <p:sldId id="281" r:id="rId19"/>
    <p:sldId id="277" r:id="rId20"/>
    <p:sldId id="280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13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30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6BFAE6-FEBD-4BA0-A4B0-3446681F0D6B}" type="datetimeFigureOut">
              <a:rPr lang="es-CO" smtClean="0"/>
              <a:t>11/02/2025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73F2C3-95B3-45CF-9BB9-F4C7C6461D6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577712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48A87A34-81AB-432B-8DAE-1953F412C126}" type="datetimeFigureOut">
              <a:rPr lang="en-US" smtClean="0"/>
              <a:t>2/11/2025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24179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57717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85814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2/11/2025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986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2/11/2025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46815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2/11/2025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10206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2/11/2025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17602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2/11/2025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02599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2/11/2025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36968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2/11/2025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85124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57477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128552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966285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2/11/2025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84229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2/11/2025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‹Nº›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532192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80514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80277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48A87A34-81AB-432B-8DAE-1953F412C126}" type="datetimeFigureOut">
              <a:rPr lang="en-US" smtClean="0"/>
              <a:pPr/>
              <a:t>2/11/2025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6D22F896-40B5-4ADD-8801-0D06FADFA09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14454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  <p:sldLayoutId id="2147483684" r:id="rId15"/>
    <p:sldLayoutId id="2147483685" r:id="rId16"/>
    <p:sldLayoutId id="2147483686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0.png"/><Relationship Id="rId4" Type="http://schemas.openxmlformats.org/officeDocument/2006/relationships/image" Target="../media/image19.jp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715358" y="3646310"/>
            <a:ext cx="8791575" cy="540985"/>
          </a:xfrm>
        </p:spPr>
        <p:txBody>
          <a:bodyPr>
            <a:normAutofit fontScale="90000"/>
          </a:bodyPr>
          <a:lstStyle/>
          <a:p>
            <a:r>
              <a:rPr lang="es-CO" sz="6700" b="1" dirty="0"/>
              <a:t>3. El Modelo OSI</a:t>
            </a:r>
            <a:br>
              <a:rPr lang="es-CO" sz="6700" dirty="0"/>
            </a:br>
            <a:r>
              <a:rPr lang="es-CO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26968755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37825" y="421957"/>
            <a:ext cx="9601196" cy="1303867"/>
          </a:xfrm>
        </p:spPr>
        <p:txBody>
          <a:bodyPr/>
          <a:lstStyle/>
          <a:p>
            <a:r>
              <a:rPr lang="es-CO" dirty="0"/>
              <a:t>3. EL MODELO OSI</a:t>
            </a:r>
          </a:p>
        </p:txBody>
      </p:sp>
      <p:sp>
        <p:nvSpPr>
          <p:cNvPr id="3" name="CuadroTexto 2"/>
          <p:cNvSpPr txBox="1"/>
          <p:nvPr/>
        </p:nvSpPr>
        <p:spPr>
          <a:xfrm>
            <a:off x="803746" y="2043159"/>
            <a:ext cx="111123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400" dirty="0"/>
              <a:t>A finales de los años 70 cada fabricante de red tenía su propio modelo de comunicación</a:t>
            </a:r>
          </a:p>
        </p:txBody>
      </p:sp>
      <p:sp>
        <p:nvSpPr>
          <p:cNvPr id="4" name="Flecha abajo 3"/>
          <p:cNvSpPr/>
          <p:nvPr/>
        </p:nvSpPr>
        <p:spPr>
          <a:xfrm>
            <a:off x="5995554" y="2587338"/>
            <a:ext cx="249382" cy="935182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2000"/>
          </a:p>
        </p:txBody>
      </p:sp>
      <p:sp>
        <p:nvSpPr>
          <p:cNvPr id="6" name="CuadroTexto 5"/>
          <p:cNvSpPr txBox="1"/>
          <p:nvPr/>
        </p:nvSpPr>
        <p:spPr>
          <a:xfrm>
            <a:off x="6244936" y="2824096"/>
            <a:ext cx="18039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400" dirty="0"/>
              <a:t>Inconveniente</a:t>
            </a:r>
          </a:p>
        </p:txBody>
      </p:sp>
      <p:sp>
        <p:nvSpPr>
          <p:cNvPr id="7" name="CuadroTexto 6"/>
          <p:cNvSpPr txBox="1"/>
          <p:nvPr/>
        </p:nvSpPr>
        <p:spPr>
          <a:xfrm>
            <a:off x="2363021" y="3518093"/>
            <a:ext cx="72650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400" dirty="0"/>
              <a:t>No era posible comunicar redes de diferentes fabricantes</a:t>
            </a:r>
          </a:p>
        </p:txBody>
      </p:sp>
      <p:sp>
        <p:nvSpPr>
          <p:cNvPr id="8" name="Flecha abajo 7"/>
          <p:cNvSpPr/>
          <p:nvPr/>
        </p:nvSpPr>
        <p:spPr>
          <a:xfrm>
            <a:off x="5995554" y="4025430"/>
            <a:ext cx="249382" cy="935182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sz="2000"/>
          </a:p>
        </p:txBody>
      </p:sp>
      <p:sp>
        <p:nvSpPr>
          <p:cNvPr id="9" name="CuadroTexto 8"/>
          <p:cNvSpPr txBox="1"/>
          <p:nvPr/>
        </p:nvSpPr>
        <p:spPr>
          <a:xfrm>
            <a:off x="6244936" y="4262188"/>
            <a:ext cx="11689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400" dirty="0"/>
              <a:t>Solución</a:t>
            </a:r>
          </a:p>
        </p:txBody>
      </p:sp>
      <p:sp>
        <p:nvSpPr>
          <p:cNvPr id="10" name="CuadroTexto 9"/>
          <p:cNvSpPr txBox="1"/>
          <p:nvPr/>
        </p:nvSpPr>
        <p:spPr>
          <a:xfrm>
            <a:off x="1352857" y="4994193"/>
            <a:ext cx="97822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400" dirty="0"/>
              <a:t>LA ISO propone en 1980 el modelo de Interconexión de Sistemas Abiertos OSI</a:t>
            </a:r>
          </a:p>
        </p:txBody>
      </p:sp>
      <p:sp>
        <p:nvSpPr>
          <p:cNvPr id="11" name="CuadroTexto 10"/>
          <p:cNvSpPr txBox="1"/>
          <p:nvPr/>
        </p:nvSpPr>
        <p:spPr>
          <a:xfrm>
            <a:off x="1141413" y="1696160"/>
            <a:ext cx="16337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400" b="1" dirty="0"/>
              <a:t>3.1 Origen </a:t>
            </a:r>
          </a:p>
        </p:txBody>
      </p:sp>
    </p:spTree>
    <p:extLst>
      <p:ext uri="{BB962C8B-B14F-4D97-AF65-F5344CB8AC3E}">
        <p14:creationId xmlns:p14="http://schemas.microsoft.com/office/powerpoint/2010/main" val="14809751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12066" y="228777"/>
            <a:ext cx="9601196" cy="1303867"/>
          </a:xfrm>
        </p:spPr>
        <p:txBody>
          <a:bodyPr/>
          <a:lstStyle/>
          <a:p>
            <a:r>
              <a:rPr lang="es-CO" dirty="0"/>
              <a:t>3. EL MODELO OSI</a:t>
            </a:r>
          </a:p>
        </p:txBody>
      </p:sp>
      <p:sp>
        <p:nvSpPr>
          <p:cNvPr id="3" name="CuadroTexto 2"/>
          <p:cNvSpPr txBox="1"/>
          <p:nvPr/>
        </p:nvSpPr>
        <p:spPr>
          <a:xfrm>
            <a:off x="1102776" y="1834334"/>
            <a:ext cx="10522091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CO" sz="2400" dirty="0"/>
              <a:t>OSI Es un modelo de comunicación Basado en 7 capas: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CO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CO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CO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CO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CO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CO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CO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CO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CO" sz="2400" dirty="0"/>
              <a:t>Cada capa lleva a cabo un conjunto de tareas que sumadas permiten mover los datos de EMISOR  a RECEPTOR a través del intercambio de estructuras de datos entre las capas de un mismo nodo.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CO" sz="2400" dirty="0"/>
          </a:p>
        </p:txBody>
      </p:sp>
      <p:sp>
        <p:nvSpPr>
          <p:cNvPr id="11" name="CuadroTexto 10"/>
          <p:cNvSpPr txBox="1"/>
          <p:nvPr/>
        </p:nvSpPr>
        <p:spPr>
          <a:xfrm>
            <a:off x="1102776" y="1372669"/>
            <a:ext cx="35427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400" b="1" dirty="0"/>
              <a:t>3.2 Generalidades de OSI </a:t>
            </a:r>
          </a:p>
        </p:txBody>
      </p:sp>
      <p:pic>
        <p:nvPicPr>
          <p:cNvPr id="12" name="Imagen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5384" y="2264090"/>
            <a:ext cx="2800350" cy="2886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76795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278082" y="392293"/>
            <a:ext cx="9601196" cy="1303867"/>
          </a:xfrm>
        </p:spPr>
        <p:txBody>
          <a:bodyPr/>
          <a:lstStyle/>
          <a:p>
            <a:r>
              <a:rPr lang="es-CO" dirty="0"/>
              <a:t>3. EL MODELO OSI</a:t>
            </a:r>
          </a:p>
        </p:txBody>
      </p:sp>
      <p:sp>
        <p:nvSpPr>
          <p:cNvPr id="3" name="CuadroTexto 2"/>
          <p:cNvSpPr txBox="1"/>
          <p:nvPr/>
        </p:nvSpPr>
        <p:spPr>
          <a:xfrm>
            <a:off x="1278082" y="2020115"/>
            <a:ext cx="1052209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CO" sz="2400" dirty="0"/>
              <a:t>CAPA DE APLICACIÓN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CO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CO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CO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CO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CO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CO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CO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CO" sz="2400" dirty="0"/>
          </a:p>
        </p:txBody>
      </p:sp>
      <p:sp>
        <p:nvSpPr>
          <p:cNvPr id="11" name="CuadroTexto 10"/>
          <p:cNvSpPr txBox="1"/>
          <p:nvPr/>
        </p:nvSpPr>
        <p:spPr>
          <a:xfrm>
            <a:off x="1089897" y="1465327"/>
            <a:ext cx="35427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400" b="1" dirty="0"/>
              <a:t>3.2 Generalidades de OSI </a:t>
            </a: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8248" y="2731509"/>
            <a:ext cx="4514850" cy="3057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53685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278082" y="384447"/>
            <a:ext cx="9601196" cy="1303867"/>
          </a:xfrm>
        </p:spPr>
        <p:txBody>
          <a:bodyPr/>
          <a:lstStyle/>
          <a:p>
            <a:r>
              <a:rPr lang="es-CO" dirty="0"/>
              <a:t>3. EL MODELO OSI</a:t>
            </a:r>
          </a:p>
        </p:txBody>
      </p:sp>
      <p:sp>
        <p:nvSpPr>
          <p:cNvPr id="3" name="CuadroTexto 2"/>
          <p:cNvSpPr txBox="1"/>
          <p:nvPr/>
        </p:nvSpPr>
        <p:spPr>
          <a:xfrm>
            <a:off x="1278082" y="1919146"/>
            <a:ext cx="1052209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CO" sz="2400" dirty="0"/>
              <a:t>CAPA DE PRESENTACIÓN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CO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CO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CO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CO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CO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CO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CO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CO" sz="2400" dirty="0"/>
          </a:p>
        </p:txBody>
      </p:sp>
      <p:sp>
        <p:nvSpPr>
          <p:cNvPr id="11" name="CuadroTexto 10"/>
          <p:cNvSpPr txBox="1"/>
          <p:nvPr/>
        </p:nvSpPr>
        <p:spPr>
          <a:xfrm>
            <a:off x="1141413" y="1457481"/>
            <a:ext cx="35427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400" b="1" dirty="0"/>
              <a:t>3.2 Generalidades de OSI </a:t>
            </a:r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4326" y="2707264"/>
            <a:ext cx="4486275" cy="3209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25810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278082" y="172360"/>
            <a:ext cx="9601196" cy="1303867"/>
          </a:xfrm>
        </p:spPr>
        <p:txBody>
          <a:bodyPr/>
          <a:lstStyle/>
          <a:p>
            <a:r>
              <a:rPr lang="es-CO" dirty="0"/>
              <a:t>3. EL MODELO OSI</a:t>
            </a:r>
          </a:p>
        </p:txBody>
      </p:sp>
      <p:sp>
        <p:nvSpPr>
          <p:cNvPr id="3" name="CuadroTexto 2"/>
          <p:cNvSpPr txBox="1"/>
          <p:nvPr/>
        </p:nvSpPr>
        <p:spPr>
          <a:xfrm>
            <a:off x="1278082" y="1858847"/>
            <a:ext cx="1052209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CO" sz="2400" dirty="0"/>
              <a:t>CAPA DE SESIÓN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CO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CO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CO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CO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CO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CO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CO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CO" sz="2400" dirty="0"/>
          </a:p>
        </p:txBody>
      </p:sp>
      <p:sp>
        <p:nvSpPr>
          <p:cNvPr id="11" name="CuadroTexto 10"/>
          <p:cNvSpPr txBox="1"/>
          <p:nvPr/>
        </p:nvSpPr>
        <p:spPr>
          <a:xfrm>
            <a:off x="1141412" y="1397182"/>
            <a:ext cx="35427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400" b="1" dirty="0"/>
              <a:t>3.2 Generalidades de OSI </a:t>
            </a:r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3866" y="2046436"/>
            <a:ext cx="4505325" cy="3867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92452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278082" y="172360"/>
            <a:ext cx="9601196" cy="1303867"/>
          </a:xfrm>
        </p:spPr>
        <p:txBody>
          <a:bodyPr/>
          <a:lstStyle/>
          <a:p>
            <a:r>
              <a:rPr lang="es-CO" dirty="0"/>
              <a:t>3. EL MODELO OSI</a:t>
            </a:r>
          </a:p>
        </p:txBody>
      </p:sp>
      <p:sp>
        <p:nvSpPr>
          <p:cNvPr id="3" name="CuadroTexto 2"/>
          <p:cNvSpPr txBox="1"/>
          <p:nvPr/>
        </p:nvSpPr>
        <p:spPr>
          <a:xfrm>
            <a:off x="1278082" y="1556944"/>
            <a:ext cx="1052209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CO" sz="2400" dirty="0"/>
              <a:t>CAPA DE TRANSPORTE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CO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CO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CO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CO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CO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CO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CO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CO" sz="2400" dirty="0"/>
          </a:p>
        </p:txBody>
      </p:sp>
      <p:sp>
        <p:nvSpPr>
          <p:cNvPr id="11" name="CuadroTexto 10"/>
          <p:cNvSpPr txBox="1"/>
          <p:nvPr/>
        </p:nvSpPr>
        <p:spPr>
          <a:xfrm>
            <a:off x="1141412" y="1095279"/>
            <a:ext cx="35427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400" b="1" dirty="0"/>
              <a:t>3.2 Generalidades de OSI </a:t>
            </a: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0829" y="2479863"/>
            <a:ext cx="4467225" cy="3362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74969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278082" y="172360"/>
            <a:ext cx="9601196" cy="1303867"/>
          </a:xfrm>
        </p:spPr>
        <p:txBody>
          <a:bodyPr/>
          <a:lstStyle/>
          <a:p>
            <a:r>
              <a:rPr lang="es-CO" dirty="0"/>
              <a:t>3. EL MODELO OSI</a:t>
            </a:r>
          </a:p>
        </p:txBody>
      </p:sp>
      <p:sp>
        <p:nvSpPr>
          <p:cNvPr id="3" name="CuadroTexto 2"/>
          <p:cNvSpPr txBox="1"/>
          <p:nvPr/>
        </p:nvSpPr>
        <p:spPr>
          <a:xfrm>
            <a:off x="1484144" y="1865569"/>
            <a:ext cx="1052209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CO" sz="2400" dirty="0"/>
              <a:t>CAPA DE RED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CO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CO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CO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CO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CO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CO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CO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CO" sz="2400" dirty="0"/>
          </a:p>
        </p:txBody>
      </p:sp>
      <p:sp>
        <p:nvSpPr>
          <p:cNvPr id="11" name="CuadroTexto 10"/>
          <p:cNvSpPr txBox="1"/>
          <p:nvPr/>
        </p:nvSpPr>
        <p:spPr>
          <a:xfrm>
            <a:off x="1278082" y="1245394"/>
            <a:ext cx="35427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400" b="1" dirty="0"/>
              <a:t>3.1 Generalidades de OSI </a:t>
            </a:r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6739" y="2549261"/>
            <a:ext cx="4467225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82392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278082" y="219664"/>
            <a:ext cx="9601196" cy="1303867"/>
          </a:xfrm>
        </p:spPr>
        <p:txBody>
          <a:bodyPr/>
          <a:lstStyle/>
          <a:p>
            <a:r>
              <a:rPr lang="es-CO" dirty="0"/>
              <a:t>3. EL MODELO OSI</a:t>
            </a:r>
          </a:p>
        </p:txBody>
      </p:sp>
      <p:sp>
        <p:nvSpPr>
          <p:cNvPr id="3" name="CuadroTexto 2"/>
          <p:cNvSpPr txBox="1"/>
          <p:nvPr/>
        </p:nvSpPr>
        <p:spPr>
          <a:xfrm>
            <a:off x="1278082" y="1754363"/>
            <a:ext cx="1052209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CO" sz="2400" dirty="0"/>
              <a:t>CAPA DE ENLACE DE DATOS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CO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CO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CO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CO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CO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CO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CO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CO" sz="2400" dirty="0"/>
          </a:p>
        </p:txBody>
      </p:sp>
      <p:sp>
        <p:nvSpPr>
          <p:cNvPr id="11" name="CuadroTexto 10"/>
          <p:cNvSpPr txBox="1"/>
          <p:nvPr/>
        </p:nvSpPr>
        <p:spPr>
          <a:xfrm>
            <a:off x="1141413" y="1292698"/>
            <a:ext cx="35427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400" b="1" dirty="0"/>
              <a:t>3.2 Generalidades de OSI </a:t>
            </a: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7442" y="2495031"/>
            <a:ext cx="4486275" cy="3476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43784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278082" y="181001"/>
            <a:ext cx="9601196" cy="1303867"/>
          </a:xfrm>
        </p:spPr>
        <p:txBody>
          <a:bodyPr/>
          <a:lstStyle/>
          <a:p>
            <a:r>
              <a:rPr lang="es-CO" dirty="0"/>
              <a:t>3. EL MODELO OSI</a:t>
            </a:r>
          </a:p>
        </p:txBody>
      </p:sp>
      <p:sp>
        <p:nvSpPr>
          <p:cNvPr id="3" name="CuadroTexto 2"/>
          <p:cNvSpPr txBox="1"/>
          <p:nvPr/>
        </p:nvSpPr>
        <p:spPr>
          <a:xfrm>
            <a:off x="1278082" y="1579614"/>
            <a:ext cx="10522091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CO" sz="2400" dirty="0"/>
              <a:t>CAPA FÍSICA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CO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CO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CO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CO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CO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CO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CO" sz="2400" dirty="0"/>
          </a:p>
        </p:txBody>
      </p:sp>
      <p:sp>
        <p:nvSpPr>
          <p:cNvPr id="11" name="CuadroTexto 10"/>
          <p:cNvSpPr txBox="1"/>
          <p:nvPr/>
        </p:nvSpPr>
        <p:spPr>
          <a:xfrm>
            <a:off x="1128535" y="1117949"/>
            <a:ext cx="35427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400" b="1" dirty="0"/>
              <a:t>3.2 Generalidades de OSI </a:t>
            </a:r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4533" y="2232679"/>
            <a:ext cx="4467225" cy="396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05883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268055" y="209400"/>
            <a:ext cx="9601196" cy="1303867"/>
          </a:xfrm>
        </p:spPr>
        <p:txBody>
          <a:bodyPr/>
          <a:lstStyle/>
          <a:p>
            <a:r>
              <a:rPr lang="es-CO" dirty="0"/>
              <a:t>3. EL MODELO OSI</a:t>
            </a:r>
          </a:p>
        </p:txBody>
      </p:sp>
      <p:sp>
        <p:nvSpPr>
          <p:cNvPr id="11" name="CuadroTexto 10"/>
          <p:cNvSpPr txBox="1"/>
          <p:nvPr/>
        </p:nvSpPr>
        <p:spPr>
          <a:xfrm>
            <a:off x="1154292" y="1282434"/>
            <a:ext cx="44884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400" b="1" dirty="0"/>
              <a:t>3.3 Encapsulamiento de los datos</a:t>
            </a: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2111601"/>
            <a:ext cx="11734800" cy="312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66070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76048" y="215729"/>
            <a:ext cx="9601196" cy="1303867"/>
          </a:xfrm>
        </p:spPr>
        <p:txBody>
          <a:bodyPr/>
          <a:lstStyle/>
          <a:p>
            <a:r>
              <a:rPr lang="es-CO" dirty="0"/>
              <a:t>3. EL MODELO OSI</a:t>
            </a:r>
          </a:p>
        </p:txBody>
      </p:sp>
      <p:sp>
        <p:nvSpPr>
          <p:cNvPr id="11" name="CuadroTexto 10"/>
          <p:cNvSpPr txBox="1"/>
          <p:nvPr/>
        </p:nvSpPr>
        <p:spPr>
          <a:xfrm>
            <a:off x="1176048" y="1465327"/>
            <a:ext cx="33367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400" b="1" dirty="0"/>
              <a:t>3.4 Por qué fracasó OSI?</a:t>
            </a:r>
          </a:p>
        </p:txBody>
      </p:sp>
      <p:sp>
        <p:nvSpPr>
          <p:cNvPr id="3" name="CuadroTexto 2"/>
          <p:cNvSpPr txBox="1"/>
          <p:nvPr/>
        </p:nvSpPr>
        <p:spPr>
          <a:xfrm>
            <a:off x="1176048" y="2334389"/>
            <a:ext cx="987136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CO" sz="2400" dirty="0"/>
              <a:t>La principal razón por la que OSI fracasó en su intento de establecerse como estándar en el proceso de comunicación fue que ya se usaba ampliamente la familia de protocolos TCP/IP en la comunicaciones.</a:t>
            </a:r>
          </a:p>
          <a:p>
            <a:pPr algn="just"/>
            <a:endParaRPr lang="es-CO" sz="2400" dirty="0"/>
          </a:p>
          <a:p>
            <a:pPr algn="just"/>
            <a:r>
              <a:rPr lang="es-CO" sz="2400" dirty="0"/>
              <a:t>Por otra parte, muchas empresas lo vieron como que se trataba de imponer el modelo de IBM llamado SNA que de manera similar a OSI consta de 7 capas.</a:t>
            </a:r>
          </a:p>
        </p:txBody>
      </p:sp>
    </p:spTree>
    <p:extLst>
      <p:ext uri="{BB962C8B-B14F-4D97-AF65-F5344CB8AC3E}">
        <p14:creationId xmlns:p14="http://schemas.microsoft.com/office/powerpoint/2010/main" val="18566632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385554" y="183923"/>
            <a:ext cx="9601196" cy="1303867"/>
          </a:xfrm>
        </p:spPr>
        <p:txBody>
          <a:bodyPr/>
          <a:lstStyle/>
          <a:p>
            <a:r>
              <a:rPr lang="es-CO" dirty="0"/>
              <a:t>3. EL MODELO OSI</a:t>
            </a:r>
          </a:p>
        </p:txBody>
      </p:sp>
      <p:sp>
        <p:nvSpPr>
          <p:cNvPr id="11" name="CuadroTexto 10"/>
          <p:cNvSpPr txBox="1"/>
          <p:nvPr/>
        </p:nvSpPr>
        <p:spPr>
          <a:xfrm>
            <a:off x="1141413" y="1696160"/>
            <a:ext cx="65026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400" b="1" dirty="0"/>
              <a:t>3.5 Por qué se estudia OSI a pesar de su fracaso?</a:t>
            </a:r>
          </a:p>
        </p:txBody>
      </p:sp>
      <p:sp>
        <p:nvSpPr>
          <p:cNvPr id="3" name="CuadroTexto 2"/>
          <p:cNvSpPr txBox="1"/>
          <p:nvPr/>
        </p:nvSpPr>
        <p:spPr>
          <a:xfrm>
            <a:off x="1226127" y="2574565"/>
            <a:ext cx="915439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CO" sz="2400" dirty="0"/>
              <a:t>A pesar de no se implementó, OSI es un modelo de referencia para explicar de una manera sencilla el proceso de comunicación en una red</a:t>
            </a:r>
          </a:p>
        </p:txBody>
      </p:sp>
    </p:spTree>
    <p:extLst>
      <p:ext uri="{BB962C8B-B14F-4D97-AF65-F5344CB8AC3E}">
        <p14:creationId xmlns:p14="http://schemas.microsoft.com/office/powerpoint/2010/main" val="20813864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/>
          <p:cNvSpPr>
            <a:spLocks noGrp="1"/>
          </p:cNvSpPr>
          <p:nvPr>
            <p:ph type="title"/>
          </p:nvPr>
        </p:nvSpPr>
        <p:spPr>
          <a:xfrm>
            <a:off x="1141413" y="62587"/>
            <a:ext cx="9905998" cy="1478570"/>
          </a:xfrm>
        </p:spPr>
        <p:txBody>
          <a:bodyPr/>
          <a:lstStyle/>
          <a:p>
            <a:r>
              <a:rPr lang="es-CO" dirty="0"/>
              <a:t>3. EL MODELO OSI</a:t>
            </a:r>
          </a:p>
        </p:txBody>
      </p:sp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7E05147D-3D66-4A64-B7F6-E57FDFAA5E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0722686"/>
              </p:ext>
            </p:extLst>
          </p:nvPr>
        </p:nvGraphicFramePr>
        <p:xfrm>
          <a:off x="780176" y="1541157"/>
          <a:ext cx="10603685" cy="4577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5244">
                  <a:extLst>
                    <a:ext uri="{9D8B030D-6E8A-4147-A177-3AD203B41FA5}">
                      <a16:colId xmlns:a16="http://schemas.microsoft.com/office/drawing/2014/main" val="73940836"/>
                    </a:ext>
                  </a:extLst>
                </a:gridCol>
                <a:gridCol w="8808441">
                  <a:extLst>
                    <a:ext uri="{9D8B030D-6E8A-4147-A177-3AD203B41FA5}">
                      <a16:colId xmlns:a16="http://schemas.microsoft.com/office/drawing/2014/main" val="317053498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ES" sz="1600" dirty="0"/>
                        <a:t>APLICACION</a:t>
                      </a:r>
                      <a:endParaRPr lang="es-CO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600" b="1" dirty="0"/>
                        <a:t>ISO 8649</a:t>
                      </a:r>
                      <a:r>
                        <a:rPr lang="es-ES" sz="1600" dirty="0"/>
                        <a:t> – </a:t>
                      </a:r>
                      <a:r>
                        <a:rPr lang="es-ES" sz="1600" b="1" dirty="0"/>
                        <a:t>FTAM (File Transfer, Access and Management)</a:t>
                      </a:r>
                      <a:r>
                        <a:rPr lang="es-ES" sz="1600" dirty="0"/>
                        <a:t>: </a:t>
                      </a:r>
                      <a:r>
                        <a:rPr lang="es-ES" sz="1600" b="0" dirty="0"/>
                        <a:t>Este protocolo se propuso para la Capa de Aplicación (Capa 7) y se utilizaba para la transferencia y gestión de archivos entre sistemas.</a:t>
                      </a:r>
                      <a:endParaRPr lang="es-CO" sz="16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38650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400" dirty="0"/>
                        <a:t>PRESENTACION</a:t>
                      </a:r>
                      <a:endParaRPr lang="es-CO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600" dirty="0"/>
                        <a:t>protocolo </a:t>
                      </a:r>
                      <a:r>
                        <a:rPr lang="es-ES" sz="1600" b="1" dirty="0"/>
                        <a:t>X.215</a:t>
                      </a:r>
                      <a:r>
                        <a:rPr lang="es-ES" sz="1600" dirty="0"/>
                        <a:t>, que se llama </a:t>
                      </a:r>
                      <a:r>
                        <a:rPr lang="es-ES" sz="1600" b="1" dirty="0"/>
                        <a:t>Protocolo de presentación de datos OSI</a:t>
                      </a:r>
                      <a:r>
                        <a:rPr lang="es-ES" sz="1600" dirty="0"/>
                        <a:t> (OSI </a:t>
                      </a:r>
                      <a:r>
                        <a:rPr lang="es-ES" sz="1600" dirty="0" err="1"/>
                        <a:t>Presentation</a:t>
                      </a:r>
                      <a:r>
                        <a:rPr lang="es-ES" sz="1600" dirty="0"/>
                        <a:t> </a:t>
                      </a:r>
                      <a:r>
                        <a:rPr lang="es-ES" sz="1600" dirty="0" err="1"/>
                        <a:t>Protocol</a:t>
                      </a:r>
                      <a:r>
                        <a:rPr lang="es-ES" sz="1600" dirty="0"/>
                        <a:t>). Este protocolo se diseñó para proporcionar servicios de conversión, cifrado y compresión de datos entre sistemas.</a:t>
                      </a:r>
                      <a:endParaRPr lang="es-CO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60751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400" dirty="0"/>
                        <a:t>SESION</a:t>
                      </a:r>
                      <a:endParaRPr lang="es-CO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600" b="1" dirty="0"/>
                        <a:t>ISO 7498-3 </a:t>
                      </a:r>
                      <a:r>
                        <a:rPr lang="es-ES" sz="1600" dirty="0"/>
                        <a:t>– </a:t>
                      </a:r>
                      <a:r>
                        <a:rPr lang="es-ES" sz="1600" b="1" dirty="0"/>
                        <a:t>OSI </a:t>
                      </a:r>
                      <a:r>
                        <a:rPr lang="es-ES" sz="1600" b="1" dirty="0" err="1"/>
                        <a:t>Session</a:t>
                      </a:r>
                      <a:r>
                        <a:rPr lang="es-ES" sz="1600" b="1" dirty="0"/>
                        <a:t> </a:t>
                      </a:r>
                      <a:r>
                        <a:rPr lang="es-ES" sz="1600" b="1" dirty="0" err="1"/>
                        <a:t>Protocol</a:t>
                      </a:r>
                      <a:r>
                        <a:rPr lang="es-ES" sz="1600" dirty="0"/>
                        <a:t>: Proponía cómo manejar la Capa de Sesión (Capa 5), ayudando en la sincronización y recuperación de datos entre aplicaciones.</a:t>
                      </a:r>
                      <a:endParaRPr lang="es-CO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66351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400" dirty="0"/>
                        <a:t>TRANSPORTE</a:t>
                      </a:r>
                      <a:endParaRPr lang="es-CO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600" b="1" dirty="0"/>
                        <a:t>ISO 8878</a:t>
                      </a:r>
                      <a:r>
                        <a:rPr lang="es-ES" sz="1600" dirty="0"/>
                        <a:t> – </a:t>
                      </a:r>
                      <a:r>
                        <a:rPr lang="es-ES" sz="1600" b="1" dirty="0"/>
                        <a:t>ISO </a:t>
                      </a:r>
                      <a:r>
                        <a:rPr lang="es-ES" sz="1600" b="1" dirty="0" err="1"/>
                        <a:t>Transport</a:t>
                      </a:r>
                      <a:r>
                        <a:rPr lang="es-ES" sz="1600" b="1" dirty="0"/>
                        <a:t> </a:t>
                      </a:r>
                      <a:r>
                        <a:rPr lang="es-ES" sz="1600" b="1" dirty="0" err="1"/>
                        <a:t>Protocol</a:t>
                      </a:r>
                      <a:r>
                        <a:rPr lang="es-ES" sz="1600" dirty="0"/>
                        <a:t> (ISO TP0, TP1, TP2, TP3, etc.): Estos protocolos fueron propuestos para la </a:t>
                      </a:r>
                      <a:r>
                        <a:rPr lang="es-ES" sz="1600" b="1" dirty="0"/>
                        <a:t>Capa de Transporte</a:t>
                      </a:r>
                      <a:r>
                        <a:rPr lang="es-ES" sz="1600" dirty="0"/>
                        <a:t> (Capa 4) y estaban diseñados para proporcionar servicios de transporte confiables, similares al protocolo TCP en el modelo TCP/IP.</a:t>
                      </a:r>
                      <a:endParaRPr lang="es-CO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33409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400" dirty="0"/>
                        <a:t>RED</a:t>
                      </a:r>
                      <a:endParaRPr lang="es-CO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600" b="1" dirty="0"/>
                        <a:t>ISO 8473</a:t>
                      </a:r>
                      <a:r>
                        <a:rPr lang="es-ES" sz="1600" dirty="0"/>
                        <a:t> – </a:t>
                      </a:r>
                      <a:r>
                        <a:rPr lang="es-ES" sz="1600" b="1" dirty="0"/>
                        <a:t>CLNP (</a:t>
                      </a:r>
                      <a:r>
                        <a:rPr lang="es-ES" sz="1600" b="1" dirty="0" err="1"/>
                        <a:t>Connectionless</a:t>
                      </a:r>
                      <a:r>
                        <a:rPr lang="es-ES" sz="1600" b="1" dirty="0"/>
                        <a:t> Network </a:t>
                      </a:r>
                      <a:r>
                        <a:rPr lang="es-ES" sz="1600" b="1" dirty="0" err="1"/>
                        <a:t>Protocol</a:t>
                      </a:r>
                      <a:r>
                        <a:rPr lang="es-ES" sz="1600" b="1" dirty="0"/>
                        <a:t>)</a:t>
                      </a:r>
                      <a:r>
                        <a:rPr lang="es-ES" sz="1600" dirty="0"/>
                        <a:t>: Este protocolo fue propuesto para la </a:t>
                      </a:r>
                      <a:r>
                        <a:rPr lang="es-ES" sz="1600" b="1" dirty="0"/>
                        <a:t>Capa de Red</a:t>
                      </a:r>
                      <a:r>
                        <a:rPr lang="es-ES" sz="1600" dirty="0"/>
                        <a:t> (Capa 3) del modelo OSI. Su propósito era proporcionar la entrega de datos sin establecer una conexión, similar a lo que hace IP (Internet </a:t>
                      </a:r>
                      <a:r>
                        <a:rPr lang="es-ES" sz="1600" dirty="0" err="1"/>
                        <a:t>Protocol</a:t>
                      </a:r>
                      <a:r>
                        <a:rPr lang="es-ES" sz="1600" dirty="0"/>
                        <a:t>) en el modelo TCP/IP.</a:t>
                      </a:r>
                      <a:endParaRPr lang="es-CO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32921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400" dirty="0"/>
                        <a:t>ENLACE DE DATOS</a:t>
                      </a:r>
                      <a:endParaRPr lang="es-CO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600" b="1" dirty="0"/>
                        <a:t>X.25 </a:t>
                      </a:r>
                      <a:r>
                        <a:rPr lang="es-ES" sz="1600" dirty="0"/>
                        <a:t>- Este protocolo estaba destinado a la </a:t>
                      </a:r>
                      <a:r>
                        <a:rPr lang="es-ES" sz="1600" b="1" dirty="0"/>
                        <a:t>Capa de Enlace de Datos</a:t>
                      </a:r>
                      <a:r>
                        <a:rPr lang="es-ES" sz="1600" dirty="0"/>
                        <a:t> y la </a:t>
                      </a:r>
                      <a:r>
                        <a:rPr lang="es-ES" sz="1600" b="1" dirty="0"/>
                        <a:t>Capa de Red</a:t>
                      </a:r>
                      <a:r>
                        <a:rPr lang="es-ES" sz="1600" dirty="0"/>
                        <a:t>. es un protocolo de conmutación de paquetes de la </a:t>
                      </a:r>
                      <a:r>
                        <a:rPr lang="es-ES" sz="1600" b="1" dirty="0"/>
                        <a:t>ITU-T</a:t>
                      </a:r>
                      <a:r>
                        <a:rPr lang="es-ES" sz="1600" dirty="0"/>
                        <a:t> que fue ampliamente utilizado en redes de área extensa (WAN) antes de que el protocolo IP tomara el liderazgo.</a:t>
                      </a:r>
                      <a:endParaRPr lang="es-CO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99440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400" dirty="0"/>
                        <a:t>FÍSICA</a:t>
                      </a:r>
                      <a:endParaRPr lang="es-CO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O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2439895"/>
                  </a:ext>
                </a:extLst>
              </a:tr>
            </a:tbl>
          </a:graphicData>
        </a:graphic>
      </p:graphicFrame>
      <p:graphicFrame>
        <p:nvGraphicFramePr>
          <p:cNvPr id="7" name="Tabla 6">
            <a:extLst>
              <a:ext uri="{FF2B5EF4-FFF2-40B4-BE49-F238E27FC236}">
                <a16:creationId xmlns:a16="http://schemas.microsoft.com/office/drawing/2014/main" id="{961394CE-3E02-4C21-97B2-420ADB0D94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5057215"/>
              </p:ext>
            </p:extLst>
          </p:nvPr>
        </p:nvGraphicFramePr>
        <p:xfrm>
          <a:off x="808139" y="1148050"/>
          <a:ext cx="10525388" cy="393107"/>
        </p:xfrm>
        <a:graphic>
          <a:graphicData uri="http://schemas.openxmlformats.org/drawingml/2006/table">
            <a:tbl>
              <a:tblPr/>
              <a:tblGrid>
                <a:gridCol w="1758892">
                  <a:extLst>
                    <a:ext uri="{9D8B030D-6E8A-4147-A177-3AD203B41FA5}">
                      <a16:colId xmlns:a16="http://schemas.microsoft.com/office/drawing/2014/main" val="844537047"/>
                    </a:ext>
                  </a:extLst>
                </a:gridCol>
                <a:gridCol w="8766496">
                  <a:extLst>
                    <a:ext uri="{9D8B030D-6E8A-4147-A177-3AD203B41FA5}">
                      <a16:colId xmlns:a16="http://schemas.microsoft.com/office/drawing/2014/main" val="2404285471"/>
                    </a:ext>
                  </a:extLst>
                </a:gridCol>
              </a:tblGrid>
              <a:tr h="393107">
                <a:tc>
                  <a:txBody>
                    <a:bodyPr/>
                    <a:lstStyle/>
                    <a:p>
                      <a:pPr algn="ctr"/>
                      <a:r>
                        <a:rPr lang="es-ES" b="1" dirty="0"/>
                        <a:t>CAPA</a:t>
                      </a:r>
                      <a:endParaRPr lang="es-CO" b="1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b="1" dirty="0"/>
                        <a:t>PROTOCOLOS</a:t>
                      </a:r>
                      <a:endParaRPr lang="es-CO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8590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041839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/>
          <p:cNvSpPr>
            <a:spLocks noGrp="1"/>
          </p:cNvSpPr>
          <p:nvPr>
            <p:ph type="title"/>
          </p:nvPr>
        </p:nvSpPr>
        <p:spPr>
          <a:xfrm>
            <a:off x="1141413" y="62587"/>
            <a:ext cx="9905998" cy="1478570"/>
          </a:xfrm>
        </p:spPr>
        <p:txBody>
          <a:bodyPr/>
          <a:lstStyle/>
          <a:p>
            <a:r>
              <a:rPr lang="es-CO" dirty="0"/>
              <a:t>3. EL MODELO OSI</a:t>
            </a:r>
          </a:p>
        </p:txBody>
      </p:sp>
      <p:sp>
        <p:nvSpPr>
          <p:cNvPr id="4" name="CuadroTexto 3"/>
          <p:cNvSpPr txBox="1"/>
          <p:nvPr/>
        </p:nvSpPr>
        <p:spPr>
          <a:xfrm>
            <a:off x="1207511" y="1348942"/>
            <a:ext cx="1012897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400" b="1" dirty="0"/>
              <a:t>Actividad:</a:t>
            </a:r>
          </a:p>
          <a:p>
            <a:pPr marL="457200" indent="-457200" algn="just">
              <a:buAutoNum type="arabicPeriod"/>
            </a:pPr>
            <a:r>
              <a:rPr lang="es-CO" sz="2400" b="1" dirty="0"/>
              <a:t>Explique el funcionamiento de las capas de OSI del lado del RECEPTOR una vez llega la trama por el medio o canal a la Capa Física.</a:t>
            </a:r>
          </a:p>
          <a:p>
            <a:pPr marL="457200" indent="-457200" algn="just">
              <a:buAutoNum type="arabicPeriod"/>
            </a:pPr>
            <a:endParaRPr lang="es-CO" sz="2400" b="1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1825" y="2709532"/>
            <a:ext cx="5619750" cy="2990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06830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/>
          <p:cNvSpPr>
            <a:spLocks noGrp="1"/>
          </p:cNvSpPr>
          <p:nvPr>
            <p:ph type="title"/>
          </p:nvPr>
        </p:nvSpPr>
        <p:spPr>
          <a:xfrm>
            <a:off x="1141413" y="62587"/>
            <a:ext cx="9905998" cy="1478570"/>
          </a:xfrm>
        </p:spPr>
        <p:txBody>
          <a:bodyPr/>
          <a:lstStyle/>
          <a:p>
            <a:r>
              <a:rPr lang="es-CO" dirty="0"/>
              <a:t>3. EL MODELO OSI</a:t>
            </a:r>
          </a:p>
        </p:txBody>
      </p:sp>
      <p:sp>
        <p:nvSpPr>
          <p:cNvPr id="4" name="CuadroTexto 3"/>
          <p:cNvSpPr txBox="1"/>
          <p:nvPr/>
        </p:nvSpPr>
        <p:spPr>
          <a:xfrm>
            <a:off x="1141413" y="1063927"/>
            <a:ext cx="1012897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400" b="1" dirty="0"/>
              <a:t>Actividad:</a:t>
            </a:r>
          </a:p>
          <a:p>
            <a:r>
              <a:rPr lang="es-CO" sz="2400" b="1" dirty="0"/>
              <a:t>2. Ubique la capa máxima en la que opera cada uno de los siguientes elementos:</a:t>
            </a:r>
          </a:p>
          <a:p>
            <a:endParaRPr lang="es-CO" sz="24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CO" sz="2400" b="1" dirty="0"/>
          </a:p>
          <a:p>
            <a:endParaRPr lang="es-CO" sz="24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CO" sz="24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CO" sz="2400" b="1" dirty="0"/>
          </a:p>
          <a:p>
            <a:pPr marL="457200" indent="-457200" algn="just">
              <a:buAutoNum type="arabicPeriod"/>
            </a:pPr>
            <a:endParaRPr lang="es-CO" sz="2400" b="1" dirty="0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3518" y="2143558"/>
            <a:ext cx="2268569" cy="1160751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9907" y="1868986"/>
            <a:ext cx="2795265" cy="2236212"/>
          </a:xfrm>
          <a:prstGeom prst="rect">
            <a:avLst/>
          </a:prstGeom>
        </p:spPr>
      </p:pic>
      <p:sp>
        <p:nvSpPr>
          <p:cNvPr id="8" name="CuadroTexto 7"/>
          <p:cNvSpPr txBox="1"/>
          <p:nvPr/>
        </p:nvSpPr>
        <p:spPr>
          <a:xfrm>
            <a:off x="9075365" y="1985269"/>
            <a:ext cx="1023037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400" b="1" dirty="0" err="1"/>
              <a:t>Switch</a:t>
            </a:r>
            <a:endParaRPr lang="es-CO" sz="2400" b="1" dirty="0"/>
          </a:p>
          <a:p>
            <a:endParaRPr lang="es-CO" dirty="0"/>
          </a:p>
        </p:txBody>
      </p:sp>
      <p:pic>
        <p:nvPicPr>
          <p:cNvPr id="9" name="Imagen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6636" y="4003017"/>
            <a:ext cx="3641166" cy="1866147"/>
          </a:xfrm>
          <a:prstGeom prst="rect">
            <a:avLst/>
          </a:prstGeom>
        </p:spPr>
      </p:pic>
      <p:sp>
        <p:nvSpPr>
          <p:cNvPr id="10" name="Rectángulo 9"/>
          <p:cNvSpPr/>
          <p:nvPr/>
        </p:nvSpPr>
        <p:spPr>
          <a:xfrm>
            <a:off x="1763984" y="5407499"/>
            <a:ext cx="108446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sz="2400" b="1" dirty="0" err="1"/>
              <a:t>Router</a:t>
            </a:r>
            <a:r>
              <a:rPr lang="es-CO" sz="2400" b="1" dirty="0"/>
              <a:t> </a:t>
            </a:r>
          </a:p>
        </p:txBody>
      </p:sp>
      <p:sp>
        <p:nvSpPr>
          <p:cNvPr id="11" name="Rectángulo 10"/>
          <p:cNvSpPr/>
          <p:nvPr/>
        </p:nvSpPr>
        <p:spPr>
          <a:xfrm>
            <a:off x="4057350" y="3284331"/>
            <a:ext cx="200958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O" sz="2400" b="1" dirty="0"/>
              <a:t>Tarjeta de Red</a:t>
            </a:r>
          </a:p>
        </p:txBody>
      </p:sp>
      <p:pic>
        <p:nvPicPr>
          <p:cNvPr id="12" name="Imagen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6332" y="4042366"/>
            <a:ext cx="2246168" cy="2264680"/>
          </a:xfrm>
          <a:prstGeom prst="rect">
            <a:avLst/>
          </a:prstGeom>
        </p:spPr>
      </p:pic>
      <p:sp>
        <p:nvSpPr>
          <p:cNvPr id="13" name="CuadroTexto 12"/>
          <p:cNvSpPr txBox="1"/>
          <p:nvPr/>
        </p:nvSpPr>
        <p:spPr>
          <a:xfrm>
            <a:off x="8174502" y="5352905"/>
            <a:ext cx="1048685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400" b="1" dirty="0"/>
              <a:t>Cables</a:t>
            </a:r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228677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/>
          <p:cNvSpPr>
            <a:spLocks noGrp="1"/>
          </p:cNvSpPr>
          <p:nvPr>
            <p:ph type="title"/>
          </p:nvPr>
        </p:nvSpPr>
        <p:spPr>
          <a:xfrm>
            <a:off x="1141413" y="62587"/>
            <a:ext cx="9905998" cy="1478570"/>
          </a:xfrm>
        </p:spPr>
        <p:txBody>
          <a:bodyPr/>
          <a:lstStyle/>
          <a:p>
            <a:r>
              <a:rPr lang="es-CO" dirty="0"/>
              <a:t>4. ETHERNET</a:t>
            </a:r>
          </a:p>
        </p:txBody>
      </p:sp>
      <p:sp>
        <p:nvSpPr>
          <p:cNvPr id="4" name="CuadroTexto 3"/>
          <p:cNvSpPr txBox="1"/>
          <p:nvPr/>
        </p:nvSpPr>
        <p:spPr>
          <a:xfrm>
            <a:off x="1217902" y="1348942"/>
            <a:ext cx="4249881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400" b="1" dirty="0"/>
              <a:t>Preguntas guía:</a:t>
            </a:r>
          </a:p>
          <a:p>
            <a:endParaRPr lang="es-CO" sz="2400" b="1" dirty="0"/>
          </a:p>
          <a:p>
            <a:pPr marL="457200" indent="-457200">
              <a:buAutoNum type="arabicPeriod"/>
            </a:pPr>
            <a:r>
              <a:rPr lang="es-CO" sz="2400" b="1" dirty="0"/>
              <a:t>Qué es ETHERNET?</a:t>
            </a:r>
          </a:p>
          <a:p>
            <a:pPr marL="457200" indent="-457200">
              <a:buAutoNum type="arabicPeriod"/>
            </a:pPr>
            <a:r>
              <a:rPr lang="es-CO" sz="2400" b="1" dirty="0"/>
              <a:t>Cómo surge ETHERNET?</a:t>
            </a:r>
          </a:p>
          <a:p>
            <a:pPr marL="457200" indent="-457200">
              <a:buAutoNum type="arabicPeriod"/>
            </a:pPr>
            <a:r>
              <a:rPr lang="es-CO" sz="2400" b="1" dirty="0"/>
              <a:t>Ethernet bajo OSI</a:t>
            </a:r>
          </a:p>
          <a:p>
            <a:endParaRPr lang="es-CO" sz="2400" b="1" dirty="0"/>
          </a:p>
        </p:txBody>
      </p:sp>
    </p:spTree>
    <p:extLst>
      <p:ext uri="{BB962C8B-B14F-4D97-AF65-F5344CB8AC3E}">
        <p14:creationId xmlns:p14="http://schemas.microsoft.com/office/powerpoint/2010/main" val="83359659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ánico">
  <a:themeElements>
    <a:clrScheme name="Orgánico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ánico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ánico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92394BB0E6A3974F92979CC7014A66BE" ma:contentTypeVersion="4" ma:contentTypeDescription="Crear nuevo documento." ma:contentTypeScope="" ma:versionID="25b822d01e6326c6c6a3be70296d39f5">
  <xsd:schema xmlns:xsd="http://www.w3.org/2001/XMLSchema" xmlns:xs="http://www.w3.org/2001/XMLSchema" xmlns:p="http://schemas.microsoft.com/office/2006/metadata/properties" xmlns:ns2="c190a762-8ace-4dde-8610-f60417de3a92" targetNamespace="http://schemas.microsoft.com/office/2006/metadata/properties" ma:root="true" ma:fieldsID="e96a2350358351b3d6c91d8c867ba915" ns2:_="">
    <xsd:import namespace="c190a762-8ace-4dde-8610-f60417de3a9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190a762-8ace-4dde-8610-f60417de3a9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66902A0-0780-4569-B448-00D8F29D7578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0A4AFD46-F0ED-4353-B3FE-27957F64D34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C16D00F-A42E-428D-A9F2-6C7A86B29666}"/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817</TotalTime>
  <Words>687</Words>
  <Application>Microsoft Office PowerPoint</Application>
  <PresentationFormat>Panorámica</PresentationFormat>
  <Paragraphs>128</Paragraphs>
  <Slides>17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1" baseType="lpstr">
      <vt:lpstr>Arial</vt:lpstr>
      <vt:lpstr>Calibri</vt:lpstr>
      <vt:lpstr>Garamond</vt:lpstr>
      <vt:lpstr>Orgánico</vt:lpstr>
      <vt:lpstr>3. El Modelo OSI  </vt:lpstr>
      <vt:lpstr>3. EL MODELO OSI</vt:lpstr>
      <vt:lpstr>3. EL MODELO OSI</vt:lpstr>
      <vt:lpstr>3. EL MODELO OSI</vt:lpstr>
      <vt:lpstr>3. EL MODELO OSI</vt:lpstr>
      <vt:lpstr>3. EL MODELO OSI</vt:lpstr>
      <vt:lpstr>3. EL MODELO OSI</vt:lpstr>
      <vt:lpstr>3. EL MODELO OSI</vt:lpstr>
      <vt:lpstr>3. EL MODELO OSI</vt:lpstr>
      <vt:lpstr>3. EL MODELO OSI</vt:lpstr>
      <vt:lpstr>3. EL MODELO OSI</vt:lpstr>
      <vt:lpstr>3. EL MODELO OSI</vt:lpstr>
      <vt:lpstr>3. EL MODELO OSI</vt:lpstr>
      <vt:lpstr>3. EL MODELO OSI</vt:lpstr>
      <vt:lpstr>3. EL MODELO OSI</vt:lpstr>
      <vt:lpstr>3. EL MODELO OSI</vt:lpstr>
      <vt:lpstr>4. ETHERNET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ERNESTO</dc:creator>
  <cp:lastModifiedBy>Ernesto Jose Garcia Puche</cp:lastModifiedBy>
  <cp:revision>67</cp:revision>
  <dcterms:created xsi:type="dcterms:W3CDTF">2020-07-24T11:48:35Z</dcterms:created>
  <dcterms:modified xsi:type="dcterms:W3CDTF">2025-02-11T15:24:20Z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0x01010092394BB0E6A3974F92979CC7014A66BE</vt:lpwstr>
  </property>
</Properties>
</file>