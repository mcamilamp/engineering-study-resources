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7"/>
  </p:notesMasterIdLst>
  <p:sldIdLst>
    <p:sldId id="257" r:id="rId5"/>
    <p:sldId id="269" r:id="rId6"/>
    <p:sldId id="270" r:id="rId7"/>
    <p:sldId id="261" r:id="rId8"/>
    <p:sldId id="262" r:id="rId9"/>
    <p:sldId id="268" r:id="rId10"/>
    <p:sldId id="263" r:id="rId11"/>
    <p:sldId id="264" r:id="rId12"/>
    <p:sldId id="265" r:id="rId13"/>
    <p:sldId id="266" r:id="rId14"/>
    <p:sldId id="271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32966-0608-79C9-F8E3-F03E404727C8}" v="42" dt="2025-02-05T14:43:51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6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nesto Jose Garcia Puche" userId="S::egarciap@unimagdalena.edu.co::285fe9a1-efd9-4ded-b802-6981f9cc2b5b" providerId="AD" clId="Web-{3C332966-0608-79C9-F8E3-F03E404727C8}"/>
    <pc:docChg chg="modSld">
      <pc:chgData name="Ernesto Jose Garcia Puche" userId="S::egarciap@unimagdalena.edu.co::285fe9a1-efd9-4ded-b802-6981f9cc2b5b" providerId="AD" clId="Web-{3C332966-0608-79C9-F8E3-F03E404727C8}" dt="2025-02-05T14:43:51.732" v="36"/>
      <pc:docMkLst>
        <pc:docMk/>
      </pc:docMkLst>
      <pc:sldChg chg="addSp delSp modSp">
        <pc:chgData name="Ernesto Jose Garcia Puche" userId="S::egarciap@unimagdalena.edu.co::285fe9a1-efd9-4ded-b802-6981f9cc2b5b" providerId="AD" clId="Web-{3C332966-0608-79C9-F8E3-F03E404727C8}" dt="2025-02-05T14:43:51.732" v="36"/>
        <pc:sldMkLst>
          <pc:docMk/>
          <pc:sldMk cId="4004183961" sldId="266"/>
        </pc:sldMkLst>
        <pc:spChg chg="add del">
          <ac:chgData name="Ernesto Jose Garcia Puche" userId="S::egarciap@unimagdalena.edu.co::285fe9a1-efd9-4ded-b802-6981f9cc2b5b" providerId="AD" clId="Web-{3C332966-0608-79C9-F8E3-F03E404727C8}" dt="2025-02-05T14:43:18.388" v="25"/>
          <ac:spMkLst>
            <pc:docMk/>
            <pc:sldMk cId="4004183961" sldId="266"/>
            <ac:spMk id="2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25.325" v="27"/>
          <ac:spMkLst>
            <pc:docMk/>
            <pc:sldMk cId="4004183961" sldId="266"/>
            <ac:spMk id="9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13.294" v="24"/>
          <ac:spMkLst>
            <pc:docMk/>
            <pc:sldMk cId="4004183961" sldId="266"/>
            <ac:spMk id="10" creationId="{00000000-0000-0000-0000-000000000000}"/>
          </ac:spMkLst>
        </pc:spChg>
        <pc:spChg chg="add del mod">
          <ac:chgData name="Ernesto Jose Garcia Puche" userId="S::egarciap@unimagdalena.edu.co::285fe9a1-efd9-4ded-b802-6981f9cc2b5b" providerId="AD" clId="Web-{3C332966-0608-79C9-F8E3-F03E404727C8}" dt="2025-02-05T14:43:51.732" v="36"/>
          <ac:spMkLst>
            <pc:docMk/>
            <pc:sldMk cId="4004183961" sldId="266"/>
            <ac:spMk id="11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40.248" v="31"/>
          <ac:spMkLst>
            <pc:docMk/>
            <pc:sldMk cId="4004183961" sldId="266"/>
            <ac:spMk id="12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01.934" v="19"/>
          <ac:spMkLst>
            <pc:docMk/>
            <pc:sldMk cId="4004183961" sldId="266"/>
            <ac:spMk id="13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28.732" v="28"/>
          <ac:spMkLst>
            <pc:docMk/>
            <pc:sldMk cId="4004183961" sldId="266"/>
            <ac:spMk id="14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46.654" v="33"/>
          <ac:spMkLst>
            <pc:docMk/>
            <pc:sldMk cId="4004183961" sldId="266"/>
            <ac:spMk id="15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22.044" v="26"/>
          <ac:spMkLst>
            <pc:docMk/>
            <pc:sldMk cId="4004183961" sldId="266"/>
            <ac:spMk id="16" creationId="{00000000-0000-0000-0000-000000000000}"/>
          </ac:spMkLst>
        </pc:spChg>
        <pc:spChg chg="add del">
          <ac:chgData name="Ernesto Jose Garcia Puche" userId="S::egarciap@unimagdalena.edu.co::285fe9a1-efd9-4ded-b802-6981f9cc2b5b" providerId="AD" clId="Web-{3C332966-0608-79C9-F8E3-F03E404727C8}" dt="2025-02-05T14:43:43.623" v="32"/>
          <ac:spMkLst>
            <pc:docMk/>
            <pc:sldMk cId="4004183961" sldId="266"/>
            <ac:spMk id="17" creationId="{00000000-0000-0000-0000-000000000000}"/>
          </ac:spMkLst>
        </pc:spChg>
        <pc:spChg chg="add del mod">
          <ac:chgData name="Ernesto Jose Garcia Puche" userId="S::egarciap@unimagdalena.edu.co::285fe9a1-efd9-4ded-b802-6981f9cc2b5b" providerId="AD" clId="Web-{3C332966-0608-79C9-F8E3-F03E404727C8}" dt="2025-02-05T14:43:35.669" v="30"/>
          <ac:spMkLst>
            <pc:docMk/>
            <pc:sldMk cId="4004183961" sldId="266"/>
            <ac:spMk id="21" creationId="{00000000-0000-0000-0000-000000000000}"/>
          </ac:spMkLst>
        </pc:spChg>
        <pc:picChg chg="add del">
          <ac:chgData name="Ernesto Jose Garcia Puche" userId="S::egarciap@unimagdalena.edu.co::285fe9a1-efd9-4ded-b802-6981f9cc2b5b" providerId="AD" clId="Web-{3C332966-0608-79C9-F8E3-F03E404727C8}" dt="2025-02-05T14:43:01.809" v="12"/>
          <ac:picMkLst>
            <pc:docMk/>
            <pc:sldMk cId="4004183961" sldId="266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BFAE6-FEBD-4BA0-A4B0-3446681F0D6B}" type="datetimeFigureOut">
              <a:rPr lang="es-CO" smtClean="0"/>
              <a:t>5/02/2025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3F2C3-95B3-45CF-9BB9-F4C7C6461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777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702BC1-9331-4A0D-BEFF-D7212E0B06B7}" type="slidenum">
              <a:rPr lang="es-CO">
                <a:latin typeface="Calibri" panose="020F0502020204030204" pitchFamily="34" charset="0"/>
              </a:rPr>
              <a:pPr eaLnBrk="1" hangingPunct="1"/>
              <a:t>4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88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0F919B-D272-4B07-BF87-4CBF5B453653}" type="slidenum">
              <a:rPr lang="es-CO">
                <a:latin typeface="Calibri" panose="020F0502020204030204" pitchFamily="34" charset="0"/>
              </a:rPr>
              <a:pPr eaLnBrk="1" hangingPunct="1"/>
              <a:t>5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371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0F919B-D272-4B07-BF87-4CBF5B453653}" type="slidenum">
              <a:rPr lang="es-CO">
                <a:latin typeface="Calibri" panose="020F0502020204030204" pitchFamily="34" charset="0"/>
              </a:rPr>
              <a:pPr eaLnBrk="1" hangingPunct="1"/>
              <a:t>6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000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AAF717-4E4C-4031-9786-55339C336256}" type="slidenum">
              <a:rPr lang="es-CO">
                <a:latin typeface="Calibri" panose="020F0502020204030204" pitchFamily="34" charset="0"/>
              </a:rPr>
              <a:pPr eaLnBrk="1" hangingPunct="1"/>
              <a:t>7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92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B9C0359-5DD1-4E75-AA04-845C04847926}" type="slidenum">
              <a:rPr lang="es-CO">
                <a:latin typeface="Calibri" panose="020F0502020204030204" pitchFamily="34" charset="0"/>
              </a:rPr>
              <a:pPr eaLnBrk="1" hangingPunct="1"/>
              <a:t>8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195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04EAFA-DF6B-437E-ADD2-DB6E6BDFD574}" type="slidenum">
              <a:rPr lang="es-CO">
                <a:latin typeface="Calibri" panose="020F0502020204030204" pitchFamily="34" charset="0"/>
              </a:rPr>
              <a:pPr eaLnBrk="1" hangingPunct="1"/>
              <a:t>9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16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38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6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11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3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18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02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7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32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7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26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492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320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4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69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270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278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19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3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15358" y="3111809"/>
            <a:ext cx="8791575" cy="540985"/>
          </a:xfrm>
        </p:spPr>
        <p:txBody>
          <a:bodyPr>
            <a:normAutofit fontScale="90000"/>
          </a:bodyPr>
          <a:lstStyle/>
          <a:p>
            <a:r>
              <a:rPr lang="es-CO" sz="5300" b="1" dirty="0"/>
              <a:t>2. ARQUITECTURA DE LA COMUNICACIÓN BASADA EN CAPAS</a:t>
            </a:r>
            <a:r>
              <a:rPr lang="es-CO" dirty="0"/>
              <a:t>	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7819622" y="5668177"/>
            <a:ext cx="371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 err="1"/>
              <a:t>MSc</a:t>
            </a:r>
            <a:r>
              <a:rPr lang="es-CO" sz="2400" dirty="0"/>
              <a:t>. Ernesto J. García Puche</a:t>
            </a:r>
          </a:p>
        </p:txBody>
      </p:sp>
    </p:spTree>
    <p:extLst>
      <p:ext uri="{BB962C8B-B14F-4D97-AF65-F5344CB8AC3E}">
        <p14:creationId xmlns:p14="http://schemas.microsoft.com/office/powerpoint/2010/main" val="269687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QUE ES UN MODELO DE COMUNICACIÓN BASADO EN CAPAS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QUE SON:</a:t>
            </a:r>
          </a:p>
          <a:p>
            <a:pPr marL="0" indent="0">
              <a:buNone/>
            </a:pPr>
            <a:r>
              <a:rPr lang="es-ES" dirty="0"/>
              <a:t>-CAPA</a:t>
            </a:r>
          </a:p>
          <a:p>
            <a:pPr marL="0" indent="0">
              <a:buNone/>
            </a:pPr>
            <a:r>
              <a:rPr lang="es-ES" dirty="0"/>
              <a:t>-ENTIDAD</a:t>
            </a:r>
          </a:p>
          <a:p>
            <a:pPr marL="0" indent="0">
              <a:buNone/>
            </a:pPr>
            <a:r>
              <a:rPr lang="es-ES" dirty="0"/>
              <a:t>-INTERFAZ</a:t>
            </a:r>
          </a:p>
          <a:p>
            <a:pPr marL="0" indent="0">
              <a:buNone/>
            </a:pPr>
            <a:r>
              <a:rPr lang="es-ES" dirty="0"/>
              <a:t>-UNIDADES DE DATOS: PDU, SDU, IDU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s-ES" dirty="0"/>
              <a:t>CÓMO FUNCIONA ESTE MODELO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855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228977" y="114622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EMISOR</a:t>
            </a:r>
            <a:endParaRPr lang="es-CO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8115504" y="1219537"/>
            <a:ext cx="1469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RECEPTOR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2353737" y="1346275"/>
            <a:ext cx="87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</a:rPr>
              <a:t>DATOS</a:t>
            </a:r>
            <a:endParaRPr lang="es-CO" sz="1600" b="1" dirty="0">
              <a:solidFill>
                <a:srgbClr val="FF0000"/>
              </a:solidFill>
            </a:endParaRPr>
          </a:p>
        </p:txBody>
      </p:sp>
      <p:cxnSp>
        <p:nvCxnSpPr>
          <p:cNvPr id="7" name="Conector recto 6"/>
          <p:cNvCxnSpPr/>
          <p:nvPr/>
        </p:nvCxnSpPr>
        <p:spPr>
          <a:xfrm>
            <a:off x="4340179" y="3928051"/>
            <a:ext cx="3387115" cy="153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5176593" y="4128106"/>
            <a:ext cx="1624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MEDIO O CANAL</a:t>
            </a:r>
            <a:endParaRPr lang="es-CO" sz="1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2828722" y="1669440"/>
            <a:ext cx="174327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CAPA  N</a:t>
            </a:r>
            <a:endParaRPr lang="es-CO" dirty="0"/>
          </a:p>
        </p:txBody>
      </p:sp>
      <p:sp>
        <p:nvSpPr>
          <p:cNvPr id="10" name="CuadroTexto 9"/>
          <p:cNvSpPr txBox="1"/>
          <p:nvPr/>
        </p:nvSpPr>
        <p:spPr>
          <a:xfrm>
            <a:off x="2828721" y="2222691"/>
            <a:ext cx="17432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CAPA  N-1</a:t>
            </a:r>
            <a:endParaRPr lang="es-CO" dirty="0"/>
          </a:p>
        </p:txBody>
      </p:sp>
      <p:sp>
        <p:nvSpPr>
          <p:cNvPr id="11" name="CuadroTexto 10"/>
          <p:cNvSpPr txBox="1"/>
          <p:nvPr/>
        </p:nvSpPr>
        <p:spPr>
          <a:xfrm>
            <a:off x="3391744" y="2620001"/>
            <a:ext cx="2519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.</a:t>
            </a:r>
          </a:p>
          <a:p>
            <a:r>
              <a:rPr lang="es-ES" sz="2000" b="1" dirty="0"/>
              <a:t>.</a:t>
            </a:r>
          </a:p>
          <a:p>
            <a:r>
              <a:rPr lang="es-ES" sz="2000" b="1" dirty="0"/>
              <a:t>.</a:t>
            </a:r>
          </a:p>
          <a:p>
            <a:endParaRPr lang="es-CO" sz="2000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2828721" y="3758774"/>
            <a:ext cx="13780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CAPA  1</a:t>
            </a:r>
            <a:endParaRPr lang="es-CO" dirty="0"/>
          </a:p>
        </p:txBody>
      </p:sp>
      <p:cxnSp>
        <p:nvCxnSpPr>
          <p:cNvPr id="14" name="Conector recto de flecha 13"/>
          <p:cNvCxnSpPr/>
          <p:nvPr/>
        </p:nvCxnSpPr>
        <p:spPr>
          <a:xfrm>
            <a:off x="2867665" y="1669440"/>
            <a:ext cx="0" cy="225861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>
            <a:off x="4572000" y="3758774"/>
            <a:ext cx="28075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8391915" y="2612747"/>
            <a:ext cx="2519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.</a:t>
            </a:r>
          </a:p>
          <a:p>
            <a:r>
              <a:rPr lang="es-ES" sz="2000" b="1" dirty="0"/>
              <a:t>.</a:t>
            </a:r>
          </a:p>
          <a:p>
            <a:r>
              <a:rPr lang="es-ES" sz="2000" b="1" dirty="0"/>
              <a:t>.</a:t>
            </a:r>
          </a:p>
          <a:p>
            <a:endParaRPr lang="es-CO" sz="2000" b="1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828892" y="3751520"/>
            <a:ext cx="13780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CAPA  1</a:t>
            </a:r>
            <a:endParaRPr lang="es-CO" dirty="0"/>
          </a:p>
        </p:txBody>
      </p:sp>
      <p:cxnSp>
        <p:nvCxnSpPr>
          <p:cNvPr id="25" name="Conector recto de flecha 24"/>
          <p:cNvCxnSpPr/>
          <p:nvPr/>
        </p:nvCxnSpPr>
        <p:spPr>
          <a:xfrm flipV="1">
            <a:off x="7828892" y="1515552"/>
            <a:ext cx="0" cy="22432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7250618" y="1250315"/>
            <a:ext cx="87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</a:rPr>
              <a:t>DATOS</a:t>
            </a:r>
            <a:endParaRPr lang="es-CO" sz="1600" b="1" dirty="0">
              <a:solidFill>
                <a:srgbClr val="FF0000"/>
              </a:solidFill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7727294" y="1676700"/>
            <a:ext cx="21133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CAPA  N</a:t>
            </a:r>
            <a:endParaRPr lang="es-CO" dirty="0"/>
          </a:p>
        </p:txBody>
      </p:sp>
      <p:sp>
        <p:nvSpPr>
          <p:cNvPr id="29" name="CuadroTexto 28"/>
          <p:cNvSpPr txBox="1"/>
          <p:nvPr/>
        </p:nvSpPr>
        <p:spPr>
          <a:xfrm>
            <a:off x="7698263" y="2229951"/>
            <a:ext cx="21424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CAPA  N-1 </a:t>
            </a:r>
            <a:endParaRPr lang="es-CO" dirty="0"/>
          </a:p>
        </p:txBody>
      </p:sp>
      <p:cxnSp>
        <p:nvCxnSpPr>
          <p:cNvPr id="31" name="Conector recto de flecha 30"/>
          <p:cNvCxnSpPr>
            <a:stCxn id="9" idx="3"/>
            <a:endCxn id="28" idx="1"/>
          </p:cNvCxnSpPr>
          <p:nvPr/>
        </p:nvCxnSpPr>
        <p:spPr>
          <a:xfrm>
            <a:off x="4572000" y="1854106"/>
            <a:ext cx="3155294" cy="726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4593770" y="2428827"/>
            <a:ext cx="3155294" cy="726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/>
          <p:cNvSpPr txBox="1"/>
          <p:nvPr/>
        </p:nvSpPr>
        <p:spPr>
          <a:xfrm>
            <a:off x="5021297" y="1517557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PROTOCOLOS N</a:t>
            </a:r>
            <a:endParaRPr lang="es-CO" dirty="0"/>
          </a:p>
        </p:txBody>
      </p:sp>
      <p:sp>
        <p:nvSpPr>
          <p:cNvPr id="35" name="CuadroTexto 34"/>
          <p:cNvSpPr txBox="1"/>
          <p:nvPr/>
        </p:nvSpPr>
        <p:spPr>
          <a:xfrm>
            <a:off x="5013558" y="2126603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PROTOCOLO N-1</a:t>
            </a:r>
            <a:endParaRPr lang="es-CO" dirty="0"/>
          </a:p>
        </p:txBody>
      </p:sp>
      <p:cxnSp>
        <p:nvCxnSpPr>
          <p:cNvPr id="37" name="Conector recto 36"/>
          <p:cNvCxnSpPr/>
          <p:nvPr/>
        </p:nvCxnSpPr>
        <p:spPr>
          <a:xfrm>
            <a:off x="2353737" y="2129376"/>
            <a:ext cx="26598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858044" y="1924144"/>
            <a:ext cx="1058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INTERFAZ</a:t>
            </a:r>
            <a:endParaRPr lang="es-CO" sz="1400" dirty="0"/>
          </a:p>
        </p:txBody>
      </p:sp>
      <p:sp>
        <p:nvSpPr>
          <p:cNvPr id="39" name="Elipse 38"/>
          <p:cNvSpPr/>
          <p:nvPr/>
        </p:nvSpPr>
        <p:spPr>
          <a:xfrm>
            <a:off x="3445940" y="2094446"/>
            <a:ext cx="132060" cy="733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/>
          <p:cNvSpPr txBox="1"/>
          <p:nvPr/>
        </p:nvSpPr>
        <p:spPr>
          <a:xfrm>
            <a:off x="3555679" y="1953387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SAP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13833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5 CuadroTexto"/>
          <p:cNvSpPr txBox="1">
            <a:spLocks noChangeArrowheads="1"/>
          </p:cNvSpPr>
          <p:nvPr/>
        </p:nvSpPr>
        <p:spPr bwMode="auto">
          <a:xfrm>
            <a:off x="2381250" y="785814"/>
            <a:ext cx="7429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dirty="0"/>
              <a:t>A manera de reducir la complejidad de sus diseños, se utilizan </a:t>
            </a:r>
            <a:r>
              <a:rPr lang="es-ES" b="1" i="1" dirty="0"/>
              <a:t>Capas </a:t>
            </a:r>
            <a:r>
              <a:rPr lang="es-ES" dirty="0"/>
              <a:t>o </a:t>
            </a:r>
            <a:r>
              <a:rPr lang="es-ES" b="1" i="1" dirty="0"/>
              <a:t>Niveles. </a:t>
            </a:r>
            <a:r>
              <a:rPr lang="es-ES" b="1" dirty="0"/>
              <a:t>La Arquitectura corresponde a la organización de Capas y Protocolos dentro de una red.</a:t>
            </a:r>
            <a:endParaRPr lang="es-ES" dirty="0"/>
          </a:p>
        </p:txBody>
      </p:sp>
      <p:pic>
        <p:nvPicPr>
          <p:cNvPr id="4198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1900238"/>
            <a:ext cx="4235450" cy="295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7 CuadroTexto"/>
          <p:cNvSpPr txBox="1">
            <a:spLocks noChangeArrowheads="1"/>
          </p:cNvSpPr>
          <p:nvPr/>
        </p:nvSpPr>
        <p:spPr bwMode="auto">
          <a:xfrm>
            <a:off x="6381750" y="1785939"/>
            <a:ext cx="3500438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s-ES" dirty="0"/>
              <a:t>Una </a:t>
            </a:r>
            <a:r>
              <a:rPr lang="es-ES" b="1" dirty="0"/>
              <a:t>Capa</a:t>
            </a:r>
            <a:r>
              <a:rPr lang="es-ES" dirty="0"/>
              <a:t> es un conjunto definido de funciones o procedimientos de comunicación.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s-ES" dirty="0"/>
              <a:t>El propósito de cada capa es ofrecer </a:t>
            </a:r>
            <a:r>
              <a:rPr lang="es-ES" b="1" dirty="0"/>
              <a:t>Servicios</a:t>
            </a:r>
            <a:r>
              <a:rPr lang="es-ES" dirty="0"/>
              <a:t> a la capa superior.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s-ES" dirty="0"/>
              <a:t>Los elementos activos en cada capa o nivel se denominan </a:t>
            </a:r>
            <a:r>
              <a:rPr lang="es-ES" b="1" dirty="0"/>
              <a:t>Entidades</a:t>
            </a:r>
            <a:r>
              <a:rPr lang="es-ES" dirty="0"/>
              <a:t>, pudiendo ser un software o hardware.</a:t>
            </a:r>
          </a:p>
        </p:txBody>
      </p:sp>
      <p:sp>
        <p:nvSpPr>
          <p:cNvPr id="41991" name="8 CuadroTexto"/>
          <p:cNvSpPr txBox="1">
            <a:spLocks noChangeArrowheads="1"/>
          </p:cNvSpPr>
          <p:nvPr/>
        </p:nvSpPr>
        <p:spPr bwMode="auto">
          <a:xfrm>
            <a:off x="2166938" y="4941169"/>
            <a:ext cx="7929562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dirty="0"/>
              <a:t>Para que dos entidades pares intercambien información deben estar de acuerdo en como está se dará (protocolo).</a:t>
            </a:r>
          </a:p>
          <a:p>
            <a:pPr algn="just" eaLnBrk="1" hangingPunct="1"/>
            <a:endParaRPr lang="es-ES" sz="800" dirty="0"/>
          </a:p>
          <a:p>
            <a:pPr algn="just" eaLnBrk="1" hangingPunct="1"/>
            <a:r>
              <a:rPr lang="es-ES" b="1" dirty="0"/>
              <a:t>Un protocolo </a:t>
            </a:r>
            <a:r>
              <a:rPr lang="es-ES" dirty="0"/>
              <a:t>es un conjunto de reglas, convenciones o procedimientos, establecidos por dos o más partes que se van a comunicar.  (qué se comunica, cómo es comunicado y cuando es comunicado)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2095500" y="5643564"/>
            <a:ext cx="8072438" cy="1000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" name="Rectángulo 1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08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8 CuadroTexto"/>
          <p:cNvSpPr txBox="1">
            <a:spLocks noChangeArrowheads="1"/>
          </p:cNvSpPr>
          <p:nvPr/>
        </p:nvSpPr>
        <p:spPr bwMode="auto">
          <a:xfrm>
            <a:off x="2381251" y="785813"/>
            <a:ext cx="76438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/>
              <a:t>La </a:t>
            </a:r>
            <a:r>
              <a:rPr lang="es-ES" b="1"/>
              <a:t>interfaz</a:t>
            </a:r>
            <a:r>
              <a:rPr lang="es-ES"/>
              <a:t> separa dos capas consecutivas. Posee puntos o conectores lógicos de acceso a los servicios (SAP)</a:t>
            </a:r>
          </a:p>
        </p:txBody>
      </p:sp>
      <p:sp>
        <p:nvSpPr>
          <p:cNvPr id="43013" name="10 CuadroTexto"/>
          <p:cNvSpPr txBox="1">
            <a:spLocks noChangeArrowheads="1"/>
          </p:cNvSpPr>
          <p:nvPr/>
        </p:nvSpPr>
        <p:spPr bwMode="auto">
          <a:xfrm>
            <a:off x="2309814" y="5000625"/>
            <a:ext cx="7572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/>
              <a:t>La entidad de nivel</a:t>
            </a:r>
            <a:r>
              <a:rPr lang="es-ES" b="1"/>
              <a:t> n+1 </a:t>
            </a:r>
            <a:r>
              <a:rPr lang="es-ES"/>
              <a:t>le pasa una unidad de datos IDU a la entidad de nivel </a:t>
            </a:r>
            <a:r>
              <a:rPr lang="es-ES" b="1"/>
              <a:t>n</a:t>
            </a:r>
            <a:r>
              <a:rPr lang="es-ES"/>
              <a:t> a través de un punto de acceso (SAP). Cada capa forma unidades de datos llamadas </a:t>
            </a:r>
            <a:r>
              <a:rPr lang="es-ES" b="1"/>
              <a:t>PDU </a:t>
            </a:r>
            <a:r>
              <a:rPr lang="es-ES"/>
              <a:t>a partir de los datos tomados de la capa anterior junto a datos propios.</a:t>
            </a:r>
          </a:p>
        </p:txBody>
      </p:sp>
      <p:pic>
        <p:nvPicPr>
          <p:cNvPr id="430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6" y="1500188"/>
            <a:ext cx="46958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104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9" y="1538514"/>
            <a:ext cx="11389725" cy="448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0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10 CuadroTexto"/>
          <p:cNvSpPr txBox="1">
            <a:spLocks noChangeArrowheads="1"/>
          </p:cNvSpPr>
          <p:nvPr/>
        </p:nvSpPr>
        <p:spPr bwMode="auto">
          <a:xfrm>
            <a:off x="1738314" y="1214439"/>
            <a:ext cx="807243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Tx/>
              <a:buChar char="-"/>
            </a:pPr>
            <a:r>
              <a:rPr lang="es-ES" b="1"/>
              <a:t>Clasificación de los servicios:</a:t>
            </a:r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r>
              <a:rPr lang="es-ES"/>
              <a:t>Los servicios</a:t>
            </a:r>
          </a:p>
          <a:p>
            <a:pPr algn="just" eaLnBrk="1" hangingPunct="1"/>
            <a:r>
              <a:rPr lang="es-ES"/>
              <a:t> se clasifican en:</a:t>
            </a:r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</p:txBody>
      </p:sp>
      <p:sp>
        <p:nvSpPr>
          <p:cNvPr id="7" name="6 Abrir llave"/>
          <p:cNvSpPr/>
          <p:nvPr/>
        </p:nvSpPr>
        <p:spPr>
          <a:xfrm>
            <a:off x="3309939" y="1785939"/>
            <a:ext cx="428625" cy="32861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4038" name="7 CuadroTexto"/>
          <p:cNvSpPr txBox="1">
            <a:spLocks noChangeArrowheads="1"/>
          </p:cNvSpPr>
          <p:nvPr/>
        </p:nvSpPr>
        <p:spPr bwMode="auto">
          <a:xfrm>
            <a:off x="3595689" y="1928813"/>
            <a:ext cx="6357937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s-ES" b="1" i="1"/>
              <a:t>Orientados a la conexión</a:t>
            </a:r>
            <a:r>
              <a:rPr lang="es-ES"/>
              <a:t>: Las entidades pares  se aseguran de tener una conexión lógica entre ellas antes del intercambio de información. Debe existir una fase de conexión y de desconexión.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s-ES"/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s-ES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s-ES" b="1" i="1"/>
              <a:t>Sin conexión</a:t>
            </a:r>
            <a:r>
              <a:rPr lang="es-ES"/>
              <a:t>: La entidad par que presta el servicio presume que la otra entidad se encuentra disponible y envía el paquete de datos.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es-ES" b="1" i="1"/>
              <a:t>Si conexión y con reconocimiento</a:t>
            </a:r>
            <a:r>
              <a:rPr lang="es-ES"/>
              <a:t>: la entidad que transmite espera un reconocimiento positivo de la otra entidad.</a:t>
            </a:r>
          </a:p>
        </p:txBody>
      </p:sp>
      <p:sp>
        <p:nvSpPr>
          <p:cNvPr id="5" name="Rectángulo 4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9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8 CuadroTexto"/>
          <p:cNvSpPr txBox="1">
            <a:spLocks noChangeArrowheads="1"/>
          </p:cNvSpPr>
          <p:nvPr/>
        </p:nvSpPr>
        <p:spPr bwMode="auto">
          <a:xfrm>
            <a:off x="2166938" y="1143001"/>
            <a:ext cx="7643812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s-ES"/>
              <a:t>Las </a:t>
            </a:r>
            <a:r>
              <a:rPr lang="es-ES" b="1"/>
              <a:t>Primitivas</a:t>
            </a:r>
            <a:r>
              <a:rPr lang="es-ES"/>
              <a:t> son funciones que caracterizan el flujo de información entre un nivel y el siguiente consecutivo.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s-ES"/>
              <a:t>Estas primitivas definen los servicios de red, y le ordenan al servicio que ejecute alguna acción o informe de una acción que haya tomado una entidad par.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s-ES"/>
              <a:t>Existen básicamente 4 primitivas:</a:t>
            </a:r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  <a:p>
            <a:pPr algn="just" eaLnBrk="1" hangingPunct="1"/>
            <a:endParaRPr lang="es-ES"/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2309813" y="2927350"/>
          <a:ext cx="7358062" cy="268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5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84"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/>
                        <a:t>Tipo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/>
                        <a:t>Significado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89">
                <a:tc>
                  <a:txBody>
                    <a:bodyPr/>
                    <a:lstStyle/>
                    <a:p>
                      <a:r>
                        <a:rPr lang="es-ES" sz="1600" dirty="0"/>
                        <a:t>Solicitud (</a:t>
                      </a:r>
                      <a:r>
                        <a:rPr lang="es-ES" sz="1600" dirty="0" err="1"/>
                        <a:t>Request</a:t>
                      </a:r>
                      <a:r>
                        <a:rPr lang="es-ES" sz="1600" dirty="0"/>
                        <a:t>)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Una entidad requiere el servicio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89">
                <a:tc>
                  <a:txBody>
                    <a:bodyPr/>
                    <a:lstStyle/>
                    <a:p>
                      <a:r>
                        <a:rPr lang="es-ES" sz="1600" dirty="0"/>
                        <a:t>Indicación (</a:t>
                      </a:r>
                      <a:r>
                        <a:rPr lang="es-ES" sz="1600" dirty="0" err="1"/>
                        <a:t>Indication</a:t>
                      </a:r>
                      <a:r>
                        <a:rPr lang="es-ES" sz="1600" dirty="0"/>
                        <a:t>)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Una</a:t>
                      </a:r>
                      <a:r>
                        <a:rPr lang="es-ES" sz="1600" baseline="0" dirty="0"/>
                        <a:t> entidad es informada acerca de un evento</a:t>
                      </a:r>
                      <a:endParaRPr lang="es-ES" sz="16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89">
                <a:tc>
                  <a:txBody>
                    <a:bodyPr/>
                    <a:lstStyle/>
                    <a:p>
                      <a:r>
                        <a:rPr lang="es-ES" sz="1600" dirty="0"/>
                        <a:t>Respuesta</a:t>
                      </a:r>
                    </a:p>
                    <a:p>
                      <a:r>
                        <a:rPr lang="es-ES" sz="1600" dirty="0"/>
                        <a:t>(Response)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Una entidad responde a un evento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89">
                <a:tc>
                  <a:txBody>
                    <a:bodyPr/>
                    <a:lstStyle/>
                    <a:p>
                      <a:r>
                        <a:rPr lang="es-ES" sz="1600" dirty="0"/>
                        <a:t>Confirmación</a:t>
                      </a:r>
                    </a:p>
                    <a:p>
                      <a:r>
                        <a:rPr lang="es-ES" sz="1600" dirty="0"/>
                        <a:t>(</a:t>
                      </a:r>
                      <a:r>
                        <a:rPr lang="es-ES" sz="1600" dirty="0" err="1"/>
                        <a:t>Corfirm</a:t>
                      </a:r>
                      <a:r>
                        <a:rPr lang="es-ES" sz="1600" dirty="0"/>
                        <a:t>)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La respuesta a una solicitud ha sido devuelta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081" name="9 CuadroTexto"/>
          <p:cNvSpPr txBox="1">
            <a:spLocks noChangeArrowheads="1"/>
          </p:cNvSpPr>
          <p:nvPr/>
        </p:nvSpPr>
        <p:spPr bwMode="auto">
          <a:xfrm>
            <a:off x="2452689" y="5929314"/>
            <a:ext cx="636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/>
              <a:t>Los servicios pueden ser: </a:t>
            </a:r>
            <a:r>
              <a:rPr lang="es-ES" b="1" i="1"/>
              <a:t>Confirmados</a:t>
            </a:r>
            <a:r>
              <a:rPr lang="es-ES"/>
              <a:t> o </a:t>
            </a:r>
            <a:r>
              <a:rPr lang="es-ES" b="1" i="1"/>
              <a:t>No confirmados.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16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4" name="5 Imagen" descr="primitivas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071563"/>
            <a:ext cx="5000625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6 CuadroTexto"/>
          <p:cNvSpPr txBox="1">
            <a:spLocks noChangeArrowheads="1"/>
          </p:cNvSpPr>
          <p:nvPr/>
        </p:nvSpPr>
        <p:spPr bwMode="auto">
          <a:xfrm>
            <a:off x="6381751" y="1214438"/>
            <a:ext cx="39290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i="1"/>
              <a:t>Ejemplo de primitivas para “</a:t>
            </a:r>
            <a:r>
              <a:rPr lang="es-ES" i="1" u="sng"/>
              <a:t>solicitud de conexión”</a:t>
            </a:r>
          </a:p>
        </p:txBody>
      </p:sp>
      <p:sp>
        <p:nvSpPr>
          <p:cNvPr id="46086" name="7 CuadroTexto"/>
          <p:cNvSpPr txBox="1">
            <a:spLocks noChangeArrowheads="1"/>
          </p:cNvSpPr>
          <p:nvPr/>
        </p:nvSpPr>
        <p:spPr bwMode="auto">
          <a:xfrm>
            <a:off x="6524625" y="2087563"/>
            <a:ext cx="37290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s-ES" b="1"/>
              <a:t>CONNECT</a:t>
            </a:r>
            <a:r>
              <a:rPr lang="es-ES"/>
              <a:t>.</a:t>
            </a:r>
            <a:r>
              <a:rPr lang="es-ES" b="1" i="1"/>
              <a:t>request</a:t>
            </a:r>
          </a:p>
          <a:p>
            <a:pPr eaLnBrk="1" hangingPunct="1">
              <a:buFontTx/>
              <a:buAutoNum type="arabicPeriod"/>
            </a:pPr>
            <a:r>
              <a:rPr lang="es-ES" b="1"/>
              <a:t>CONNECT</a:t>
            </a:r>
            <a:r>
              <a:rPr lang="es-ES"/>
              <a:t>.</a:t>
            </a:r>
            <a:r>
              <a:rPr lang="es-ES" b="1" i="1"/>
              <a:t>indication</a:t>
            </a:r>
          </a:p>
          <a:p>
            <a:pPr eaLnBrk="1" hangingPunct="1">
              <a:buFontTx/>
              <a:buAutoNum type="arabicPeriod"/>
            </a:pPr>
            <a:r>
              <a:rPr lang="es-ES" b="1"/>
              <a:t>CONNECT.response</a:t>
            </a:r>
          </a:p>
          <a:p>
            <a:pPr eaLnBrk="1" hangingPunct="1">
              <a:buFontTx/>
              <a:buAutoNum type="arabicPeriod"/>
            </a:pPr>
            <a:r>
              <a:rPr lang="es-ES" b="1"/>
              <a:t>CONNECT.</a:t>
            </a:r>
            <a:r>
              <a:rPr lang="es-ES" b="1" i="1"/>
              <a:t>confirm</a:t>
            </a:r>
          </a:p>
        </p:txBody>
      </p:sp>
      <p:sp>
        <p:nvSpPr>
          <p:cNvPr id="46087" name="9 CuadroTexto"/>
          <p:cNvSpPr txBox="1">
            <a:spLocks noChangeArrowheads="1"/>
          </p:cNvSpPr>
          <p:nvPr/>
        </p:nvSpPr>
        <p:spPr bwMode="auto">
          <a:xfrm>
            <a:off x="6381751" y="3514726"/>
            <a:ext cx="39290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i="1" dirty="0"/>
              <a:t>Primitivas para “</a:t>
            </a:r>
            <a:r>
              <a:rPr lang="es-ES" i="1" u="sng" dirty="0"/>
              <a:t>envío de datos CON confirmación</a:t>
            </a:r>
            <a:r>
              <a:rPr lang="es-ES" i="1" dirty="0"/>
              <a:t>”</a:t>
            </a:r>
          </a:p>
        </p:txBody>
      </p:sp>
      <p:sp>
        <p:nvSpPr>
          <p:cNvPr id="46088" name="10 CuadroTexto"/>
          <p:cNvSpPr txBox="1">
            <a:spLocks noChangeArrowheads="1"/>
          </p:cNvSpPr>
          <p:nvPr/>
        </p:nvSpPr>
        <p:spPr bwMode="auto">
          <a:xfrm>
            <a:off x="6524625" y="4300538"/>
            <a:ext cx="372903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s-ES" b="1" dirty="0" err="1"/>
              <a:t>DATA</a:t>
            </a:r>
            <a:r>
              <a:rPr lang="es-ES" dirty="0" err="1"/>
              <a:t>.</a:t>
            </a:r>
            <a:r>
              <a:rPr lang="es-ES" b="1" i="1" dirty="0" err="1"/>
              <a:t>request</a:t>
            </a:r>
            <a:endParaRPr lang="es-ES" b="1" i="1" dirty="0"/>
          </a:p>
          <a:p>
            <a:pPr eaLnBrk="1" hangingPunct="1">
              <a:buFontTx/>
              <a:buAutoNum type="arabicPeriod"/>
            </a:pPr>
            <a:r>
              <a:rPr lang="es-ES" b="1" dirty="0" err="1"/>
              <a:t>DATA</a:t>
            </a:r>
            <a:r>
              <a:rPr lang="es-ES" dirty="0" err="1"/>
              <a:t>.</a:t>
            </a:r>
            <a:r>
              <a:rPr lang="es-ES" b="1" i="1" dirty="0" err="1"/>
              <a:t>indication</a:t>
            </a:r>
            <a:endParaRPr lang="es-ES" b="1" i="1" dirty="0"/>
          </a:p>
          <a:p>
            <a:pPr eaLnBrk="1" hangingPunct="1">
              <a:buFontTx/>
              <a:buAutoNum type="arabicPeriod"/>
            </a:pPr>
            <a:r>
              <a:rPr lang="es-ES" b="1" i="1" dirty="0" err="1"/>
              <a:t>DATA.response</a:t>
            </a:r>
            <a:endParaRPr lang="es-ES" b="1" i="1" dirty="0"/>
          </a:p>
          <a:p>
            <a:pPr eaLnBrk="1" hangingPunct="1">
              <a:buFontTx/>
              <a:buAutoNum type="arabicPeriod"/>
            </a:pPr>
            <a:r>
              <a:rPr lang="es-ES" b="1" i="1" dirty="0" err="1"/>
              <a:t>DATA.confirm</a:t>
            </a:r>
            <a:endParaRPr lang="es-ES" b="1" i="1" dirty="0"/>
          </a:p>
          <a:p>
            <a:pPr eaLnBrk="1" hangingPunct="1">
              <a:buFontTx/>
              <a:buAutoNum type="arabicPeriod"/>
            </a:pPr>
            <a:endParaRPr lang="es-ES" b="1" i="1" dirty="0"/>
          </a:p>
          <a:p>
            <a:pPr eaLnBrk="1" hangingPunct="1">
              <a:buFontTx/>
              <a:buAutoNum type="arabicPeriod"/>
            </a:pPr>
            <a:endParaRPr lang="es-ES" b="1" i="1" dirty="0"/>
          </a:p>
        </p:txBody>
      </p:sp>
      <p:sp>
        <p:nvSpPr>
          <p:cNvPr id="46089" name="11 CuadroTexto"/>
          <p:cNvSpPr txBox="1">
            <a:spLocks noChangeArrowheads="1"/>
          </p:cNvSpPr>
          <p:nvPr/>
        </p:nvSpPr>
        <p:spPr bwMode="auto">
          <a:xfrm>
            <a:off x="928687" y="5355520"/>
            <a:ext cx="39290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i="1" dirty="0"/>
              <a:t>Primitivas para “</a:t>
            </a:r>
            <a:r>
              <a:rPr lang="es-ES" i="1" u="sng" dirty="0"/>
              <a:t>solicitud de desconexión</a:t>
            </a:r>
            <a:r>
              <a:rPr lang="es-ES" i="1" dirty="0"/>
              <a:t>”</a:t>
            </a:r>
          </a:p>
        </p:txBody>
      </p:sp>
      <p:sp>
        <p:nvSpPr>
          <p:cNvPr id="46090" name="12 CuadroTexto"/>
          <p:cNvSpPr txBox="1">
            <a:spLocks noChangeArrowheads="1"/>
          </p:cNvSpPr>
          <p:nvPr/>
        </p:nvSpPr>
        <p:spPr bwMode="auto">
          <a:xfrm>
            <a:off x="3460979" y="5662067"/>
            <a:ext cx="37290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s-ES" b="1" dirty="0" err="1"/>
              <a:t>DISCONNECT</a:t>
            </a:r>
            <a:r>
              <a:rPr lang="es-ES" dirty="0" err="1"/>
              <a:t>.</a:t>
            </a:r>
            <a:r>
              <a:rPr lang="es-ES" b="1" i="1" dirty="0" err="1"/>
              <a:t>request</a:t>
            </a:r>
            <a:endParaRPr lang="es-ES" b="1" i="1" dirty="0"/>
          </a:p>
          <a:p>
            <a:pPr eaLnBrk="1" hangingPunct="1">
              <a:buFontTx/>
              <a:buAutoNum type="arabicPeriod"/>
            </a:pPr>
            <a:r>
              <a:rPr lang="es-ES" b="1" dirty="0" err="1"/>
              <a:t>DISCONNECT</a:t>
            </a:r>
            <a:r>
              <a:rPr lang="es-ES" dirty="0" err="1"/>
              <a:t>.</a:t>
            </a:r>
            <a:r>
              <a:rPr lang="es-ES" b="1" i="1" dirty="0" err="1"/>
              <a:t>indication</a:t>
            </a:r>
            <a:endParaRPr lang="es-ES" b="1" i="1" dirty="0"/>
          </a:p>
        </p:txBody>
      </p:sp>
      <p:sp>
        <p:nvSpPr>
          <p:cNvPr id="10" name="Rectángulo 9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15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207511" y="1348942"/>
            <a:ext cx="1494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endParaRPr lang="es-CO" sz="24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72" y="707606"/>
            <a:ext cx="6864200" cy="572539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106940" y="389276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Capa 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0418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207511" y="1348942"/>
            <a:ext cx="1494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endParaRPr lang="es-CO" sz="24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72" y="707606"/>
            <a:ext cx="6864200" cy="572539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3144325" y="67273"/>
            <a:ext cx="6474849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400" b="1" dirty="0"/>
              <a:t>2.1 El modelo de comunicación basado en capas</a:t>
            </a:r>
            <a:endParaRPr lang="es-CO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4572000" y="3361386"/>
            <a:ext cx="118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María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8175938" y="3361386"/>
            <a:ext cx="118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Juan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2701831" y="3751252"/>
            <a:ext cx="2064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COMUNICO SA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8175938" y="3892920"/>
            <a:ext cx="118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 2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8193439" y="4446758"/>
            <a:ext cx="118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 1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4791758" y="4466965"/>
            <a:ext cx="118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 1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9360794" y="3809582"/>
            <a:ext cx="149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LAZOS SA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2897746" y="4282299"/>
            <a:ext cx="1674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ENVIOS SA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9360794" y="4339062"/>
            <a:ext cx="149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ENVIOS SA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168979" y="3570301"/>
            <a:ext cx="186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Tipo de Entrega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993363" y="4143799"/>
            <a:ext cx="178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Protocolos de la capa 1</a:t>
            </a:r>
          </a:p>
        </p:txBody>
      </p:sp>
    </p:spTree>
    <p:extLst>
      <p:ext uri="{BB962C8B-B14F-4D97-AF65-F5344CB8AC3E}">
        <p14:creationId xmlns:p14="http://schemas.microsoft.com/office/powerpoint/2010/main" val="2062217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141413" y="62587"/>
            <a:ext cx="9905998" cy="1478570"/>
          </a:xfrm>
        </p:spPr>
        <p:txBody>
          <a:bodyPr/>
          <a:lstStyle/>
          <a:p>
            <a:r>
              <a:rPr lang="es-CO" dirty="0"/>
              <a:t>3. MODELO OSI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217902" y="1348942"/>
            <a:ext cx="32784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Preguntas guía:</a:t>
            </a:r>
          </a:p>
          <a:p>
            <a:endParaRPr lang="es-CO" sz="2400" b="1" dirty="0"/>
          </a:p>
          <a:p>
            <a:pPr marL="457200" indent="-457200">
              <a:buAutoNum type="arabicPeriod"/>
            </a:pPr>
            <a:r>
              <a:rPr lang="es-CO" sz="2400" b="1" dirty="0"/>
              <a:t>Qué es OSI</a:t>
            </a:r>
          </a:p>
          <a:p>
            <a:pPr marL="457200" indent="-457200">
              <a:buAutoNum type="arabicPeriod"/>
            </a:pPr>
            <a:r>
              <a:rPr lang="es-CO" sz="2400" b="1" dirty="0"/>
              <a:t>Por qué surge OSI?</a:t>
            </a:r>
          </a:p>
          <a:p>
            <a:pPr marL="457200" indent="-457200">
              <a:buAutoNum type="arabicPeriod"/>
            </a:pPr>
            <a:r>
              <a:rPr lang="es-CO" sz="2400" b="1" dirty="0"/>
              <a:t>Cómo funciona OSI?</a:t>
            </a:r>
          </a:p>
          <a:p>
            <a:pPr marL="457200" indent="-457200">
              <a:buAutoNum type="arabicPeriod"/>
            </a:pPr>
            <a:r>
              <a:rPr lang="es-CO" sz="2400" b="1" dirty="0"/>
              <a:t>Por qué fracasó OSI?</a:t>
            </a:r>
          </a:p>
          <a:p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2791897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D2CBD-A0A3-4AE8-A0DF-1CCEDBB90F9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68415C7-89FD-4CEF-A521-6FFD038415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42D618-08C9-4525-B70B-44857720D1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90a762-8ace-4dde-8610-f60417de3a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790</TotalTime>
  <Words>657</Words>
  <Application>Microsoft Office PowerPoint</Application>
  <PresentationFormat>Panorámica</PresentationFormat>
  <Paragraphs>129</Paragraphs>
  <Slides>12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Orgánico</vt:lpstr>
      <vt:lpstr>2. ARQUITECTURA DE LA COMUNICACIÓN BASADA EN CAPAS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3. MODELO OSI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ERNESTO</dc:creator>
  <cp:lastModifiedBy>User</cp:lastModifiedBy>
  <cp:revision>50</cp:revision>
  <dcterms:created xsi:type="dcterms:W3CDTF">2020-07-24T11:48:35Z</dcterms:created>
  <dcterms:modified xsi:type="dcterms:W3CDTF">2025-02-05T14:44:00Z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