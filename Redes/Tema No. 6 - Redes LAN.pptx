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8"/>
  </p:notesMasterIdLst>
  <p:sldIdLst>
    <p:sldId id="257" r:id="rId5"/>
    <p:sldId id="259" r:id="rId6"/>
    <p:sldId id="296" r:id="rId7"/>
    <p:sldId id="302" r:id="rId8"/>
    <p:sldId id="301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28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4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BFAE6-FEBD-4BA0-A4B0-3446681F0D6B}" type="datetimeFigureOut">
              <a:rPr lang="es-CO" smtClean="0"/>
              <a:t>26/03/2025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3F2C3-95B3-45CF-9BB9-F4C7C6461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777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23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0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32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5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78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56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51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80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9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86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559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582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01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549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855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56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22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99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82784" y="3646310"/>
            <a:ext cx="8791575" cy="540985"/>
          </a:xfrm>
        </p:spPr>
        <p:txBody>
          <a:bodyPr>
            <a:normAutofit fontScale="90000"/>
          </a:bodyPr>
          <a:lstStyle/>
          <a:p>
            <a:r>
              <a:rPr lang="es-CO" dirty="0"/>
              <a:t>6. REDES LAN</a:t>
            </a:r>
            <a:br>
              <a:rPr lang="es-CO" dirty="0"/>
            </a:br>
            <a:r>
              <a:rPr lang="es-CO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9687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6918" y="392293"/>
            <a:ext cx="9601196" cy="1303867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141413" y="2343733"/>
            <a:ext cx="10247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/>
              <a:t>El </a:t>
            </a:r>
            <a:r>
              <a:rPr lang="es-CO" sz="2400" b="1" dirty="0"/>
              <a:t>dominio de difusión</a:t>
            </a:r>
            <a:r>
              <a:rPr lang="es-CO" sz="2400" dirty="0"/>
              <a:t> es el conjunto de todos los dispositivos que reciben tramas de </a:t>
            </a:r>
            <a:r>
              <a:rPr lang="es-CO" sz="2400" i="1" dirty="0"/>
              <a:t>broadcast</a:t>
            </a:r>
            <a:r>
              <a:rPr lang="es-CO" sz="2400" dirty="0"/>
              <a:t> que se originan en cualquier nodo de la red.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696160"/>
            <a:ext cx="4886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6.1 Dominio de Difusión o Broadcast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761" y="3174730"/>
            <a:ext cx="43624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7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7672" y="155112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33841" y="1422862"/>
            <a:ext cx="845366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r>
              <a:rPr lang="es-CO" sz="2400" b="1" dirty="0"/>
              <a:t>Realice en Cisco </a:t>
            </a:r>
            <a:r>
              <a:rPr lang="es-CO" sz="2400" b="1" dirty="0" err="1"/>
              <a:t>Packet</a:t>
            </a:r>
            <a:r>
              <a:rPr lang="es-CO" sz="2400" b="1" dirty="0"/>
              <a:t> </a:t>
            </a:r>
            <a:r>
              <a:rPr lang="es-CO" sz="2400" b="1" dirty="0" err="1"/>
              <a:t>tracer</a:t>
            </a:r>
            <a:r>
              <a:rPr lang="es-CO" sz="2400" b="1" dirty="0"/>
              <a:t> el montaje de la siguiente red LAN</a:t>
            </a:r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200" y="2722401"/>
            <a:ext cx="5999196" cy="299297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E39B127-9BF8-42FB-AE13-A2CAFED6CD80}"/>
              </a:ext>
            </a:extLst>
          </p:cNvPr>
          <p:cNvSpPr txBox="1"/>
          <p:nvPr/>
        </p:nvSpPr>
        <p:spPr>
          <a:xfrm>
            <a:off x="3174200" y="5540863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PING 10.0.0.5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294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343465"/>
            <a:ext cx="9601196" cy="1303867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141413" y="2097088"/>
            <a:ext cx="10247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/>
              <a:t>Una VLAN es un método para crear 2 o más redes lógicas en una misma red física. Es decir, cada VLAN conforma en un </a:t>
            </a:r>
            <a:r>
              <a:rPr lang="es-CO" sz="2400" dirty="0" err="1"/>
              <a:t>switch</a:t>
            </a:r>
            <a:r>
              <a:rPr lang="es-CO" sz="2400" dirty="0"/>
              <a:t> su propio dominio de broadcast independiente  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696160"/>
            <a:ext cx="4860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6.2 VLAN: Red de Área Local Virtual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804" y="2918200"/>
            <a:ext cx="41148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5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276255"/>
            <a:ext cx="9601196" cy="1303867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23537" y="2492931"/>
            <a:ext cx="10247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b="1" dirty="0"/>
              <a:t>Tipos de </a:t>
            </a:r>
            <a:r>
              <a:rPr lang="es-CO" sz="2400" b="1" dirty="0" err="1"/>
              <a:t>Vlans</a:t>
            </a:r>
            <a:r>
              <a:rPr lang="es-CO" sz="2400" dirty="0"/>
              <a:t>:</a:t>
            </a:r>
          </a:p>
          <a:p>
            <a:pPr algn="just"/>
            <a:endParaRPr lang="es-CO" sz="2400" dirty="0"/>
          </a:p>
          <a:p>
            <a:pPr marL="457200" indent="-457200" algn="just">
              <a:buAutoNum type="arabicPeriod"/>
            </a:pPr>
            <a:r>
              <a:rPr lang="es-CO" sz="2400" dirty="0"/>
              <a:t>VLAN por puertos</a:t>
            </a:r>
          </a:p>
          <a:p>
            <a:pPr marL="457200" indent="-457200" algn="just">
              <a:buAutoNum type="arabicPeriod"/>
            </a:pPr>
            <a:r>
              <a:rPr lang="es-CO" sz="2400" dirty="0"/>
              <a:t>VLAN por dirección IP</a:t>
            </a:r>
          </a:p>
          <a:p>
            <a:pPr marL="457200" indent="-457200" algn="just">
              <a:buAutoNum type="arabicPeriod"/>
            </a:pPr>
            <a:r>
              <a:rPr lang="es-CO" sz="2400" dirty="0"/>
              <a:t>VLAN por puerto y dirección IP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696160"/>
            <a:ext cx="4860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6.2 VLAN: Red de Área Local Virtual</a:t>
            </a:r>
          </a:p>
        </p:txBody>
      </p:sp>
    </p:spTree>
    <p:extLst>
      <p:ext uri="{BB962C8B-B14F-4D97-AF65-F5344CB8AC3E}">
        <p14:creationId xmlns:p14="http://schemas.microsoft.com/office/powerpoint/2010/main" val="107095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140625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384225"/>
            <a:ext cx="970195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r>
              <a:rPr lang="es-CO" sz="2400" b="1" dirty="0"/>
              <a:t>Realice en Cisco </a:t>
            </a:r>
            <a:r>
              <a:rPr lang="es-CO" sz="2400" b="1" dirty="0" err="1"/>
              <a:t>Packet</a:t>
            </a:r>
            <a:r>
              <a:rPr lang="es-CO" sz="2400" b="1" dirty="0"/>
              <a:t> </a:t>
            </a:r>
            <a:r>
              <a:rPr lang="es-CO" sz="2400" b="1" dirty="0" err="1"/>
              <a:t>tracer</a:t>
            </a:r>
            <a:r>
              <a:rPr lang="es-CO" sz="2400" b="1" dirty="0"/>
              <a:t> el montaje de la siguiente </a:t>
            </a:r>
            <a:r>
              <a:rPr lang="es-CO" sz="2400" b="1" i="1" u="sng" dirty="0"/>
              <a:t>VLAN por puertos</a:t>
            </a:r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86" y="2414042"/>
            <a:ext cx="5305425" cy="31813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661C8A-7ACF-4028-9F98-FE0A8C0A8E0D}"/>
              </a:ext>
            </a:extLst>
          </p:cNvPr>
          <p:cNvSpPr txBox="1"/>
          <p:nvPr/>
        </p:nvSpPr>
        <p:spPr>
          <a:xfrm>
            <a:off x="6645584" y="2492220"/>
            <a:ext cx="37106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CREA VLAN:</a:t>
            </a:r>
          </a:p>
          <a:p>
            <a:r>
              <a:rPr lang="es-ES" dirty="0"/>
              <a:t>=========</a:t>
            </a:r>
          </a:p>
          <a:p>
            <a:r>
              <a:rPr lang="es-ES" dirty="0"/>
              <a:t>VLAN &lt;#&gt;</a:t>
            </a:r>
          </a:p>
          <a:p>
            <a:r>
              <a:rPr lang="es-ES" dirty="0"/>
              <a:t>NAME &lt;NOMBRE_VLAN&gt;</a:t>
            </a:r>
          </a:p>
          <a:p>
            <a:endParaRPr lang="es-ES" dirty="0"/>
          </a:p>
          <a:p>
            <a:r>
              <a:rPr lang="es-ES" dirty="0"/>
              <a:t>ASIGNAR PUERTO A VLAN</a:t>
            </a:r>
          </a:p>
          <a:p>
            <a:r>
              <a:rPr lang="es-ES" dirty="0"/>
              <a:t>===================</a:t>
            </a:r>
          </a:p>
          <a:p>
            <a:r>
              <a:rPr lang="es-ES" dirty="0"/>
              <a:t>INTERFACE  &lt;#PUERTO&gt;</a:t>
            </a:r>
          </a:p>
          <a:p>
            <a:r>
              <a:rPr lang="es-ES" dirty="0"/>
              <a:t>SWITCHPORT ACCESS VLAN &lt;#&gt;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0C3729-44B9-4879-B847-D95A69E62397}"/>
              </a:ext>
            </a:extLst>
          </p:cNvPr>
          <p:cNvSpPr txBox="1"/>
          <p:nvPr/>
        </p:nvSpPr>
        <p:spPr>
          <a:xfrm>
            <a:off x="3893498" y="2328317"/>
            <a:ext cx="10476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10.0.0./8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4583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241376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806562" y="1551651"/>
            <a:ext cx="100296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r>
              <a:rPr lang="es-CO" sz="2400" b="1" dirty="0"/>
              <a:t>Realice en Cisco </a:t>
            </a:r>
            <a:r>
              <a:rPr lang="es-CO" sz="2400" b="1" dirty="0" err="1"/>
              <a:t>Packet</a:t>
            </a:r>
            <a:r>
              <a:rPr lang="es-CO" sz="2400" b="1" dirty="0"/>
              <a:t> </a:t>
            </a:r>
            <a:r>
              <a:rPr lang="es-CO" sz="2400" b="1" dirty="0" err="1"/>
              <a:t>tracer</a:t>
            </a:r>
            <a:r>
              <a:rPr lang="es-CO" sz="2400" b="1" dirty="0"/>
              <a:t> el montaje de la siguiente </a:t>
            </a:r>
            <a:r>
              <a:rPr lang="es-CO" sz="2400" b="1" i="1" u="sng" dirty="0"/>
              <a:t>VLAN por dirección IP</a:t>
            </a:r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587" y="2428405"/>
            <a:ext cx="554355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83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164915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947532" y="1461499"/>
            <a:ext cx="99059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r>
              <a:rPr lang="es-CO" sz="2400" b="1" dirty="0"/>
              <a:t>Realice en Cisco </a:t>
            </a:r>
            <a:r>
              <a:rPr lang="es-CO" sz="2400" b="1" dirty="0" err="1"/>
              <a:t>Packet</a:t>
            </a:r>
            <a:r>
              <a:rPr lang="es-CO" sz="2400" b="1" dirty="0"/>
              <a:t> </a:t>
            </a:r>
            <a:r>
              <a:rPr lang="es-CO" sz="2400" b="1" dirty="0" err="1"/>
              <a:t>tracer</a:t>
            </a:r>
            <a:r>
              <a:rPr lang="es-CO" sz="2400" b="1" dirty="0"/>
              <a:t> el montaje de la siguiente </a:t>
            </a:r>
            <a:r>
              <a:rPr lang="es-CO" sz="2400" b="1" i="1" u="sng" dirty="0"/>
              <a:t>VLAN por puerto y dirección IP</a:t>
            </a:r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694" y="2506886"/>
            <a:ext cx="51625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84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164915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8845A7-5248-4BE6-83A0-4A1FEE363B5A}"/>
              </a:ext>
            </a:extLst>
          </p:cNvPr>
          <p:cNvSpPr txBox="1"/>
          <p:nvPr/>
        </p:nvSpPr>
        <p:spPr>
          <a:xfrm>
            <a:off x="1251605" y="2451534"/>
            <a:ext cx="9685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b="1" dirty="0"/>
              <a:t>6.3 SUBREDES</a:t>
            </a:r>
          </a:p>
          <a:p>
            <a:pPr algn="just"/>
            <a:r>
              <a:rPr lang="es-CO" sz="2400" dirty="0"/>
              <a:t>Una subred es un rango de direcciones IP creado para optimizar su uso principalmente bajo IP v4. </a:t>
            </a:r>
          </a:p>
        </p:txBody>
      </p:sp>
    </p:spTree>
    <p:extLst>
      <p:ext uri="{BB962C8B-B14F-4D97-AF65-F5344CB8AC3E}">
        <p14:creationId xmlns:p14="http://schemas.microsoft.com/office/powerpoint/2010/main" val="1369736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164915"/>
            <a:ext cx="9905998" cy="1478570"/>
          </a:xfrm>
        </p:spPr>
        <p:txBody>
          <a:bodyPr/>
          <a:lstStyle/>
          <a:p>
            <a:pPr algn="l"/>
            <a:r>
              <a:rPr lang="es-CO" dirty="0"/>
              <a:t>6. REDES LAN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8845A7-5248-4BE6-83A0-4A1FEE363B5A}"/>
              </a:ext>
            </a:extLst>
          </p:cNvPr>
          <p:cNvSpPr txBox="1"/>
          <p:nvPr/>
        </p:nvSpPr>
        <p:spPr>
          <a:xfrm>
            <a:off x="1251605" y="1181820"/>
            <a:ext cx="968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b="1" dirty="0"/>
              <a:t>6.3.1 Cálculo de Subredes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43A521-EE2B-4ABC-8467-ABD2B01C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56" y="164915"/>
            <a:ext cx="5427617" cy="650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5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164915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8845A7-5248-4BE6-83A0-4A1FEE363B5A}"/>
              </a:ext>
            </a:extLst>
          </p:cNvPr>
          <p:cNvSpPr txBox="1"/>
          <p:nvPr/>
        </p:nvSpPr>
        <p:spPr>
          <a:xfrm>
            <a:off x="1251605" y="1181820"/>
            <a:ext cx="968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b="1" dirty="0"/>
              <a:t>6.3.1 Cálculo de Subredes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760D0E-7BCA-4899-AD4C-F80C00545048}"/>
              </a:ext>
            </a:extLst>
          </p:cNvPr>
          <p:cNvSpPr txBox="1"/>
          <p:nvPr/>
        </p:nvSpPr>
        <p:spPr>
          <a:xfrm>
            <a:off x="1381041" y="2687110"/>
            <a:ext cx="39003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r>
              <a:rPr lang="es-CO" sz="2400" b="1" dirty="0"/>
              <a:t>Determine 12 subredes para:</a:t>
            </a:r>
          </a:p>
          <a:p>
            <a:r>
              <a:rPr lang="es-CO" sz="2400" b="1" dirty="0"/>
              <a:t>Red:10.0.0.0</a:t>
            </a:r>
          </a:p>
          <a:p>
            <a:r>
              <a:rPr lang="es-CO" sz="2400" b="1" dirty="0"/>
              <a:t>Máscara de red: 255.0.0.0</a:t>
            </a:r>
          </a:p>
        </p:txBody>
      </p:sp>
    </p:spTree>
    <p:extLst>
      <p:ext uri="{BB962C8B-B14F-4D97-AF65-F5344CB8AC3E}">
        <p14:creationId xmlns:p14="http://schemas.microsoft.com/office/powerpoint/2010/main" val="605343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164915"/>
            <a:ext cx="9905998" cy="1478570"/>
          </a:xfrm>
        </p:spPr>
        <p:txBody>
          <a:bodyPr/>
          <a:lstStyle/>
          <a:p>
            <a:r>
              <a:rPr lang="es-CO" dirty="0"/>
              <a:t>6. REDES LAN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8845A7-5248-4BE6-83A0-4A1FEE363B5A}"/>
              </a:ext>
            </a:extLst>
          </p:cNvPr>
          <p:cNvSpPr txBox="1"/>
          <p:nvPr/>
        </p:nvSpPr>
        <p:spPr>
          <a:xfrm>
            <a:off x="1831155" y="1631593"/>
            <a:ext cx="96856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b="1" dirty="0"/>
              <a:t>6.4 CONFIGURACIÓN DE DISPOSITIVOS CISCO</a:t>
            </a:r>
          </a:p>
          <a:p>
            <a:pPr algn="just"/>
            <a:r>
              <a:rPr lang="es-ES" sz="2400" b="1" dirty="0"/>
              <a:t>6.4.1 Modos de funcionamiento de Cisco IOS</a:t>
            </a:r>
          </a:p>
          <a:p>
            <a:pPr algn="just"/>
            <a:endParaRPr lang="es-E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EXEC de Usuario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EXEC Privilegiado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Configuración Global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b="1" dirty="0" err="1"/>
              <a:t>Submodos</a:t>
            </a:r>
            <a:r>
              <a:rPr lang="es-ES" sz="2400" b="1" dirty="0"/>
              <a:t> de configuración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s-ES" sz="2400" b="1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s-E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CO" sz="2400" b="1" dirty="0"/>
          </a:p>
        </p:txBody>
      </p:sp>
      <p:pic>
        <p:nvPicPr>
          <p:cNvPr id="1026" name="Picture 2" descr="https://sites.google.com/site/wikiexamplemey/_/rsrc/1461865260562/configuracion-de-rotersy-swith-mediante-la-cli/ntrenamiento-intensivo-sobre-ios/modos-de-funcionamiento-de-cisco-ios/modos.jpg?height=213&amp;width=4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214" y="2703690"/>
            <a:ext cx="4826674" cy="257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046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8534" y="309093"/>
            <a:ext cx="9905998" cy="1478570"/>
          </a:xfrm>
        </p:spPr>
        <p:txBody>
          <a:bodyPr/>
          <a:lstStyle/>
          <a:p>
            <a:r>
              <a:rPr lang="es-CO" dirty="0"/>
              <a:t>7. REDES WAN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58784" y="1318161"/>
            <a:ext cx="72266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CO" sz="2400" b="1" dirty="0">
                <a:solidFill>
                  <a:prstClr val="white"/>
                </a:solidFill>
              </a:rPr>
              <a:t>Actividad:</a:t>
            </a:r>
          </a:p>
          <a:p>
            <a:pPr lvl="0"/>
            <a:r>
              <a:rPr lang="es-CO" sz="2400" b="1" dirty="0">
                <a:solidFill>
                  <a:prstClr val="white"/>
                </a:solidFill>
              </a:rPr>
              <a:t>Indagar acerca de:</a:t>
            </a:r>
          </a:p>
          <a:p>
            <a:pPr marL="457200" lvl="0" indent="-457200">
              <a:buAutoNum type="arabicPeriod"/>
            </a:pPr>
            <a:r>
              <a:rPr lang="es-CO" sz="2400" b="1" dirty="0">
                <a:solidFill>
                  <a:prstClr val="white"/>
                </a:solidFill>
              </a:rPr>
              <a:t>Qué es Enrutamiento?</a:t>
            </a:r>
          </a:p>
          <a:p>
            <a:pPr marL="457200" lvl="0" indent="-457200">
              <a:buAutoNum type="arabicPeriod"/>
            </a:pPr>
            <a:r>
              <a:rPr lang="es-CO" sz="2400" b="1" dirty="0">
                <a:solidFill>
                  <a:prstClr val="white"/>
                </a:solidFill>
              </a:rPr>
              <a:t>Cómo se clasifican los protocolos de enrutamiento?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984" y="1394363"/>
            <a:ext cx="6723525" cy="480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58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F385A6-2E2E-4E09-90C5-5C195523344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B73BA2F-ABB3-447F-BA40-B77780EF862E}"/>
</file>

<file path=customXml/itemProps3.xml><?xml version="1.0" encoding="utf-8"?>
<ds:datastoreItem xmlns:ds="http://schemas.openxmlformats.org/officeDocument/2006/customXml" ds:itemID="{F413D829-2E8B-47A9-AA75-452397255A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4656</TotalTime>
  <Words>332</Words>
  <Application>Microsoft Office PowerPoint</Application>
  <PresentationFormat>Panorámica</PresentationFormat>
  <Paragraphs>82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Garamond</vt:lpstr>
      <vt:lpstr>Orgánico</vt:lpstr>
      <vt:lpstr>6. REDES LAN  </vt:lpstr>
      <vt:lpstr>6. REDES LAN</vt:lpstr>
      <vt:lpstr>6. REDES LAN</vt:lpstr>
      <vt:lpstr>6. REDES LAN</vt:lpstr>
      <vt:lpstr>6. REDES LAN</vt:lpstr>
      <vt:lpstr>6. REDES LAN</vt:lpstr>
      <vt:lpstr>6. REDES LAN</vt:lpstr>
      <vt:lpstr>6. REDES LAN</vt:lpstr>
      <vt:lpstr>6. REDES LAN</vt:lpstr>
      <vt:lpstr>6. REDES LAN</vt:lpstr>
      <vt:lpstr>6. REDES LAN</vt:lpstr>
      <vt:lpstr>6. REDES LAN</vt:lpstr>
      <vt:lpstr>7. REDES WAN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ERNESTO</dc:creator>
  <cp:lastModifiedBy>Ernesto Jose Garcia Puche</cp:lastModifiedBy>
  <cp:revision>225</cp:revision>
  <dcterms:created xsi:type="dcterms:W3CDTF">2020-07-24T11:48:35Z</dcterms:created>
  <dcterms:modified xsi:type="dcterms:W3CDTF">2025-03-26T19:10:33Z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