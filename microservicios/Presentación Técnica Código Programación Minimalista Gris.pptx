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Courier Prime Bold" charset="1" panose="00000809000000000000"/>
      <p:regular r:id="rId16"/>
    </p:embeddedFont>
    <p:embeddedFont>
      <p:font typeface="Courier Prime" charset="1" panose="00000509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8" Type="http://schemas.openxmlformats.org/officeDocument/2006/relationships/slide" Target="slides/slide3.xml"/><Relationship Id="rId18" Type="http://schemas.openxmlformats.org/officeDocument/2006/relationships/customXml" Target="../customXml/item1.xml"/><Relationship Id="rId3" Type="http://schemas.openxmlformats.org/officeDocument/2006/relationships/viewProps" Target="viewProps.xml"/><Relationship Id="rId12" Type="http://schemas.openxmlformats.org/officeDocument/2006/relationships/slide" Target="slides/slide7.xml"/><Relationship Id="rId17" Type="http://schemas.openxmlformats.org/officeDocument/2006/relationships/font" Target="fonts/font17.fntdata"/><Relationship Id="rId7" Type="http://schemas.openxmlformats.org/officeDocument/2006/relationships/slide" Target="slides/slide2.xml"/><Relationship Id="rId16" Type="http://schemas.openxmlformats.org/officeDocument/2006/relationships/font" Target="fonts/font16.fntdata"/><Relationship Id="rId2" Type="http://schemas.openxmlformats.org/officeDocument/2006/relationships/presProps" Target="presProps.xml"/><Relationship Id="rId20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5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customXml" Target="../customXml/item2.xml"/><Relationship Id="rId14" Type="http://schemas.openxmlformats.org/officeDocument/2006/relationships/slide" Target="slides/slide9.xml"/><Relationship Id="rId4" Type="http://schemas.openxmlformats.org/officeDocument/2006/relationships/theme" Target="theme/theme1.xml"/><Relationship Id="rId9" Type="http://schemas.openxmlformats.org/officeDocument/2006/relationships/slide" Target="slides/slide4.xml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202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5400000">
            <a:off x="-3294138" y="4385494"/>
            <a:ext cx="9650362" cy="0"/>
          </a:xfrm>
          <a:prstGeom prst="line">
            <a:avLst/>
          </a:prstGeom>
          <a:ln cap="flat" w="95250">
            <a:solidFill>
              <a:srgbClr val="2D2D3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2537186" y="2704575"/>
            <a:ext cx="11198875" cy="1326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397"/>
              </a:lnSpc>
            </a:pPr>
            <a:r>
              <a:rPr lang="en-US" sz="9120" b="true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Observabilidad </a:t>
            </a:r>
            <a:r>
              <a:rPr lang="en-US" sz="912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{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415791" y="7091193"/>
            <a:ext cx="2471972" cy="1607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477"/>
              </a:lnSpc>
            </a:pPr>
            <a:r>
              <a:rPr lang="en-US" sz="10944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}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194891" y="4702194"/>
            <a:ext cx="10747189" cy="2403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84"/>
              </a:lnSpc>
            </a:pPr>
            <a:r>
              <a:rPr lang="en-US" sz="4560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&lt;Por="Brayan Gonzalez"/&gt;</a:t>
            </a:r>
          </a:p>
          <a:p>
            <a:pPr algn="l">
              <a:lnSpc>
                <a:spcPts val="6384"/>
              </a:lnSpc>
            </a:pPr>
            <a:r>
              <a:rPr lang="en-US" sz="4560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&lt;Por="Wilman Zuleta"/&gt;</a:t>
            </a:r>
          </a:p>
          <a:p>
            <a:pPr algn="l">
              <a:lnSpc>
                <a:spcPts val="6384"/>
              </a:lnSpc>
            </a:pPr>
            <a:r>
              <a:rPr lang="en-US" sz="4560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&lt;Por="Yeiler Simons"/&gt;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194891" y="1687047"/>
            <a:ext cx="11259224" cy="474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0"/>
              </a:lnSpc>
            </a:pPr>
            <a:r>
              <a:rPr lang="en-US" sz="2736">
                <a:solidFill>
                  <a:srgbClr val="8F8F8F"/>
                </a:solidFill>
                <a:latin typeface="Courier Prime"/>
                <a:ea typeface="Courier Prime"/>
                <a:cs typeface="Courier Prime"/>
                <a:sym typeface="Courier Prime"/>
              </a:rPr>
              <a:t>&lt;!--Estudio Shonos--&gt;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4762002" y="-102870"/>
            <a:ext cx="4230823" cy="10389870"/>
            <a:chOff x="0" y="0"/>
            <a:chExt cx="1543416" cy="379025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543416" cy="3790253"/>
            </a:xfrm>
            <a:custGeom>
              <a:avLst/>
              <a:gdLst/>
              <a:ahLst/>
              <a:cxnLst/>
              <a:rect r="r" b="b" t="t" l="l"/>
              <a:pathLst>
                <a:path h="3790253" w="1543416">
                  <a:moveTo>
                    <a:pt x="0" y="0"/>
                  </a:moveTo>
                  <a:lnTo>
                    <a:pt x="1543416" y="0"/>
                  </a:lnTo>
                  <a:lnTo>
                    <a:pt x="1543416" y="3790253"/>
                  </a:lnTo>
                  <a:lnTo>
                    <a:pt x="0" y="3790253"/>
                  </a:lnTo>
                  <a:close/>
                </a:path>
              </a:pathLst>
            </a:custGeom>
            <a:solidFill>
              <a:srgbClr val="2D2D35"/>
            </a:solidFill>
          </p:spPr>
        </p:sp>
      </p:grpSp>
      <p:sp>
        <p:nvSpPr>
          <p:cNvPr name="AutoShape 9" id="9"/>
          <p:cNvSpPr/>
          <p:nvPr/>
        </p:nvSpPr>
        <p:spPr>
          <a:xfrm rot="0">
            <a:off x="14666595" y="9210675"/>
            <a:ext cx="1539000" cy="0"/>
          </a:xfrm>
          <a:prstGeom prst="line">
            <a:avLst/>
          </a:prstGeom>
          <a:ln cap="flat" w="47625">
            <a:solidFill>
              <a:srgbClr val="FFFFFF"/>
            </a:solidFill>
            <a:prstDash val="solid"/>
            <a:headEnd type="diamond" len="lg" w="lg"/>
            <a:tailEnd type="arrow" len="sm" w="med"/>
          </a:ln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202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328787" y="-102870"/>
            <a:ext cx="10959213" cy="10389870"/>
            <a:chOff x="0" y="0"/>
            <a:chExt cx="3997951" cy="379025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997951" cy="3790253"/>
            </a:xfrm>
            <a:custGeom>
              <a:avLst/>
              <a:gdLst/>
              <a:ahLst/>
              <a:cxnLst/>
              <a:rect r="r" b="b" t="t" l="l"/>
              <a:pathLst>
                <a:path h="3790253" w="3997951">
                  <a:moveTo>
                    <a:pt x="0" y="0"/>
                  </a:moveTo>
                  <a:lnTo>
                    <a:pt x="3997951" y="0"/>
                  </a:lnTo>
                  <a:lnTo>
                    <a:pt x="3997951" y="3790253"/>
                  </a:lnTo>
                  <a:lnTo>
                    <a:pt x="0" y="3790253"/>
                  </a:lnTo>
                  <a:close/>
                </a:path>
              </a:pathLst>
            </a:custGeom>
            <a:solidFill>
              <a:srgbClr val="2D2D35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317891" y="4654868"/>
            <a:ext cx="5179073" cy="893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39"/>
              </a:lnSpc>
            </a:pPr>
            <a:r>
              <a:rPr lang="en-US" sz="6000" b="true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Contenidos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450235" y="1848167"/>
            <a:ext cx="9505035" cy="6400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51" indent="-377825" lvl="1">
              <a:lnSpc>
                <a:spcPts val="6370"/>
              </a:lnSpc>
              <a:buFont typeface="Arial"/>
              <a:buChar char="•"/>
            </a:pPr>
            <a:r>
              <a:rPr lang="en-US" sz="35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La Observabilidad</a:t>
            </a:r>
          </a:p>
          <a:p>
            <a:pPr algn="l" marL="755651" indent="-377825" lvl="1">
              <a:lnSpc>
                <a:spcPts val="6370"/>
              </a:lnSpc>
              <a:buFont typeface="Arial"/>
              <a:buChar char="•"/>
            </a:pPr>
            <a:r>
              <a:rPr lang="en-US" sz="35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O</a:t>
            </a:r>
            <a:r>
              <a:rPr lang="en-US" sz="35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bservabilidad vs Monitoreo</a:t>
            </a:r>
          </a:p>
          <a:p>
            <a:pPr algn="l" marL="755651" indent="-377825" lvl="1">
              <a:lnSpc>
                <a:spcPts val="6370"/>
              </a:lnSpc>
              <a:buFont typeface="Arial"/>
              <a:buChar char="•"/>
            </a:pPr>
            <a:r>
              <a:rPr lang="en-US" sz="35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Los Tres Pilares: Logs, Métricas y Trazas</a:t>
            </a:r>
          </a:p>
          <a:p>
            <a:pPr algn="l" marL="755651" indent="-377825" lvl="1">
              <a:lnSpc>
                <a:spcPts val="6370"/>
              </a:lnSpc>
              <a:buFont typeface="Arial"/>
              <a:buChar char="•"/>
            </a:pPr>
            <a:r>
              <a:rPr lang="en-US" sz="35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Retos en Entornos de Microservicios</a:t>
            </a:r>
          </a:p>
          <a:p>
            <a:pPr algn="l" marL="755651" indent="-377825" lvl="1">
              <a:lnSpc>
                <a:spcPts val="6370"/>
              </a:lnSpc>
              <a:buFont typeface="Arial"/>
              <a:buChar char="•"/>
            </a:pPr>
            <a:r>
              <a:rPr lang="en-US" sz="35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Estándares y Buenas Prácticas</a:t>
            </a:r>
          </a:p>
          <a:p>
            <a:pPr algn="l">
              <a:lnSpc>
                <a:spcPts val="6876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7140142" y="1848167"/>
            <a:ext cx="1167193" cy="6344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370"/>
              </a:lnSpc>
            </a:pPr>
            <a:r>
              <a:rPr lang="en-US" sz="3500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01</a:t>
            </a:r>
          </a:p>
          <a:p>
            <a:pPr algn="r">
              <a:lnSpc>
                <a:spcPts val="6370"/>
              </a:lnSpc>
            </a:pPr>
            <a:r>
              <a:rPr lang="en-US" sz="3500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02</a:t>
            </a:r>
          </a:p>
          <a:p>
            <a:pPr algn="r">
              <a:lnSpc>
                <a:spcPts val="6370"/>
              </a:lnSpc>
            </a:pPr>
            <a:r>
              <a:rPr lang="en-US" sz="3500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03</a:t>
            </a:r>
          </a:p>
          <a:p>
            <a:pPr algn="r">
              <a:lnSpc>
                <a:spcPts val="6370"/>
              </a:lnSpc>
            </a:pPr>
          </a:p>
          <a:p>
            <a:pPr algn="r">
              <a:lnSpc>
                <a:spcPts val="6370"/>
              </a:lnSpc>
            </a:pPr>
            <a:r>
              <a:rPr lang="en-US" sz="3500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04</a:t>
            </a:r>
          </a:p>
          <a:p>
            <a:pPr algn="r">
              <a:lnSpc>
                <a:spcPts val="6370"/>
              </a:lnSpc>
            </a:pPr>
          </a:p>
          <a:p>
            <a:pPr algn="r">
              <a:lnSpc>
                <a:spcPts val="6370"/>
              </a:lnSpc>
            </a:pPr>
            <a:r>
              <a:rPr lang="en-US" sz="3500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05</a:t>
            </a:r>
          </a:p>
          <a:p>
            <a:pPr algn="r">
              <a:lnSpc>
                <a:spcPts val="6370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02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95678" y="2570914"/>
            <a:ext cx="7060535" cy="5721600"/>
            <a:chOff x="0" y="0"/>
            <a:chExt cx="5832743" cy="472664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832743" cy="4726643"/>
            </a:xfrm>
            <a:custGeom>
              <a:avLst/>
              <a:gdLst/>
              <a:ahLst/>
              <a:cxnLst/>
              <a:rect r="r" b="b" t="t" l="l"/>
              <a:pathLst>
                <a:path h="4726643" w="5832743">
                  <a:moveTo>
                    <a:pt x="0" y="0"/>
                  </a:moveTo>
                  <a:lnTo>
                    <a:pt x="5832743" y="0"/>
                  </a:lnTo>
                  <a:lnTo>
                    <a:pt x="5832743" y="4726643"/>
                  </a:lnTo>
                  <a:lnTo>
                    <a:pt x="0" y="4726643"/>
                  </a:lnTo>
                  <a:close/>
                </a:path>
              </a:pathLst>
            </a:custGeom>
            <a:solidFill>
              <a:srgbClr val="2D2D35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8019401" y="3221258"/>
            <a:ext cx="9644699" cy="4224229"/>
          </a:xfrm>
          <a:custGeom>
            <a:avLst/>
            <a:gdLst/>
            <a:ahLst/>
            <a:cxnLst/>
            <a:rect r="r" b="b" t="t" l="l"/>
            <a:pathLst>
              <a:path h="4224229" w="9644699">
                <a:moveTo>
                  <a:pt x="0" y="0"/>
                </a:moveTo>
                <a:lnTo>
                  <a:pt x="9644699" y="0"/>
                </a:lnTo>
                <a:lnTo>
                  <a:pt x="9644699" y="4224229"/>
                </a:lnTo>
                <a:lnTo>
                  <a:pt x="0" y="42242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52831" y="1047750"/>
            <a:ext cx="7031406" cy="582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9"/>
              </a:lnSpc>
            </a:pPr>
            <a:r>
              <a:rPr lang="en-US" sz="3999" b="true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Observabilidad {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557135" y="8675370"/>
            <a:ext cx="702165" cy="582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559"/>
              </a:lnSpc>
            </a:pPr>
            <a:r>
              <a:rPr lang="en-US" sz="39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}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02143" y="2707803"/>
            <a:ext cx="6413425" cy="5974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24"/>
              </a:lnSpc>
            </a:pPr>
            <a:r>
              <a:rPr lang="en-US" sz="317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La capacidad de un sistema para ser comprendido desde el exterior basándose únicamente en sus salidas</a:t>
            </a:r>
          </a:p>
          <a:p>
            <a:pPr algn="just">
              <a:lnSpc>
                <a:spcPts val="4324"/>
              </a:lnSpc>
            </a:pPr>
            <a:r>
              <a:rPr lang="en-US" sz="317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•Fundamental para sistemas distribuidos.</a:t>
            </a:r>
          </a:p>
          <a:p>
            <a:pPr algn="just">
              <a:lnSpc>
                <a:spcPts val="4324"/>
              </a:lnSpc>
            </a:pPr>
            <a:r>
              <a:rPr lang="en-US" sz="317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•Permite diagnosticar problemas desconocidos.</a:t>
            </a:r>
          </a:p>
          <a:p>
            <a:pPr algn="just">
              <a:lnSpc>
                <a:spcPts val="4324"/>
              </a:lnSpc>
            </a:pPr>
            <a:r>
              <a:rPr lang="en-US" sz="317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•Proporciona visibilidad en sistemas complejos.</a:t>
            </a:r>
          </a:p>
          <a:p>
            <a:pPr algn="l">
              <a:lnSpc>
                <a:spcPts val="4324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202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047750"/>
            <a:ext cx="9410155" cy="582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9"/>
              </a:lnSpc>
            </a:pPr>
            <a:r>
              <a:rPr lang="en-US" sz="3999" b="true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Observabilidad vs Monitoreo {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6557135" y="8675370"/>
            <a:ext cx="702165" cy="582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559"/>
              </a:lnSpc>
            </a:pPr>
            <a:r>
              <a:rPr lang="en-US" sz="39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}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722346" y="2680489"/>
            <a:ext cx="7171969" cy="5206735"/>
            <a:chOff x="0" y="0"/>
            <a:chExt cx="4710317" cy="341961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710318" cy="3419615"/>
            </a:xfrm>
            <a:custGeom>
              <a:avLst/>
              <a:gdLst/>
              <a:ahLst/>
              <a:cxnLst/>
              <a:rect r="r" b="b" t="t" l="l"/>
              <a:pathLst>
                <a:path h="3419615" w="4710318">
                  <a:moveTo>
                    <a:pt x="0" y="0"/>
                  </a:moveTo>
                  <a:lnTo>
                    <a:pt x="4710318" y="0"/>
                  </a:lnTo>
                  <a:lnTo>
                    <a:pt x="4710318" y="3419615"/>
                  </a:lnTo>
                  <a:lnTo>
                    <a:pt x="0" y="3419615"/>
                  </a:lnTo>
                  <a:close/>
                </a:path>
              </a:pathLst>
            </a:custGeom>
            <a:solidFill>
              <a:srgbClr val="2D2D35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28700" y="2733661"/>
            <a:ext cx="6731326" cy="4946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25"/>
              </a:lnSpc>
            </a:pPr>
            <a:r>
              <a:rPr lang="en-US" sz="3621" b="true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•Monitoreo  es Reactivo:</a:t>
            </a:r>
            <a:r>
              <a:rPr lang="en-US" sz="362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</a:t>
            </a:r>
          </a:p>
          <a:p>
            <a:pPr algn="l">
              <a:lnSpc>
                <a:spcPts val="4925"/>
              </a:lnSpc>
            </a:pPr>
            <a:r>
              <a:rPr lang="en-US" sz="362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•responde a problemas conocidos</a:t>
            </a:r>
          </a:p>
          <a:p>
            <a:pPr algn="l">
              <a:lnSpc>
                <a:spcPts val="4925"/>
              </a:lnSpc>
            </a:pPr>
            <a:r>
              <a:rPr lang="en-US" sz="362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•Se centra en si el sistema está funcionando</a:t>
            </a:r>
          </a:p>
          <a:p>
            <a:pPr algn="l">
              <a:lnSpc>
                <a:spcPts val="4925"/>
              </a:lnSpc>
            </a:pPr>
            <a:r>
              <a:rPr lang="en-US" sz="362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•Utiliza métricas y alertas predefinidas.</a:t>
            </a:r>
          </a:p>
          <a:p>
            <a:pPr algn="l">
              <a:lnSpc>
                <a:spcPts val="4925"/>
              </a:lnSpc>
            </a:pPr>
          </a:p>
        </p:txBody>
      </p:sp>
      <p:grpSp>
        <p:nvGrpSpPr>
          <p:cNvPr name="Group 7" id="7"/>
          <p:cNvGrpSpPr/>
          <p:nvPr/>
        </p:nvGrpSpPr>
        <p:grpSpPr>
          <a:xfrm rot="0">
            <a:off x="8653013" y="2680489"/>
            <a:ext cx="8961719" cy="5206735"/>
            <a:chOff x="0" y="0"/>
            <a:chExt cx="5885767" cy="341961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885767" cy="3419615"/>
            </a:xfrm>
            <a:custGeom>
              <a:avLst/>
              <a:gdLst/>
              <a:ahLst/>
              <a:cxnLst/>
              <a:rect r="r" b="b" t="t" l="l"/>
              <a:pathLst>
                <a:path h="3419615" w="5885767">
                  <a:moveTo>
                    <a:pt x="0" y="0"/>
                  </a:moveTo>
                  <a:lnTo>
                    <a:pt x="5885767" y="0"/>
                  </a:lnTo>
                  <a:lnTo>
                    <a:pt x="5885767" y="3419615"/>
                  </a:lnTo>
                  <a:lnTo>
                    <a:pt x="0" y="3419615"/>
                  </a:lnTo>
                  <a:close/>
                </a:path>
              </a:pathLst>
            </a:custGeom>
            <a:solidFill>
              <a:srgbClr val="2D2D35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9144000" y="2733661"/>
            <a:ext cx="8309493" cy="5565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25"/>
              </a:lnSpc>
            </a:pPr>
            <a:r>
              <a:rPr lang="en-US" sz="3621" b="true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•Observabilidad Proactiva: </a:t>
            </a:r>
          </a:p>
          <a:p>
            <a:pPr algn="l">
              <a:lnSpc>
                <a:spcPts val="4925"/>
              </a:lnSpc>
            </a:pPr>
            <a:r>
              <a:rPr lang="en-US" sz="362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•descubre problemas desconocidos.</a:t>
            </a:r>
          </a:p>
          <a:p>
            <a:pPr algn="l">
              <a:lnSpc>
                <a:spcPts val="4925"/>
              </a:lnSpc>
            </a:pPr>
            <a:r>
              <a:rPr lang="en-US" sz="362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•Se centra en por qué el sistema no funciona correctamente.</a:t>
            </a:r>
          </a:p>
          <a:p>
            <a:pPr algn="l">
              <a:lnSpc>
                <a:spcPts val="4925"/>
              </a:lnSpc>
            </a:pPr>
            <a:r>
              <a:rPr lang="en-US" sz="362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•Proporciona contexto completo del comportamiento.</a:t>
            </a:r>
          </a:p>
          <a:p>
            <a:pPr algn="l">
              <a:lnSpc>
                <a:spcPts val="4925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02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15833" y="3963742"/>
            <a:ext cx="11301259" cy="3319745"/>
          </a:xfrm>
          <a:custGeom>
            <a:avLst/>
            <a:gdLst/>
            <a:ahLst/>
            <a:cxnLst/>
            <a:rect r="r" b="b" t="t" l="l"/>
            <a:pathLst>
              <a:path h="3319745" w="11301259">
                <a:moveTo>
                  <a:pt x="0" y="0"/>
                </a:moveTo>
                <a:lnTo>
                  <a:pt x="11301259" y="0"/>
                </a:lnTo>
                <a:lnTo>
                  <a:pt x="11301259" y="3319745"/>
                </a:lnTo>
                <a:lnTo>
                  <a:pt x="0" y="33197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15833" y="2341887"/>
            <a:ext cx="11301259" cy="1621855"/>
            <a:chOff x="0" y="0"/>
            <a:chExt cx="7422301" cy="106518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422301" cy="1065182"/>
            </a:xfrm>
            <a:custGeom>
              <a:avLst/>
              <a:gdLst/>
              <a:ahLst/>
              <a:cxnLst/>
              <a:rect r="r" b="b" t="t" l="l"/>
              <a:pathLst>
                <a:path h="1065182" w="7422301">
                  <a:moveTo>
                    <a:pt x="0" y="0"/>
                  </a:moveTo>
                  <a:lnTo>
                    <a:pt x="7422301" y="0"/>
                  </a:lnTo>
                  <a:lnTo>
                    <a:pt x="7422301" y="1065182"/>
                  </a:lnTo>
                  <a:lnTo>
                    <a:pt x="0" y="1065182"/>
                  </a:lnTo>
                  <a:close/>
                </a:path>
              </a:pathLst>
            </a:custGeom>
            <a:solidFill>
              <a:srgbClr val="2D2D35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5833" y="7335455"/>
            <a:ext cx="11301259" cy="1922845"/>
            <a:chOff x="0" y="0"/>
            <a:chExt cx="7422301" cy="126286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422301" cy="1262862"/>
            </a:xfrm>
            <a:custGeom>
              <a:avLst/>
              <a:gdLst/>
              <a:ahLst/>
              <a:cxnLst/>
              <a:rect r="r" b="b" t="t" l="l"/>
              <a:pathLst>
                <a:path h="1262862" w="7422301">
                  <a:moveTo>
                    <a:pt x="0" y="0"/>
                  </a:moveTo>
                  <a:lnTo>
                    <a:pt x="7422301" y="0"/>
                  </a:lnTo>
                  <a:lnTo>
                    <a:pt x="7422301" y="1262862"/>
                  </a:lnTo>
                  <a:lnTo>
                    <a:pt x="0" y="1262862"/>
                  </a:lnTo>
                  <a:close/>
                </a:path>
              </a:pathLst>
            </a:custGeom>
            <a:solidFill>
              <a:srgbClr val="2D2D35"/>
            </a:solid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3043722" y="2750485"/>
            <a:ext cx="4841791" cy="5746259"/>
          </a:xfrm>
          <a:custGeom>
            <a:avLst/>
            <a:gdLst/>
            <a:ahLst/>
            <a:cxnLst/>
            <a:rect r="r" b="b" t="t" l="l"/>
            <a:pathLst>
              <a:path h="5746259" w="4841791">
                <a:moveTo>
                  <a:pt x="0" y="0"/>
                </a:moveTo>
                <a:lnTo>
                  <a:pt x="4841791" y="0"/>
                </a:lnTo>
                <a:lnTo>
                  <a:pt x="4841791" y="5746259"/>
                </a:lnTo>
                <a:lnTo>
                  <a:pt x="0" y="57462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75726" t="-21094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1038225"/>
            <a:ext cx="8564990" cy="692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17"/>
              </a:lnSpc>
            </a:pPr>
            <a:r>
              <a:rPr lang="en-US" sz="4664" b="true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Los Tres Pilares: Logs{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2456293"/>
            <a:ext cx="12973315" cy="1834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71"/>
              </a:lnSpc>
            </a:pPr>
            <a:r>
              <a:rPr lang="en-US" sz="3199" b="true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Logs:</a:t>
            </a:r>
          </a:p>
          <a:p>
            <a:pPr algn="l">
              <a:lnSpc>
                <a:spcPts val="3871"/>
              </a:lnSpc>
            </a:pPr>
            <a:r>
              <a:rPr lang="en-US" sz="31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Registros textuales cronológicos de eventos</a:t>
            </a:r>
          </a:p>
          <a:p>
            <a:pPr algn="l">
              <a:lnSpc>
                <a:spcPts val="3871"/>
              </a:lnSpc>
            </a:pPr>
            <a:r>
              <a:rPr lang="en-US" sz="31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Implementación en Spring Boot:</a:t>
            </a:r>
          </a:p>
          <a:p>
            <a:pPr algn="l">
              <a:lnSpc>
                <a:spcPts val="2904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6557135" y="8675370"/>
            <a:ext cx="702165" cy="582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559"/>
              </a:lnSpc>
            </a:pPr>
            <a:r>
              <a:rPr lang="en-US" sz="39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}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7328932"/>
            <a:ext cx="12973315" cy="2320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71"/>
              </a:lnSpc>
            </a:pPr>
            <a:r>
              <a:rPr lang="en-US" sz="31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Buenas Prácticas: </a:t>
            </a:r>
          </a:p>
          <a:p>
            <a:pPr algn="l" marL="690876" indent="-345438" lvl="1">
              <a:lnSpc>
                <a:spcPts val="3871"/>
              </a:lnSpc>
              <a:buFont typeface="Arial"/>
              <a:buChar char="•"/>
            </a:pPr>
            <a:r>
              <a:rPr lang="en-US" sz="31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Logs estructurados (JSON)</a:t>
            </a:r>
          </a:p>
          <a:p>
            <a:pPr algn="l" marL="690876" indent="-345438" lvl="1">
              <a:lnSpc>
                <a:spcPts val="3871"/>
              </a:lnSpc>
              <a:buFont typeface="Arial"/>
              <a:buChar char="•"/>
            </a:pPr>
            <a:r>
              <a:rPr lang="en-US" sz="31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Niveles adecuados</a:t>
            </a:r>
          </a:p>
          <a:p>
            <a:pPr algn="l" marL="690876" indent="-345438" lvl="1">
              <a:lnSpc>
                <a:spcPts val="3871"/>
              </a:lnSpc>
              <a:buFont typeface="Arial"/>
              <a:buChar char="•"/>
            </a:pPr>
            <a:r>
              <a:rPr lang="en-US" sz="31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Contexto</a:t>
            </a:r>
          </a:p>
          <a:p>
            <a:pPr algn="l">
              <a:lnSpc>
                <a:spcPts val="2904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02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38166" y="3987050"/>
            <a:ext cx="11636665" cy="4365764"/>
          </a:xfrm>
          <a:custGeom>
            <a:avLst/>
            <a:gdLst/>
            <a:ahLst/>
            <a:cxnLst/>
            <a:rect r="r" b="b" t="t" l="l"/>
            <a:pathLst>
              <a:path h="4365764" w="11636665">
                <a:moveTo>
                  <a:pt x="0" y="0"/>
                </a:moveTo>
                <a:lnTo>
                  <a:pt x="11636665" y="0"/>
                </a:lnTo>
                <a:lnTo>
                  <a:pt x="11636665" y="4365764"/>
                </a:lnTo>
                <a:lnTo>
                  <a:pt x="0" y="43657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22" r="0" b="-32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498380"/>
            <a:ext cx="10689347" cy="6927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12"/>
              </a:lnSpc>
            </a:pPr>
            <a:r>
              <a:rPr lang="en-US" sz="465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Los Tres Pilares: Métricas {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557135" y="8675370"/>
            <a:ext cx="702165" cy="582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559"/>
              </a:lnSpc>
            </a:pPr>
            <a:r>
              <a:rPr lang="en-US" sz="39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}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838166" y="2017419"/>
            <a:ext cx="11636665" cy="1908314"/>
            <a:chOff x="0" y="0"/>
            <a:chExt cx="7642585" cy="125331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642585" cy="1253319"/>
            </a:xfrm>
            <a:custGeom>
              <a:avLst/>
              <a:gdLst/>
              <a:ahLst/>
              <a:cxnLst/>
              <a:rect r="r" b="b" t="t" l="l"/>
              <a:pathLst>
                <a:path h="1253319" w="7642585">
                  <a:moveTo>
                    <a:pt x="0" y="0"/>
                  </a:moveTo>
                  <a:lnTo>
                    <a:pt x="7642585" y="0"/>
                  </a:lnTo>
                  <a:lnTo>
                    <a:pt x="7642585" y="1253319"/>
                  </a:lnTo>
                  <a:lnTo>
                    <a:pt x="0" y="1253319"/>
                  </a:lnTo>
                  <a:close/>
                </a:path>
              </a:pathLst>
            </a:custGeom>
            <a:solidFill>
              <a:srgbClr val="2D2D35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1028700" y="1998369"/>
            <a:ext cx="11446131" cy="2320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71"/>
              </a:lnSpc>
            </a:pPr>
            <a:r>
              <a:rPr lang="en-US" sz="3199" b="true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Métricas:</a:t>
            </a:r>
          </a:p>
          <a:p>
            <a:pPr algn="l">
              <a:lnSpc>
                <a:spcPts val="3871"/>
              </a:lnSpc>
            </a:pPr>
            <a:r>
              <a:rPr lang="en-US" sz="31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Medidas numéricas periódicas del estado del sistema</a:t>
            </a:r>
          </a:p>
          <a:p>
            <a:pPr algn="l">
              <a:lnSpc>
                <a:spcPts val="3871"/>
              </a:lnSpc>
            </a:pPr>
            <a:r>
              <a:rPr lang="en-US" sz="31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Implementación en Spring Boot:</a:t>
            </a:r>
          </a:p>
          <a:p>
            <a:pPr algn="l">
              <a:lnSpc>
                <a:spcPts val="2904"/>
              </a:lnSpc>
            </a:pPr>
          </a:p>
        </p:txBody>
      </p:sp>
      <p:grpSp>
        <p:nvGrpSpPr>
          <p:cNvPr name="Group 8" id="8"/>
          <p:cNvGrpSpPr/>
          <p:nvPr/>
        </p:nvGrpSpPr>
        <p:grpSpPr>
          <a:xfrm rot="0">
            <a:off x="838166" y="8348648"/>
            <a:ext cx="11636665" cy="864033"/>
            <a:chOff x="0" y="0"/>
            <a:chExt cx="7642585" cy="56746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642585" cy="567469"/>
            </a:xfrm>
            <a:custGeom>
              <a:avLst/>
              <a:gdLst/>
              <a:ahLst/>
              <a:cxnLst/>
              <a:rect r="r" b="b" t="t" l="l"/>
              <a:pathLst>
                <a:path h="567469" w="7642585">
                  <a:moveTo>
                    <a:pt x="0" y="0"/>
                  </a:moveTo>
                  <a:lnTo>
                    <a:pt x="7642585" y="0"/>
                  </a:lnTo>
                  <a:lnTo>
                    <a:pt x="7642585" y="567469"/>
                  </a:lnTo>
                  <a:lnTo>
                    <a:pt x="0" y="567469"/>
                  </a:lnTo>
                  <a:close/>
                </a:path>
              </a:pathLst>
            </a:custGeom>
            <a:solidFill>
              <a:srgbClr val="2D2D35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28700" y="8395081"/>
            <a:ext cx="10956834" cy="8632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71"/>
              </a:lnSpc>
            </a:pPr>
            <a:r>
              <a:rPr lang="en-US" sz="3199" b="true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Tipos: </a:t>
            </a:r>
            <a:r>
              <a:rPr lang="en-US" sz="31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Counters, Gauges, Histograms, Timers.</a:t>
            </a:r>
          </a:p>
          <a:p>
            <a:pPr algn="l">
              <a:lnSpc>
                <a:spcPts val="2904"/>
              </a:lnSpc>
            </a:pP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2755415" y="2017419"/>
            <a:ext cx="5242037" cy="6335395"/>
          </a:xfrm>
          <a:custGeom>
            <a:avLst/>
            <a:gdLst/>
            <a:ahLst/>
            <a:cxnLst/>
            <a:rect r="r" b="b" t="t" l="l"/>
            <a:pathLst>
              <a:path h="6335395" w="5242037">
                <a:moveTo>
                  <a:pt x="0" y="0"/>
                </a:moveTo>
                <a:lnTo>
                  <a:pt x="5242036" y="0"/>
                </a:lnTo>
                <a:lnTo>
                  <a:pt x="5242036" y="6335395"/>
                </a:lnTo>
                <a:lnTo>
                  <a:pt x="0" y="63353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102" t="-21094" r="-280516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02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99709" y="4676732"/>
            <a:ext cx="11406163" cy="3917505"/>
          </a:xfrm>
          <a:custGeom>
            <a:avLst/>
            <a:gdLst/>
            <a:ahLst/>
            <a:cxnLst/>
            <a:rect r="r" b="b" t="t" l="l"/>
            <a:pathLst>
              <a:path h="3917505" w="11406163">
                <a:moveTo>
                  <a:pt x="0" y="0"/>
                </a:moveTo>
                <a:lnTo>
                  <a:pt x="11406163" y="0"/>
                </a:lnTo>
                <a:lnTo>
                  <a:pt x="11406163" y="3917505"/>
                </a:lnTo>
                <a:lnTo>
                  <a:pt x="0" y="391750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992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6557135" y="8675370"/>
            <a:ext cx="702165" cy="582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559"/>
              </a:lnSpc>
            </a:pPr>
            <a:r>
              <a:rPr lang="en-US" sz="39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}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038225"/>
            <a:ext cx="10689347" cy="6927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12"/>
              </a:lnSpc>
            </a:pPr>
            <a:r>
              <a:rPr lang="en-US" sz="465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Los Tres Pilares: Trazas {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899709" y="2705566"/>
            <a:ext cx="11406163" cy="1971166"/>
            <a:chOff x="0" y="0"/>
            <a:chExt cx="7491199" cy="129459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491199" cy="1294598"/>
            </a:xfrm>
            <a:custGeom>
              <a:avLst/>
              <a:gdLst/>
              <a:ahLst/>
              <a:cxnLst/>
              <a:rect r="r" b="b" t="t" l="l"/>
              <a:pathLst>
                <a:path h="1294598" w="7491199">
                  <a:moveTo>
                    <a:pt x="0" y="0"/>
                  </a:moveTo>
                  <a:lnTo>
                    <a:pt x="7491199" y="0"/>
                  </a:lnTo>
                  <a:lnTo>
                    <a:pt x="7491199" y="1294598"/>
                  </a:lnTo>
                  <a:lnTo>
                    <a:pt x="0" y="1294598"/>
                  </a:lnTo>
                  <a:close/>
                </a:path>
              </a:pathLst>
            </a:custGeom>
            <a:solidFill>
              <a:srgbClr val="2D2D35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1028700" y="2686516"/>
            <a:ext cx="11277172" cy="2320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71"/>
              </a:lnSpc>
            </a:pPr>
            <a:r>
              <a:rPr lang="en-US" sz="3199" b="true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Trazas (Distributed Tracing)</a:t>
            </a:r>
          </a:p>
          <a:p>
            <a:pPr algn="l">
              <a:lnSpc>
                <a:spcPts val="3871"/>
              </a:lnSpc>
            </a:pPr>
            <a:r>
              <a:rPr lang="en-US" sz="31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Seguimiento del flujo de solicitudes entre servicios</a:t>
            </a:r>
          </a:p>
          <a:p>
            <a:pPr algn="l">
              <a:lnSpc>
                <a:spcPts val="3871"/>
              </a:lnSpc>
            </a:pPr>
            <a:r>
              <a:rPr lang="en-US" sz="31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Implementación en Spring Boot:</a:t>
            </a:r>
          </a:p>
          <a:p>
            <a:pPr algn="l">
              <a:lnSpc>
                <a:spcPts val="2904"/>
              </a:lnSpc>
            </a:pP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2583266" y="2847978"/>
            <a:ext cx="5064080" cy="5746259"/>
          </a:xfrm>
          <a:custGeom>
            <a:avLst/>
            <a:gdLst/>
            <a:ahLst/>
            <a:cxnLst/>
            <a:rect r="r" b="b" t="t" l="l"/>
            <a:pathLst>
              <a:path h="5746259" w="5064080">
                <a:moveTo>
                  <a:pt x="0" y="0"/>
                </a:moveTo>
                <a:lnTo>
                  <a:pt x="5064080" y="0"/>
                </a:lnTo>
                <a:lnTo>
                  <a:pt x="5064080" y="5746259"/>
                </a:lnTo>
                <a:lnTo>
                  <a:pt x="0" y="57462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15946" t="-21094" r="-143286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202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6557135" y="8675370"/>
            <a:ext cx="702165" cy="582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559"/>
              </a:lnSpc>
            </a:pPr>
            <a:r>
              <a:rPr lang="en-US" sz="39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}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1038225"/>
            <a:ext cx="13897385" cy="6927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12"/>
              </a:lnSpc>
            </a:pPr>
            <a:r>
              <a:rPr lang="en-US" sz="465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Retos en Entornos de Microservicios {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28700" y="3158444"/>
            <a:ext cx="16109651" cy="3890088"/>
            <a:chOff x="0" y="0"/>
            <a:chExt cx="8755411" cy="211421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755411" cy="2114218"/>
            </a:xfrm>
            <a:custGeom>
              <a:avLst/>
              <a:gdLst/>
              <a:ahLst/>
              <a:cxnLst/>
              <a:rect r="r" b="b" t="t" l="l"/>
              <a:pathLst>
                <a:path h="2114218" w="8755411">
                  <a:moveTo>
                    <a:pt x="0" y="0"/>
                  </a:moveTo>
                  <a:lnTo>
                    <a:pt x="8755411" y="0"/>
                  </a:lnTo>
                  <a:lnTo>
                    <a:pt x="8755411" y="2114218"/>
                  </a:lnTo>
                  <a:lnTo>
                    <a:pt x="0" y="2114218"/>
                  </a:lnTo>
                  <a:close/>
                </a:path>
              </a:pathLst>
            </a:custGeom>
            <a:solidFill>
              <a:srgbClr val="2D2D35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841207" y="3263759"/>
            <a:ext cx="16484637" cy="4795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77866" indent="-438933" lvl="1">
              <a:lnSpc>
                <a:spcPts val="4919"/>
              </a:lnSpc>
              <a:buFont typeface="Arial"/>
              <a:buChar char="•"/>
            </a:pPr>
            <a:r>
              <a:rPr lang="en-US" sz="4066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Complejidad del sistema distribuido</a:t>
            </a:r>
          </a:p>
          <a:p>
            <a:pPr algn="l" marL="877866" indent="-438933" lvl="1">
              <a:lnSpc>
                <a:spcPts val="4919"/>
              </a:lnSpc>
              <a:buFont typeface="Arial"/>
              <a:buChar char="•"/>
            </a:pPr>
            <a:r>
              <a:rPr lang="en-US" sz="4066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Volumen masivo de datos</a:t>
            </a:r>
          </a:p>
          <a:p>
            <a:pPr algn="l" marL="877866" indent="-438933" lvl="1">
              <a:lnSpc>
                <a:spcPts val="4919"/>
              </a:lnSpc>
              <a:buFont typeface="Arial"/>
              <a:buChar char="•"/>
            </a:pPr>
            <a:r>
              <a:rPr lang="en-US" sz="4066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Propagación de contexto entre servicios</a:t>
            </a:r>
          </a:p>
          <a:p>
            <a:pPr algn="l" marL="877866" indent="-438933" lvl="1">
              <a:lnSpc>
                <a:spcPts val="4919"/>
              </a:lnSpc>
              <a:buFont typeface="Arial"/>
              <a:buChar char="•"/>
            </a:pPr>
            <a:r>
              <a:rPr lang="en-US" sz="4066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Consistencia en implementación</a:t>
            </a:r>
          </a:p>
          <a:p>
            <a:pPr algn="l" marL="877866" indent="-438933" lvl="1">
              <a:lnSpc>
                <a:spcPts val="4919"/>
              </a:lnSpc>
              <a:buFont typeface="Arial"/>
              <a:buChar char="•"/>
            </a:pPr>
            <a:r>
              <a:rPr lang="en-US" sz="4066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Entornos dinámicos y escalables</a:t>
            </a:r>
          </a:p>
          <a:p>
            <a:pPr algn="l" marL="877866" indent="-438933" lvl="1">
              <a:lnSpc>
                <a:spcPts val="4919"/>
              </a:lnSpc>
              <a:buFont typeface="Arial"/>
              <a:buChar char="•"/>
            </a:pPr>
            <a:r>
              <a:rPr lang="en-US" sz="4066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Correlación entre señales de diferentes servicios</a:t>
            </a:r>
          </a:p>
          <a:p>
            <a:pPr algn="l">
              <a:lnSpc>
                <a:spcPts val="4919"/>
              </a:lnSpc>
            </a:pPr>
          </a:p>
          <a:p>
            <a:pPr algn="l">
              <a:lnSpc>
                <a:spcPts val="3689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02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67461" y="2366226"/>
            <a:ext cx="12800779" cy="2589671"/>
            <a:chOff x="0" y="0"/>
            <a:chExt cx="8407138" cy="170081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407138" cy="1700812"/>
            </a:xfrm>
            <a:custGeom>
              <a:avLst/>
              <a:gdLst/>
              <a:ahLst/>
              <a:cxnLst/>
              <a:rect r="r" b="b" t="t" l="l"/>
              <a:pathLst>
                <a:path h="1700812" w="8407138">
                  <a:moveTo>
                    <a:pt x="0" y="0"/>
                  </a:moveTo>
                  <a:lnTo>
                    <a:pt x="8407138" y="0"/>
                  </a:lnTo>
                  <a:lnTo>
                    <a:pt x="8407138" y="1700812"/>
                  </a:lnTo>
                  <a:lnTo>
                    <a:pt x="0" y="1700812"/>
                  </a:lnTo>
                  <a:close/>
                </a:path>
              </a:pathLst>
            </a:custGeom>
            <a:solidFill>
              <a:srgbClr val="2D2D35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214967" y="0"/>
            <a:ext cx="16693250" cy="5863504"/>
          </a:xfrm>
          <a:custGeom>
            <a:avLst/>
            <a:gdLst/>
            <a:ahLst/>
            <a:cxnLst/>
            <a:rect r="r" b="b" t="t" l="l"/>
            <a:pathLst>
              <a:path h="5863504" w="16693250">
                <a:moveTo>
                  <a:pt x="0" y="0"/>
                </a:moveTo>
                <a:lnTo>
                  <a:pt x="16693251" y="0"/>
                </a:lnTo>
                <a:lnTo>
                  <a:pt x="16693251" y="5863504"/>
                </a:lnTo>
                <a:lnTo>
                  <a:pt x="0" y="58635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6557135" y="8675370"/>
            <a:ext cx="702165" cy="582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559"/>
              </a:lnSpc>
            </a:pPr>
            <a:r>
              <a:rPr lang="en-US" sz="39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}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885461"/>
            <a:ext cx="16363428" cy="6927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12"/>
              </a:lnSpc>
            </a:pPr>
            <a:r>
              <a:rPr lang="en-US" sz="465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Estándares y Buenas Prácticas: OpenTelemetry{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2448845"/>
            <a:ext cx="12973315" cy="2806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71"/>
              </a:lnSpc>
            </a:pPr>
            <a:r>
              <a:rPr lang="en-US" sz="3199" b="true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OpenTelemetry</a:t>
            </a:r>
          </a:p>
          <a:p>
            <a:pPr algn="l" marL="690876" indent="-345438" lvl="1">
              <a:lnSpc>
                <a:spcPts val="3871"/>
              </a:lnSpc>
              <a:buFont typeface="Arial"/>
              <a:buChar char="•"/>
            </a:pPr>
            <a:r>
              <a:rPr lang="en-US" sz="31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Estándar abierto unificado para instrumentación</a:t>
            </a:r>
          </a:p>
          <a:p>
            <a:pPr algn="l" marL="690876" indent="-345438" lvl="1">
              <a:lnSpc>
                <a:spcPts val="3871"/>
              </a:lnSpc>
              <a:buFont typeface="Arial"/>
              <a:buChar char="•"/>
            </a:pPr>
            <a:r>
              <a:rPr lang="en-US" sz="31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Recolecta métricas, logs y trazas con API consistente</a:t>
            </a:r>
          </a:p>
          <a:p>
            <a:pPr algn="l" marL="690876" indent="-345438" lvl="1">
              <a:lnSpc>
                <a:spcPts val="3871"/>
              </a:lnSpc>
              <a:buFont typeface="Arial"/>
              <a:buChar char="•"/>
            </a:pPr>
            <a:r>
              <a:rPr lang="en-US" sz="31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Compatible con múltiples backends</a:t>
            </a:r>
          </a:p>
          <a:p>
            <a:pPr algn="l">
              <a:lnSpc>
                <a:spcPts val="2904"/>
              </a:lnSpc>
            </a:pP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867461" y="4955897"/>
            <a:ext cx="12800779" cy="4558211"/>
          </a:xfrm>
          <a:custGeom>
            <a:avLst/>
            <a:gdLst/>
            <a:ahLst/>
            <a:cxnLst/>
            <a:rect r="r" b="b" t="t" l="l"/>
            <a:pathLst>
              <a:path h="4558211" w="12800779">
                <a:moveTo>
                  <a:pt x="0" y="0"/>
                </a:moveTo>
                <a:lnTo>
                  <a:pt x="12800779" y="0"/>
                </a:lnTo>
                <a:lnTo>
                  <a:pt x="12800779" y="4558211"/>
                </a:lnTo>
                <a:lnTo>
                  <a:pt x="0" y="45582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02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54113" y="5726839"/>
            <a:ext cx="13147902" cy="3531461"/>
          </a:xfrm>
          <a:custGeom>
            <a:avLst/>
            <a:gdLst/>
            <a:ahLst/>
            <a:cxnLst/>
            <a:rect r="r" b="b" t="t" l="l"/>
            <a:pathLst>
              <a:path h="3531461" w="13147902">
                <a:moveTo>
                  <a:pt x="0" y="0"/>
                </a:moveTo>
                <a:lnTo>
                  <a:pt x="13147902" y="0"/>
                </a:lnTo>
                <a:lnTo>
                  <a:pt x="13147902" y="3531461"/>
                </a:lnTo>
                <a:lnTo>
                  <a:pt x="0" y="353146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6557135" y="8675370"/>
            <a:ext cx="702165" cy="582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559"/>
              </a:lnSpc>
            </a:pPr>
            <a:r>
              <a:rPr lang="en-US" sz="39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}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885461"/>
            <a:ext cx="10711170" cy="13594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12"/>
              </a:lnSpc>
            </a:pPr>
            <a:r>
              <a:rPr lang="en-US" sz="465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Estándares y Buenas Prácticas: SLIs, SLOs y SLAs{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854113" y="3102263"/>
            <a:ext cx="13147902" cy="2624576"/>
            <a:chOff x="0" y="0"/>
            <a:chExt cx="8520276" cy="170081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520276" cy="1700812"/>
            </a:xfrm>
            <a:custGeom>
              <a:avLst/>
              <a:gdLst/>
              <a:ahLst/>
              <a:cxnLst/>
              <a:rect r="r" b="b" t="t" l="l"/>
              <a:pathLst>
                <a:path h="1700812" w="8520276">
                  <a:moveTo>
                    <a:pt x="0" y="0"/>
                  </a:moveTo>
                  <a:lnTo>
                    <a:pt x="8520276" y="0"/>
                  </a:lnTo>
                  <a:lnTo>
                    <a:pt x="8520276" y="1700812"/>
                  </a:lnTo>
                  <a:lnTo>
                    <a:pt x="0" y="1700812"/>
                  </a:lnTo>
                  <a:close/>
                </a:path>
              </a:pathLst>
            </a:custGeom>
            <a:solidFill>
              <a:srgbClr val="2D2D35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1028700" y="3083213"/>
            <a:ext cx="12973315" cy="2806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71"/>
              </a:lnSpc>
            </a:pPr>
            <a:r>
              <a:rPr lang="en-US" sz="3199" b="true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Indicadores y Objetivos de Nivel de Servicio</a:t>
            </a:r>
          </a:p>
          <a:p>
            <a:pPr algn="l" marL="690876" indent="-345438" lvl="1">
              <a:lnSpc>
                <a:spcPts val="3871"/>
              </a:lnSpc>
              <a:buFont typeface="Arial"/>
              <a:buChar char="•"/>
            </a:pPr>
            <a:r>
              <a:rPr lang="en-US" sz="31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SLI: Métricas específicas (latencia, disponibilidad)</a:t>
            </a:r>
          </a:p>
          <a:p>
            <a:pPr algn="l" marL="690876" indent="-345438" lvl="1">
              <a:lnSpc>
                <a:spcPts val="3871"/>
              </a:lnSpc>
              <a:buFont typeface="Arial"/>
              <a:buChar char="•"/>
            </a:pPr>
            <a:r>
              <a:rPr lang="en-US" sz="31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SLO: Objetivos internos (99.9% disponibilidad)</a:t>
            </a:r>
          </a:p>
          <a:p>
            <a:pPr algn="l" marL="690876" indent="-345438" lvl="1">
              <a:lnSpc>
                <a:spcPts val="3871"/>
              </a:lnSpc>
              <a:buFont typeface="Arial"/>
              <a:buChar char="•"/>
            </a:pPr>
            <a:r>
              <a:rPr lang="en-US" sz="31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SLA: Acuerdos formales con clientes</a:t>
            </a:r>
          </a:p>
          <a:p>
            <a:pPr algn="l">
              <a:lnSpc>
                <a:spcPts val="2904"/>
              </a:lnSpc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78AE3476A9CD874F8D4DE0CF4B7804DD" ma:contentTypeVersion="0" ma:contentTypeDescription="Crear nuevo documento." ma:contentTypeScope="" ma:versionID="c604116e44ba67a0767f278339831ec0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888669a25a4819ff64d85379b870750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C84A9C4-1EC5-493B-8F7A-70A71BDBEB9E}"/>
</file>

<file path=customXml/itemProps2.xml><?xml version="1.0" encoding="utf-8"?>
<ds:datastoreItem xmlns:ds="http://schemas.openxmlformats.org/officeDocument/2006/customXml" ds:itemID="{141E9B0C-CC9D-4BF8-B171-6A53B55F00C3}"/>
</file>

<file path=customXml/itemProps3.xml><?xml version="1.0" encoding="utf-8"?>
<ds:datastoreItem xmlns:ds="http://schemas.openxmlformats.org/officeDocument/2006/customXml" ds:itemID="{16030DE7-580A-49EC-B4C8-8A3E93A432DB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Técnica Código Programación Minimalista Gris</dc:title>
  <cp:revision>1</cp:revision>
  <dcterms:created xsi:type="dcterms:W3CDTF">2006-08-16T00:00:00Z</dcterms:created>
  <dcterms:modified xsi:type="dcterms:W3CDTF">2011-08-01T06:04:30Z</dcterms:modified>
  <dc:identifier>DAGlfyZHrcQ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0x01010078AE3476A9CD874F8D4DE0CF4B7804DD</vt:lpwstr>
  </property>
</Properties>
</file>